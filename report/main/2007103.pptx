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57" r:id="rId2"/>
    <p:sldId id="258" r:id="rId3"/>
    <p:sldId id="259" r:id="rId4"/>
    <p:sldId id="260" r:id="rId5"/>
    <p:sldId id="261" r:id="rId6"/>
    <p:sldId id="262" r:id="rId7"/>
    <p:sldId id="263" r:id="rId8"/>
    <p:sldId id="265" r:id="rId9"/>
    <p:sldId id="266" r:id="rId10"/>
    <p:sldId id="267" r:id="rId11"/>
    <p:sldId id="268" r:id="rId12"/>
    <p:sldId id="269" r:id="rId13"/>
    <p:sldId id="270" r:id="rId14"/>
    <p:sldId id="272" r:id="rId15"/>
    <p:sldId id="273" r:id="rId16"/>
    <p:sldId id="274" r:id="rId17"/>
    <p:sldId id="275" r:id="rId18"/>
    <p:sldId id="276" r:id="rId19"/>
    <p:sldId id="277" r:id="rId20"/>
    <p:sldId id="278" r:id="rId21"/>
    <p:sldId id="280" r:id="rId22"/>
    <p:sldId id="281" r:id="rId23"/>
    <p:sldId id="282" r:id="rId24"/>
    <p:sldId id="283" r:id="rId25"/>
    <p:sldId id="284" r:id="rId26"/>
    <p:sldId id="285" r:id="rId27"/>
    <p:sldId id="286" r:id="rId28"/>
    <p:sldId id="287" r:id="rId29"/>
    <p:sldId id="288" r:id="rId30"/>
    <p:sldId id="290" r:id="rId31"/>
    <p:sldId id="291" r:id="rId32"/>
    <p:sldId id="292" r:id="rId33"/>
    <p:sldId id="293" r:id="rId34"/>
    <p:sldId id="294" r:id="rId35"/>
    <p:sldId id="295"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8" d="100"/>
          <a:sy n="78" d="100"/>
        </p:scale>
        <p:origin x="8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D42F7C-5BF3-4A95-B71E-C03CC0B86395}" type="datetimeFigureOut">
              <a:rPr lang="en-US" smtClean="0"/>
              <a:t>10-Jul-26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56F066-28C8-4ABB-9E8C-88D39E754C07}" type="slidenum">
              <a:rPr lang="en-US" smtClean="0"/>
              <a:t>‹#›</a:t>
            </a:fld>
            <a:endParaRPr lang="en-US"/>
          </a:p>
        </p:txBody>
      </p:sp>
    </p:spTree>
    <p:extLst>
      <p:ext uri="{BB962C8B-B14F-4D97-AF65-F5344CB8AC3E}">
        <p14:creationId xmlns:p14="http://schemas.microsoft.com/office/powerpoint/2010/main" val="8168862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49670A-0430-412F-A30E-DE48DFFF630A}" type="slidenum">
              <a:rPr lang="en-US" smtClean="0"/>
              <a:t>1</a:t>
            </a:fld>
            <a:endParaRPr lang="en-US"/>
          </a:p>
        </p:txBody>
      </p:sp>
    </p:spTree>
    <p:extLst>
      <p:ext uri="{BB962C8B-B14F-4D97-AF65-F5344CB8AC3E}">
        <p14:creationId xmlns:p14="http://schemas.microsoft.com/office/powerpoint/2010/main" val="42926494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1BA67-46F8-3E11-63AB-D191C5B6AD8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7466FD7-486A-0517-7CCF-E7986E33D1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F47A080-927A-E16D-8B4F-DF8DD9BF9A0E}"/>
              </a:ext>
            </a:extLst>
          </p:cNvPr>
          <p:cNvSpPr>
            <a:spLocks noGrp="1"/>
          </p:cNvSpPr>
          <p:nvPr>
            <p:ph type="dt" sz="half" idx="10"/>
          </p:nvPr>
        </p:nvSpPr>
        <p:spPr/>
        <p:txBody>
          <a:bodyPr/>
          <a:lstStyle/>
          <a:p>
            <a:fld id="{0BC747F1-683B-4DB9-8B62-1CF92615BF50}" type="datetime1">
              <a:rPr lang="en-US" smtClean="0"/>
              <a:t>10-Jul-26</a:t>
            </a:fld>
            <a:endParaRPr lang="en-US"/>
          </a:p>
        </p:txBody>
      </p:sp>
      <p:sp>
        <p:nvSpPr>
          <p:cNvPr id="5" name="Footer Placeholder 4">
            <a:extLst>
              <a:ext uri="{FF2B5EF4-FFF2-40B4-BE49-F238E27FC236}">
                <a16:creationId xmlns:a16="http://schemas.microsoft.com/office/drawing/2014/main" id="{177E70B9-1BA8-C70E-21BA-7F31684456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853A65-0196-DC02-7C4F-A6CE954D071C}"/>
              </a:ext>
            </a:extLst>
          </p:cNvPr>
          <p:cNvSpPr>
            <a:spLocks noGrp="1"/>
          </p:cNvSpPr>
          <p:nvPr>
            <p:ph type="sldNum" sz="quarter" idx="12"/>
          </p:nvPr>
        </p:nvSpPr>
        <p:spPr/>
        <p:txBody>
          <a:bodyPr/>
          <a:lstStyle/>
          <a:p>
            <a:fld id="{7A1EA063-F1A0-4337-9BB4-F912B647AF2A}" type="slidenum">
              <a:rPr lang="en-US" smtClean="0"/>
              <a:t>‹#›</a:t>
            </a:fld>
            <a:endParaRPr lang="en-US"/>
          </a:p>
        </p:txBody>
      </p:sp>
    </p:spTree>
    <p:extLst>
      <p:ext uri="{BB962C8B-B14F-4D97-AF65-F5344CB8AC3E}">
        <p14:creationId xmlns:p14="http://schemas.microsoft.com/office/powerpoint/2010/main" val="25150404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9F0D7-A11C-9DFF-5C9E-A9E45773421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E10EC34-20BB-4288-5EE5-F9FF1F88C52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77D250-3D90-3B91-FA8F-D906C006BB3B}"/>
              </a:ext>
            </a:extLst>
          </p:cNvPr>
          <p:cNvSpPr>
            <a:spLocks noGrp="1"/>
          </p:cNvSpPr>
          <p:nvPr>
            <p:ph type="dt" sz="half" idx="10"/>
          </p:nvPr>
        </p:nvSpPr>
        <p:spPr/>
        <p:txBody>
          <a:bodyPr/>
          <a:lstStyle/>
          <a:p>
            <a:fld id="{7A201E91-4DAB-4F48-8C1A-6F69EDFC4872}" type="datetime1">
              <a:rPr lang="en-US" smtClean="0"/>
              <a:t>10-Jul-26</a:t>
            </a:fld>
            <a:endParaRPr lang="en-US"/>
          </a:p>
        </p:txBody>
      </p:sp>
      <p:sp>
        <p:nvSpPr>
          <p:cNvPr id="5" name="Footer Placeholder 4">
            <a:extLst>
              <a:ext uri="{FF2B5EF4-FFF2-40B4-BE49-F238E27FC236}">
                <a16:creationId xmlns:a16="http://schemas.microsoft.com/office/drawing/2014/main" id="{B4F78172-A461-F91C-47E6-7C684F284B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A4B84C-8204-4BA4-16BE-942EF58E5EDF}"/>
              </a:ext>
            </a:extLst>
          </p:cNvPr>
          <p:cNvSpPr>
            <a:spLocks noGrp="1"/>
          </p:cNvSpPr>
          <p:nvPr>
            <p:ph type="sldNum" sz="quarter" idx="12"/>
          </p:nvPr>
        </p:nvSpPr>
        <p:spPr/>
        <p:txBody>
          <a:bodyPr/>
          <a:lstStyle/>
          <a:p>
            <a:fld id="{7A1EA063-F1A0-4337-9BB4-F912B647AF2A}" type="slidenum">
              <a:rPr lang="en-US" smtClean="0"/>
              <a:t>‹#›</a:t>
            </a:fld>
            <a:endParaRPr lang="en-US"/>
          </a:p>
        </p:txBody>
      </p:sp>
    </p:spTree>
    <p:extLst>
      <p:ext uri="{BB962C8B-B14F-4D97-AF65-F5344CB8AC3E}">
        <p14:creationId xmlns:p14="http://schemas.microsoft.com/office/powerpoint/2010/main" val="5348528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3C8737-8CCC-F2E7-13DF-E19D42DB01D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287A2EE-43E3-026C-E5EF-7E4F3F3E5BB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921C9A7-B846-B0FF-A011-A62297C62F3B}"/>
              </a:ext>
            </a:extLst>
          </p:cNvPr>
          <p:cNvSpPr>
            <a:spLocks noGrp="1"/>
          </p:cNvSpPr>
          <p:nvPr>
            <p:ph type="dt" sz="half" idx="10"/>
          </p:nvPr>
        </p:nvSpPr>
        <p:spPr/>
        <p:txBody>
          <a:bodyPr/>
          <a:lstStyle/>
          <a:p>
            <a:fld id="{B137BCB1-603D-48D7-BF3B-6C951849C36A}" type="datetime1">
              <a:rPr lang="en-US" smtClean="0"/>
              <a:t>10-Jul-26</a:t>
            </a:fld>
            <a:endParaRPr lang="en-US"/>
          </a:p>
        </p:txBody>
      </p:sp>
      <p:sp>
        <p:nvSpPr>
          <p:cNvPr id="5" name="Footer Placeholder 4">
            <a:extLst>
              <a:ext uri="{FF2B5EF4-FFF2-40B4-BE49-F238E27FC236}">
                <a16:creationId xmlns:a16="http://schemas.microsoft.com/office/drawing/2014/main" id="{D7F967BC-3A01-718B-9AC7-A41B5C9549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F4EB6E-A63F-D224-2260-05D85498BE01}"/>
              </a:ext>
            </a:extLst>
          </p:cNvPr>
          <p:cNvSpPr>
            <a:spLocks noGrp="1"/>
          </p:cNvSpPr>
          <p:nvPr>
            <p:ph type="sldNum" sz="quarter" idx="12"/>
          </p:nvPr>
        </p:nvSpPr>
        <p:spPr/>
        <p:txBody>
          <a:bodyPr/>
          <a:lstStyle/>
          <a:p>
            <a:fld id="{7A1EA063-F1A0-4337-9BB4-F912B647AF2A}" type="slidenum">
              <a:rPr lang="en-US" smtClean="0"/>
              <a:t>‹#›</a:t>
            </a:fld>
            <a:endParaRPr lang="en-US"/>
          </a:p>
        </p:txBody>
      </p:sp>
    </p:spTree>
    <p:extLst>
      <p:ext uri="{BB962C8B-B14F-4D97-AF65-F5344CB8AC3E}">
        <p14:creationId xmlns:p14="http://schemas.microsoft.com/office/powerpoint/2010/main" val="32763515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F63CD-2529-5C62-A463-DEF6D4BD41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2346407-6A80-0F9A-D3AE-429749BC085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BF54A58-A295-D87F-9B15-BF6D4A97A5F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8C50B17-1073-AE40-9584-A6E2DCDDDE41}"/>
              </a:ext>
            </a:extLst>
          </p:cNvPr>
          <p:cNvSpPr>
            <a:spLocks noGrp="1"/>
          </p:cNvSpPr>
          <p:nvPr>
            <p:ph type="dt" sz="half" idx="10"/>
          </p:nvPr>
        </p:nvSpPr>
        <p:spPr/>
        <p:txBody>
          <a:bodyPr/>
          <a:lstStyle/>
          <a:p>
            <a:fld id="{517F9251-34F8-4AD4-B339-05BCD9FB4E97}" type="datetime1">
              <a:rPr lang="en-US" smtClean="0"/>
              <a:t>10-Jul-26</a:t>
            </a:fld>
            <a:endParaRPr lang="en-US"/>
          </a:p>
        </p:txBody>
      </p:sp>
      <p:sp>
        <p:nvSpPr>
          <p:cNvPr id="6" name="Footer Placeholder 5">
            <a:extLst>
              <a:ext uri="{FF2B5EF4-FFF2-40B4-BE49-F238E27FC236}">
                <a16:creationId xmlns:a16="http://schemas.microsoft.com/office/drawing/2014/main" id="{D4EF26B5-1A6F-451F-6C86-521F879B91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CFB49E-8DC4-A1C6-4E40-7B3148391120}"/>
              </a:ext>
            </a:extLst>
          </p:cNvPr>
          <p:cNvSpPr>
            <a:spLocks noGrp="1"/>
          </p:cNvSpPr>
          <p:nvPr>
            <p:ph type="sldNum" sz="quarter" idx="12"/>
          </p:nvPr>
        </p:nvSpPr>
        <p:spPr/>
        <p:txBody>
          <a:bodyPr/>
          <a:lstStyle/>
          <a:p>
            <a:fld id="{7A1EA063-F1A0-4337-9BB4-F912B647AF2A}" type="slidenum">
              <a:rPr lang="en-US" smtClean="0"/>
              <a:t>‹#›</a:t>
            </a:fld>
            <a:endParaRPr lang="en-US"/>
          </a:p>
        </p:txBody>
      </p:sp>
    </p:spTree>
    <p:extLst>
      <p:ext uri="{BB962C8B-B14F-4D97-AF65-F5344CB8AC3E}">
        <p14:creationId xmlns:p14="http://schemas.microsoft.com/office/powerpoint/2010/main" val="22745129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DB7EA-6C3E-B4C3-C8B6-DDE3EB7E8F2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7E93076-DA07-64CF-F976-CF703FD091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9BAC78-CCC5-DF78-F5FC-1F2A5FFFEEB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20F2D0B-2045-325B-7B16-D66C72FE6B7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8253FF1-0EC0-65CA-E336-F055200EB89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1D6EB14-A51C-FF0F-09A9-E75FC1C40496}"/>
              </a:ext>
            </a:extLst>
          </p:cNvPr>
          <p:cNvSpPr>
            <a:spLocks noGrp="1"/>
          </p:cNvSpPr>
          <p:nvPr>
            <p:ph type="dt" sz="half" idx="10"/>
          </p:nvPr>
        </p:nvSpPr>
        <p:spPr/>
        <p:txBody>
          <a:bodyPr/>
          <a:lstStyle/>
          <a:p>
            <a:fld id="{F4641C84-AB04-4B99-8AF5-7C18CDD89D75}" type="datetime1">
              <a:rPr lang="en-US" smtClean="0"/>
              <a:t>10-Jul-26</a:t>
            </a:fld>
            <a:endParaRPr lang="en-US"/>
          </a:p>
        </p:txBody>
      </p:sp>
      <p:sp>
        <p:nvSpPr>
          <p:cNvPr id="8" name="Footer Placeholder 7">
            <a:extLst>
              <a:ext uri="{FF2B5EF4-FFF2-40B4-BE49-F238E27FC236}">
                <a16:creationId xmlns:a16="http://schemas.microsoft.com/office/drawing/2014/main" id="{3AD949F6-0683-799D-AC8D-F7B27C78144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CABCA88-4A5D-C3B6-4434-5E68F2306BDF}"/>
              </a:ext>
            </a:extLst>
          </p:cNvPr>
          <p:cNvSpPr>
            <a:spLocks noGrp="1"/>
          </p:cNvSpPr>
          <p:nvPr>
            <p:ph type="sldNum" sz="quarter" idx="12"/>
          </p:nvPr>
        </p:nvSpPr>
        <p:spPr/>
        <p:txBody>
          <a:bodyPr/>
          <a:lstStyle/>
          <a:p>
            <a:fld id="{7A1EA063-F1A0-4337-9BB4-F912B647AF2A}" type="slidenum">
              <a:rPr lang="en-US" smtClean="0"/>
              <a:t>‹#›</a:t>
            </a:fld>
            <a:endParaRPr lang="en-US"/>
          </a:p>
        </p:txBody>
      </p:sp>
    </p:spTree>
    <p:extLst>
      <p:ext uri="{BB962C8B-B14F-4D97-AF65-F5344CB8AC3E}">
        <p14:creationId xmlns:p14="http://schemas.microsoft.com/office/powerpoint/2010/main" val="22060565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65A0B-7B7A-FF32-4784-BB28A24EC9F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512586B-C6F3-2B53-8469-49E96A87FCE4}"/>
              </a:ext>
            </a:extLst>
          </p:cNvPr>
          <p:cNvSpPr>
            <a:spLocks noGrp="1"/>
          </p:cNvSpPr>
          <p:nvPr>
            <p:ph type="dt" sz="half" idx="10"/>
          </p:nvPr>
        </p:nvSpPr>
        <p:spPr/>
        <p:txBody>
          <a:bodyPr/>
          <a:lstStyle/>
          <a:p>
            <a:fld id="{1E300BD0-E5C2-4A74-9E3E-BB244319C3D5}" type="datetime1">
              <a:rPr lang="en-US" smtClean="0"/>
              <a:t>10-Jul-26</a:t>
            </a:fld>
            <a:endParaRPr lang="en-US"/>
          </a:p>
        </p:txBody>
      </p:sp>
      <p:sp>
        <p:nvSpPr>
          <p:cNvPr id="4" name="Footer Placeholder 3">
            <a:extLst>
              <a:ext uri="{FF2B5EF4-FFF2-40B4-BE49-F238E27FC236}">
                <a16:creationId xmlns:a16="http://schemas.microsoft.com/office/drawing/2014/main" id="{4F7E4A2D-DAC5-5673-637E-17C48060B59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D5789F2-F278-577B-E32C-BD48A850ED78}"/>
              </a:ext>
            </a:extLst>
          </p:cNvPr>
          <p:cNvSpPr>
            <a:spLocks noGrp="1"/>
          </p:cNvSpPr>
          <p:nvPr>
            <p:ph type="sldNum" sz="quarter" idx="12"/>
          </p:nvPr>
        </p:nvSpPr>
        <p:spPr/>
        <p:txBody>
          <a:bodyPr/>
          <a:lstStyle/>
          <a:p>
            <a:fld id="{7A1EA063-F1A0-4337-9BB4-F912B647AF2A}" type="slidenum">
              <a:rPr lang="en-US" smtClean="0"/>
              <a:t>‹#›</a:t>
            </a:fld>
            <a:endParaRPr lang="en-US"/>
          </a:p>
        </p:txBody>
      </p:sp>
    </p:spTree>
    <p:extLst>
      <p:ext uri="{BB962C8B-B14F-4D97-AF65-F5344CB8AC3E}">
        <p14:creationId xmlns:p14="http://schemas.microsoft.com/office/powerpoint/2010/main" val="37496087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C2BDE13-983B-302D-0D9F-E6FBD8778A32}"/>
              </a:ext>
            </a:extLst>
          </p:cNvPr>
          <p:cNvSpPr>
            <a:spLocks noGrp="1"/>
          </p:cNvSpPr>
          <p:nvPr>
            <p:ph type="dt" sz="half" idx="10"/>
          </p:nvPr>
        </p:nvSpPr>
        <p:spPr/>
        <p:txBody>
          <a:bodyPr/>
          <a:lstStyle/>
          <a:p>
            <a:fld id="{1DE4D0E3-075A-44FE-88A6-2C19E3398706}" type="datetime1">
              <a:rPr lang="en-US" smtClean="0"/>
              <a:t>10-Jul-26</a:t>
            </a:fld>
            <a:endParaRPr lang="en-US"/>
          </a:p>
        </p:txBody>
      </p:sp>
      <p:sp>
        <p:nvSpPr>
          <p:cNvPr id="3" name="Footer Placeholder 2">
            <a:extLst>
              <a:ext uri="{FF2B5EF4-FFF2-40B4-BE49-F238E27FC236}">
                <a16:creationId xmlns:a16="http://schemas.microsoft.com/office/drawing/2014/main" id="{DD89A440-8E15-B2FD-A214-3A586D6F164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63A6EAF-E605-E79B-B5CE-D5B517462A2C}"/>
              </a:ext>
            </a:extLst>
          </p:cNvPr>
          <p:cNvSpPr>
            <a:spLocks noGrp="1"/>
          </p:cNvSpPr>
          <p:nvPr>
            <p:ph type="sldNum" sz="quarter" idx="12"/>
          </p:nvPr>
        </p:nvSpPr>
        <p:spPr/>
        <p:txBody>
          <a:bodyPr/>
          <a:lstStyle/>
          <a:p>
            <a:fld id="{7A1EA063-F1A0-4337-9BB4-F912B647AF2A}" type="slidenum">
              <a:rPr lang="en-US" smtClean="0"/>
              <a:t>‹#›</a:t>
            </a:fld>
            <a:endParaRPr lang="en-US"/>
          </a:p>
        </p:txBody>
      </p:sp>
    </p:spTree>
    <p:extLst>
      <p:ext uri="{BB962C8B-B14F-4D97-AF65-F5344CB8AC3E}">
        <p14:creationId xmlns:p14="http://schemas.microsoft.com/office/powerpoint/2010/main" val="42412857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0212F-54FD-6282-856B-F199F05DFB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EB46851-6EA0-EDB8-A793-4619900645A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3EA8CE5-B650-0B80-CD63-D99742FE8C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186C92-4301-EF5B-EB24-AE0A9B3052B3}"/>
              </a:ext>
            </a:extLst>
          </p:cNvPr>
          <p:cNvSpPr>
            <a:spLocks noGrp="1"/>
          </p:cNvSpPr>
          <p:nvPr>
            <p:ph type="dt" sz="half" idx="10"/>
          </p:nvPr>
        </p:nvSpPr>
        <p:spPr/>
        <p:txBody>
          <a:bodyPr/>
          <a:lstStyle/>
          <a:p>
            <a:fld id="{D18D7D84-CA30-4C79-906C-7E6A2491F39E}" type="datetime1">
              <a:rPr lang="en-US" smtClean="0"/>
              <a:t>10-Jul-26</a:t>
            </a:fld>
            <a:endParaRPr lang="en-US"/>
          </a:p>
        </p:txBody>
      </p:sp>
      <p:sp>
        <p:nvSpPr>
          <p:cNvPr id="6" name="Footer Placeholder 5">
            <a:extLst>
              <a:ext uri="{FF2B5EF4-FFF2-40B4-BE49-F238E27FC236}">
                <a16:creationId xmlns:a16="http://schemas.microsoft.com/office/drawing/2014/main" id="{D80C9801-F6B9-052D-B485-C462E1DD92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AB16D4-250B-50D4-FBCA-9E1E49563D67}"/>
              </a:ext>
            </a:extLst>
          </p:cNvPr>
          <p:cNvSpPr>
            <a:spLocks noGrp="1"/>
          </p:cNvSpPr>
          <p:nvPr>
            <p:ph type="sldNum" sz="quarter" idx="12"/>
          </p:nvPr>
        </p:nvSpPr>
        <p:spPr/>
        <p:txBody>
          <a:bodyPr/>
          <a:lstStyle/>
          <a:p>
            <a:fld id="{7A1EA063-F1A0-4337-9BB4-F912B647AF2A}" type="slidenum">
              <a:rPr lang="en-US" smtClean="0"/>
              <a:t>‹#›</a:t>
            </a:fld>
            <a:endParaRPr lang="en-US"/>
          </a:p>
        </p:txBody>
      </p:sp>
    </p:spTree>
    <p:extLst>
      <p:ext uri="{BB962C8B-B14F-4D97-AF65-F5344CB8AC3E}">
        <p14:creationId xmlns:p14="http://schemas.microsoft.com/office/powerpoint/2010/main" val="18990879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5AA49-DB55-755D-6575-304362B205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50A75EA-1079-3595-887E-01DE4B77BB0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11FD0F4-3A8B-5FB1-759D-7FBB52C25C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C14293-FA10-8B67-F5BA-CC7797CFB6FF}"/>
              </a:ext>
            </a:extLst>
          </p:cNvPr>
          <p:cNvSpPr>
            <a:spLocks noGrp="1"/>
          </p:cNvSpPr>
          <p:nvPr>
            <p:ph type="dt" sz="half" idx="10"/>
          </p:nvPr>
        </p:nvSpPr>
        <p:spPr/>
        <p:txBody>
          <a:bodyPr/>
          <a:lstStyle/>
          <a:p>
            <a:fld id="{EEF66521-1AF7-4B83-A505-23CAC6E6B256}" type="datetime1">
              <a:rPr lang="en-US" smtClean="0"/>
              <a:t>10-Jul-26</a:t>
            </a:fld>
            <a:endParaRPr lang="en-US"/>
          </a:p>
        </p:txBody>
      </p:sp>
      <p:sp>
        <p:nvSpPr>
          <p:cNvPr id="6" name="Footer Placeholder 5">
            <a:extLst>
              <a:ext uri="{FF2B5EF4-FFF2-40B4-BE49-F238E27FC236}">
                <a16:creationId xmlns:a16="http://schemas.microsoft.com/office/drawing/2014/main" id="{9B547CEB-AD75-067C-6985-43A6203B018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5EFBDE4-60E7-4353-C7DD-B2EC55067D87}"/>
              </a:ext>
            </a:extLst>
          </p:cNvPr>
          <p:cNvSpPr>
            <a:spLocks noGrp="1"/>
          </p:cNvSpPr>
          <p:nvPr>
            <p:ph type="sldNum" sz="quarter" idx="12"/>
          </p:nvPr>
        </p:nvSpPr>
        <p:spPr/>
        <p:txBody>
          <a:bodyPr/>
          <a:lstStyle/>
          <a:p>
            <a:fld id="{7A1EA063-F1A0-4337-9BB4-F912B647AF2A}" type="slidenum">
              <a:rPr lang="en-US" smtClean="0"/>
              <a:t>‹#›</a:t>
            </a:fld>
            <a:endParaRPr lang="en-US"/>
          </a:p>
        </p:txBody>
      </p:sp>
    </p:spTree>
    <p:extLst>
      <p:ext uri="{BB962C8B-B14F-4D97-AF65-F5344CB8AC3E}">
        <p14:creationId xmlns:p14="http://schemas.microsoft.com/office/powerpoint/2010/main" val="17112205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8E44A-24BE-F077-9EEE-477797B2730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E3E37A5-F498-CB86-6277-7F0BC76C43C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5C0355-8CAE-EB75-9AF9-573786D124A4}"/>
              </a:ext>
            </a:extLst>
          </p:cNvPr>
          <p:cNvSpPr>
            <a:spLocks noGrp="1"/>
          </p:cNvSpPr>
          <p:nvPr>
            <p:ph type="dt" sz="half" idx="10"/>
          </p:nvPr>
        </p:nvSpPr>
        <p:spPr/>
        <p:txBody>
          <a:bodyPr/>
          <a:lstStyle/>
          <a:p>
            <a:fld id="{597B0DF0-F300-4E64-8C88-AF3711E61673}" type="datetime1">
              <a:rPr lang="en-US" smtClean="0"/>
              <a:t>10-Jul-26</a:t>
            </a:fld>
            <a:endParaRPr lang="en-US"/>
          </a:p>
        </p:txBody>
      </p:sp>
      <p:sp>
        <p:nvSpPr>
          <p:cNvPr id="5" name="Footer Placeholder 4">
            <a:extLst>
              <a:ext uri="{FF2B5EF4-FFF2-40B4-BE49-F238E27FC236}">
                <a16:creationId xmlns:a16="http://schemas.microsoft.com/office/drawing/2014/main" id="{D05F560F-9EB6-2795-03A0-CDF5E35A0D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BDF2A0-181A-5B30-AA29-7C1223E966E6}"/>
              </a:ext>
            </a:extLst>
          </p:cNvPr>
          <p:cNvSpPr>
            <a:spLocks noGrp="1"/>
          </p:cNvSpPr>
          <p:nvPr>
            <p:ph type="sldNum" sz="quarter" idx="12"/>
          </p:nvPr>
        </p:nvSpPr>
        <p:spPr/>
        <p:txBody>
          <a:bodyPr/>
          <a:lstStyle/>
          <a:p>
            <a:fld id="{7A1EA063-F1A0-4337-9BB4-F912B647AF2A}" type="slidenum">
              <a:rPr lang="en-US" smtClean="0"/>
              <a:t>‹#›</a:t>
            </a:fld>
            <a:endParaRPr lang="en-US"/>
          </a:p>
        </p:txBody>
      </p:sp>
    </p:spTree>
    <p:extLst>
      <p:ext uri="{BB962C8B-B14F-4D97-AF65-F5344CB8AC3E}">
        <p14:creationId xmlns:p14="http://schemas.microsoft.com/office/powerpoint/2010/main" val="31744472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F537055-D6F5-3031-BFEE-E7CC45ED5C2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3535F4-5FF3-CE25-2181-41FDACFA7F8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92D8EF-50B7-A0B4-CABB-1093DE5F2FB0}"/>
              </a:ext>
            </a:extLst>
          </p:cNvPr>
          <p:cNvSpPr>
            <a:spLocks noGrp="1"/>
          </p:cNvSpPr>
          <p:nvPr>
            <p:ph type="dt" sz="half" idx="10"/>
          </p:nvPr>
        </p:nvSpPr>
        <p:spPr/>
        <p:txBody>
          <a:bodyPr/>
          <a:lstStyle/>
          <a:p>
            <a:fld id="{BEBF8B7D-FCDB-4A9E-AACC-15AE6C1E5CAA}" type="datetime1">
              <a:rPr lang="en-US" smtClean="0"/>
              <a:t>10-Jul-26</a:t>
            </a:fld>
            <a:endParaRPr lang="en-US"/>
          </a:p>
        </p:txBody>
      </p:sp>
      <p:sp>
        <p:nvSpPr>
          <p:cNvPr id="5" name="Footer Placeholder 4">
            <a:extLst>
              <a:ext uri="{FF2B5EF4-FFF2-40B4-BE49-F238E27FC236}">
                <a16:creationId xmlns:a16="http://schemas.microsoft.com/office/drawing/2014/main" id="{AB42D03E-8F76-26C1-C399-168ADA27C1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AACD82-7DBB-F49C-D9C0-1CCEFF995CBA}"/>
              </a:ext>
            </a:extLst>
          </p:cNvPr>
          <p:cNvSpPr>
            <a:spLocks noGrp="1"/>
          </p:cNvSpPr>
          <p:nvPr>
            <p:ph type="sldNum" sz="quarter" idx="12"/>
          </p:nvPr>
        </p:nvSpPr>
        <p:spPr/>
        <p:txBody>
          <a:bodyPr/>
          <a:lstStyle/>
          <a:p>
            <a:fld id="{7A1EA063-F1A0-4337-9BB4-F912B647AF2A}" type="slidenum">
              <a:rPr lang="en-US" smtClean="0"/>
              <a:t>‹#›</a:t>
            </a:fld>
            <a:endParaRPr lang="en-US"/>
          </a:p>
        </p:txBody>
      </p:sp>
    </p:spTree>
    <p:extLst>
      <p:ext uri="{BB962C8B-B14F-4D97-AF65-F5344CB8AC3E}">
        <p14:creationId xmlns:p14="http://schemas.microsoft.com/office/powerpoint/2010/main" val="828967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CCBAC41-E74E-41E8-856E-D6AC8AC7940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F8C1F72-2695-444A-1D96-368E9FAA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63E12C-C22F-A110-F73D-94DD8362A1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DDAA56E-78B6-4126-B152-2071F0686178}" type="datetime1">
              <a:rPr lang="en-US" smtClean="0"/>
              <a:t>10-Jul-26</a:t>
            </a:fld>
            <a:endParaRPr lang="en-US"/>
          </a:p>
        </p:txBody>
      </p:sp>
      <p:sp>
        <p:nvSpPr>
          <p:cNvPr id="5" name="Footer Placeholder 4">
            <a:extLst>
              <a:ext uri="{FF2B5EF4-FFF2-40B4-BE49-F238E27FC236}">
                <a16:creationId xmlns:a16="http://schemas.microsoft.com/office/drawing/2014/main" id="{1A7FFEA9-F522-5AB3-2239-753D614F93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D99586B-E6BC-0177-3051-4251ADDDB88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A1EA063-F1A0-4337-9BB4-F912B647AF2A}" type="slidenum">
              <a:rPr lang="en-US" smtClean="0"/>
              <a:t>‹#›</a:t>
            </a:fld>
            <a:endParaRPr lang="en-US"/>
          </a:p>
        </p:txBody>
      </p:sp>
    </p:spTree>
    <p:extLst>
      <p:ext uri="{BB962C8B-B14F-4D97-AF65-F5344CB8AC3E}">
        <p14:creationId xmlns:p14="http://schemas.microsoft.com/office/powerpoint/2010/main" val="17728440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5231458" y="197681"/>
            <a:ext cx="1574800" cy="1533567"/>
          </a:xfrm>
          <a:custGeom>
            <a:avLst/>
            <a:gdLst/>
            <a:ahLst/>
            <a:cxnLst/>
            <a:rect l="l" t="t" r="r" b="b"/>
            <a:pathLst>
              <a:path w="1458301" h="1635834">
                <a:moveTo>
                  <a:pt x="0" y="0"/>
                </a:moveTo>
                <a:lnTo>
                  <a:pt x="1458302" y="0"/>
                </a:lnTo>
                <a:lnTo>
                  <a:pt x="1458302" y="1635834"/>
                </a:lnTo>
                <a:lnTo>
                  <a:pt x="0" y="1635834"/>
                </a:lnTo>
                <a:lnTo>
                  <a:pt x="0" y="0"/>
                </a:lnTo>
                <a:close/>
              </a:path>
            </a:pathLst>
          </a:custGeom>
          <a:blipFill>
            <a:blip r:embed="rId3"/>
            <a:stretch>
              <a:fillRect/>
            </a:stretch>
          </a:blipFill>
        </p:spPr>
        <p:txBody>
          <a:bodyPr/>
          <a:lstStyle/>
          <a:p>
            <a:pPr algn="ctr"/>
            <a:endParaRPr lang="en-US" dirty="0"/>
          </a:p>
        </p:txBody>
      </p:sp>
      <p:sp>
        <p:nvSpPr>
          <p:cNvPr id="20" name="TextBox 20"/>
          <p:cNvSpPr txBox="1"/>
          <p:nvPr/>
        </p:nvSpPr>
        <p:spPr>
          <a:xfrm>
            <a:off x="1955421" y="1778480"/>
            <a:ext cx="8126871" cy="451342"/>
          </a:xfrm>
          <a:prstGeom prst="rect">
            <a:avLst/>
          </a:prstGeom>
        </p:spPr>
        <p:txBody>
          <a:bodyPr wrap="square" lIns="0" tIns="0" rIns="0" bIns="0" rtlCol="0" anchor="t">
            <a:spAutoFit/>
          </a:bodyPr>
          <a:lstStyle/>
          <a:p>
            <a:pPr algn="ctr"/>
            <a:r>
              <a:rPr lang="en-US" sz="2933" b="1" dirty="0">
                <a:solidFill>
                  <a:schemeClr val="tx2">
                    <a:lumMod val="75000"/>
                  </a:schemeClr>
                </a:solidFill>
                <a:latin typeface="Calibri" panose="020F0502020204030204" pitchFamily="34" charset="0"/>
                <a:ea typeface="Calibri" panose="020F0502020204030204" pitchFamily="34" charset="0"/>
                <a:cs typeface="Calibri" panose="020F0502020204030204" pitchFamily="34" charset="0"/>
              </a:rPr>
              <a:t>Khulna University of Engineering &amp; Technology</a:t>
            </a:r>
          </a:p>
        </p:txBody>
      </p:sp>
      <p:sp>
        <p:nvSpPr>
          <p:cNvPr id="3" name="Rectangle 2">
            <a:extLst>
              <a:ext uri="{FF2B5EF4-FFF2-40B4-BE49-F238E27FC236}">
                <a16:creationId xmlns:a16="http://schemas.microsoft.com/office/drawing/2014/main" id="{BB5731CE-0322-495E-8BAB-AAA1A4261934}"/>
              </a:ext>
            </a:extLst>
          </p:cNvPr>
          <p:cNvSpPr/>
          <p:nvPr/>
        </p:nvSpPr>
        <p:spPr>
          <a:xfrm>
            <a:off x="183116" y="3364265"/>
            <a:ext cx="11785600" cy="1588273"/>
          </a:xfrm>
          <a:prstGeom prst="rect">
            <a:avLst/>
          </a:prstGeom>
          <a:solidFill>
            <a:schemeClr val="tx2">
              <a:lumMod val="75000"/>
              <a:lumOff val="2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3766"/>
              </a:lnSpc>
            </a:pPr>
            <a:r>
              <a:rPr lang="en-US" sz="3600" dirty="0">
                <a:latin typeface="Calibri" panose="020F0502020204030204" pitchFamily="34" charset="0"/>
                <a:ea typeface="Calibri" panose="020F0502020204030204" pitchFamily="34" charset="0"/>
                <a:cs typeface="Calibri" panose="020F0502020204030204" pitchFamily="34" charset="0"/>
              </a:rPr>
              <a:t>A Machine Learning-Based Runtime Data-in-Use </a:t>
            </a:r>
            <a:br>
              <a:rPr lang="en-US" sz="3600" dirty="0">
                <a:latin typeface="Calibri" panose="020F0502020204030204" pitchFamily="34" charset="0"/>
                <a:ea typeface="Calibri" panose="020F0502020204030204" pitchFamily="34" charset="0"/>
                <a:cs typeface="Calibri" panose="020F0502020204030204" pitchFamily="34" charset="0"/>
              </a:rPr>
            </a:br>
            <a:r>
              <a:rPr lang="en-US" sz="3600" dirty="0">
                <a:latin typeface="Calibri" panose="020F0502020204030204" pitchFamily="34" charset="0"/>
                <a:ea typeface="Calibri" panose="020F0502020204030204" pitchFamily="34" charset="0"/>
                <a:cs typeface="Calibri" panose="020F0502020204030204" pitchFamily="34" charset="0"/>
              </a:rPr>
              <a:t>Protection Framework with Adaptive Decryption and </a:t>
            </a:r>
            <a:br>
              <a:rPr lang="en-US" sz="3600" dirty="0">
                <a:latin typeface="Calibri" panose="020F0502020204030204" pitchFamily="34" charset="0"/>
                <a:ea typeface="Calibri" panose="020F0502020204030204" pitchFamily="34" charset="0"/>
                <a:cs typeface="Calibri" panose="020F0502020204030204" pitchFamily="34" charset="0"/>
              </a:rPr>
            </a:br>
            <a:r>
              <a:rPr lang="en-US" sz="3600" dirty="0">
                <a:latin typeface="Calibri" panose="020F0502020204030204" pitchFamily="34" charset="0"/>
                <a:ea typeface="Calibri" panose="020F0502020204030204" pitchFamily="34" charset="0"/>
                <a:cs typeface="Calibri" panose="020F0502020204030204" pitchFamily="34" charset="0"/>
              </a:rPr>
              <a:t>Exposure Control</a:t>
            </a:r>
            <a:endParaRPr lang="en-US" sz="3600" b="1"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557C2F00-5DA7-401E-BBD0-F95C747DA61C}"/>
              </a:ext>
            </a:extLst>
          </p:cNvPr>
          <p:cNvSpPr txBox="1"/>
          <p:nvPr/>
        </p:nvSpPr>
        <p:spPr>
          <a:xfrm>
            <a:off x="2870194" y="2359963"/>
            <a:ext cx="6297323" cy="761619"/>
          </a:xfrm>
          <a:prstGeom prst="rect">
            <a:avLst/>
          </a:prstGeom>
          <a:solidFill>
            <a:schemeClr val="tx2">
              <a:lumMod val="10000"/>
              <a:lumOff val="90000"/>
            </a:schemeClr>
          </a:solidFill>
        </p:spPr>
        <p:txBody>
          <a:bodyPr wrap="square">
            <a:spAutoFit/>
          </a:bodyPr>
          <a:lstStyle/>
          <a:p>
            <a:pPr marR="135473" algn="ctr">
              <a:spcBef>
                <a:spcPts val="67"/>
              </a:spcBef>
            </a:pPr>
            <a:r>
              <a:rPr lang="en-GB" sz="2133" b="1" dirty="0">
                <a:latin typeface="Calibri" panose="020F0502020204030204" pitchFamily="34" charset="0"/>
                <a:ea typeface="Calibri" panose="020F0502020204030204" pitchFamily="34" charset="0"/>
                <a:cs typeface="Calibri" panose="020F0502020204030204" pitchFamily="34" charset="0"/>
              </a:rPr>
              <a:t>Course</a:t>
            </a:r>
            <a:r>
              <a:rPr lang="en-GB" sz="2133" b="1" spc="-23" dirty="0">
                <a:latin typeface="Calibri" panose="020F0502020204030204" pitchFamily="34" charset="0"/>
                <a:ea typeface="Calibri" panose="020F0502020204030204" pitchFamily="34" charset="0"/>
                <a:cs typeface="Calibri" panose="020F0502020204030204" pitchFamily="34" charset="0"/>
              </a:rPr>
              <a:t> </a:t>
            </a:r>
            <a:r>
              <a:rPr lang="en-GB" sz="2133" b="1" dirty="0">
                <a:latin typeface="Calibri" panose="020F0502020204030204" pitchFamily="34" charset="0"/>
                <a:ea typeface="Calibri" panose="020F0502020204030204" pitchFamily="34" charset="0"/>
                <a:cs typeface="Calibri" panose="020F0502020204030204" pitchFamily="34" charset="0"/>
              </a:rPr>
              <a:t>no:</a:t>
            </a:r>
            <a:r>
              <a:rPr lang="en-GB" sz="2133" b="1" spc="60" dirty="0">
                <a:latin typeface="Calibri" panose="020F0502020204030204" pitchFamily="34" charset="0"/>
                <a:ea typeface="Calibri" panose="020F0502020204030204" pitchFamily="34" charset="0"/>
                <a:cs typeface="Calibri" panose="020F0502020204030204" pitchFamily="34" charset="0"/>
              </a:rPr>
              <a:t> </a:t>
            </a:r>
            <a:r>
              <a:rPr lang="en-GB" sz="2133" dirty="0">
                <a:latin typeface="Calibri" panose="020F0502020204030204" pitchFamily="34" charset="0"/>
                <a:ea typeface="Calibri" panose="020F0502020204030204" pitchFamily="34" charset="0"/>
                <a:cs typeface="Calibri" panose="020F0502020204030204" pitchFamily="34" charset="0"/>
              </a:rPr>
              <a:t>CSE</a:t>
            </a:r>
            <a:r>
              <a:rPr lang="en-GB" sz="2133" spc="33" dirty="0">
                <a:latin typeface="Calibri" panose="020F0502020204030204" pitchFamily="34" charset="0"/>
                <a:ea typeface="Calibri" panose="020F0502020204030204" pitchFamily="34" charset="0"/>
                <a:cs typeface="Calibri" panose="020F0502020204030204" pitchFamily="34" charset="0"/>
              </a:rPr>
              <a:t> </a:t>
            </a:r>
            <a:r>
              <a:rPr lang="en-GB" sz="2133" spc="-13" dirty="0">
                <a:latin typeface="Calibri" panose="020F0502020204030204" pitchFamily="34" charset="0"/>
                <a:ea typeface="Calibri" panose="020F0502020204030204" pitchFamily="34" charset="0"/>
                <a:cs typeface="Calibri" panose="020F0502020204030204" pitchFamily="34" charset="0"/>
              </a:rPr>
              <a:t>4000</a:t>
            </a:r>
            <a:endParaRPr lang="en-GB" sz="2133" dirty="0">
              <a:latin typeface="Calibri" panose="020F0502020204030204" pitchFamily="34" charset="0"/>
              <a:ea typeface="Calibri" panose="020F0502020204030204" pitchFamily="34" charset="0"/>
              <a:cs typeface="Calibri" panose="020F0502020204030204" pitchFamily="34" charset="0"/>
            </a:endParaRPr>
          </a:p>
          <a:p>
            <a:pPr marR="135473" algn="ctr">
              <a:spcBef>
                <a:spcPts val="67"/>
              </a:spcBef>
            </a:pPr>
            <a:r>
              <a:rPr lang="en-GB" sz="2133" b="1" dirty="0">
                <a:latin typeface="Calibri" panose="020F0502020204030204" pitchFamily="34" charset="0"/>
                <a:ea typeface="Calibri" panose="020F0502020204030204" pitchFamily="34" charset="0"/>
                <a:cs typeface="Calibri" panose="020F0502020204030204" pitchFamily="34" charset="0"/>
              </a:rPr>
              <a:t>Course</a:t>
            </a:r>
            <a:r>
              <a:rPr lang="en-GB" sz="2133" b="1" spc="-57" dirty="0">
                <a:latin typeface="Calibri" panose="020F0502020204030204" pitchFamily="34" charset="0"/>
                <a:ea typeface="Calibri" panose="020F0502020204030204" pitchFamily="34" charset="0"/>
                <a:cs typeface="Calibri" panose="020F0502020204030204" pitchFamily="34" charset="0"/>
              </a:rPr>
              <a:t> </a:t>
            </a:r>
            <a:r>
              <a:rPr lang="en-GB" sz="2133" b="1" dirty="0">
                <a:latin typeface="Calibri" panose="020F0502020204030204" pitchFamily="34" charset="0"/>
                <a:ea typeface="Calibri" panose="020F0502020204030204" pitchFamily="34" charset="0"/>
                <a:cs typeface="Calibri" panose="020F0502020204030204" pitchFamily="34" charset="0"/>
              </a:rPr>
              <a:t>Title:</a:t>
            </a:r>
            <a:r>
              <a:rPr lang="en-GB" sz="2133" b="1" spc="-3" dirty="0">
                <a:latin typeface="Calibri" panose="020F0502020204030204" pitchFamily="34" charset="0"/>
                <a:ea typeface="Calibri" panose="020F0502020204030204" pitchFamily="34" charset="0"/>
                <a:cs typeface="Calibri" panose="020F0502020204030204" pitchFamily="34" charset="0"/>
              </a:rPr>
              <a:t> </a:t>
            </a:r>
            <a:r>
              <a:rPr lang="en-GB" sz="2133" dirty="0">
                <a:latin typeface="Calibri" panose="020F0502020204030204" pitchFamily="34" charset="0"/>
                <a:ea typeface="Calibri" panose="020F0502020204030204" pitchFamily="34" charset="0"/>
                <a:cs typeface="Calibri" panose="020F0502020204030204" pitchFamily="34" charset="0"/>
              </a:rPr>
              <a:t>Project/Thesis</a:t>
            </a:r>
          </a:p>
        </p:txBody>
      </p:sp>
      <p:sp>
        <p:nvSpPr>
          <p:cNvPr id="4" name="Rectangle 3">
            <a:extLst>
              <a:ext uri="{FF2B5EF4-FFF2-40B4-BE49-F238E27FC236}">
                <a16:creationId xmlns:a16="http://schemas.microsoft.com/office/drawing/2014/main" id="{F828EC19-F655-4D1F-94DA-C7AE83588529}"/>
              </a:ext>
            </a:extLst>
          </p:cNvPr>
          <p:cNvSpPr/>
          <p:nvPr/>
        </p:nvSpPr>
        <p:spPr>
          <a:xfrm>
            <a:off x="4281819" y="6352501"/>
            <a:ext cx="4419600" cy="484244"/>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GB" sz="2133" b="1" dirty="0">
                <a:solidFill>
                  <a:schemeClr val="bg1"/>
                </a:solidFill>
                <a:latin typeface="Times New Roman" panose="02020603050405020304" pitchFamily="18" charset="0"/>
                <a:cs typeface="Times New Roman" panose="02020603050405020304" pitchFamily="18" charset="0"/>
              </a:rPr>
              <a:t>Date:11/07/2026</a:t>
            </a:r>
            <a:endParaRPr lang="en-US" sz="2133" b="1" dirty="0">
              <a:solidFill>
                <a:schemeClr val="bg1"/>
              </a:solidFill>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id="{90240815-283E-47DD-83A5-A9A91B686899}"/>
              </a:ext>
            </a:extLst>
          </p:cNvPr>
          <p:cNvSpPr txBox="1"/>
          <p:nvPr/>
        </p:nvSpPr>
        <p:spPr>
          <a:xfrm>
            <a:off x="203200" y="6411425"/>
            <a:ext cx="3657600" cy="338554"/>
          </a:xfrm>
          <a:prstGeom prst="rect">
            <a:avLst/>
          </a:prstGeom>
          <a:noFill/>
        </p:spPr>
        <p:txBody>
          <a:bodyPr wrap="square" rtlCol="0">
            <a:spAutoFit/>
          </a:bodyPr>
          <a:lstStyle/>
          <a:p>
            <a:r>
              <a:rPr lang="en-US" sz="1600" b="1" spc="31" dirty="0">
                <a:solidFill>
                  <a:srgbClr val="FFFFFF"/>
                </a:solidFill>
                <a:latin typeface="Times New Roman MT Bold"/>
                <a:ea typeface="Times New Roman MT Bold"/>
                <a:cs typeface="Times New Roman MT Bold"/>
                <a:sym typeface="Times New Roman MT Bold"/>
              </a:rPr>
              <a:t>CSE 4000: PROJECT/THESIS</a:t>
            </a:r>
            <a:endParaRPr lang="en-US" sz="1600" dirty="0"/>
          </a:p>
        </p:txBody>
      </p:sp>
      <p:sp>
        <p:nvSpPr>
          <p:cNvPr id="2" name="Rectangle 1">
            <a:extLst>
              <a:ext uri="{FF2B5EF4-FFF2-40B4-BE49-F238E27FC236}">
                <a16:creationId xmlns:a16="http://schemas.microsoft.com/office/drawing/2014/main" id="{4FC41696-E449-45F3-B4E3-4C1DB5F4729A}"/>
              </a:ext>
            </a:extLst>
          </p:cNvPr>
          <p:cNvSpPr/>
          <p:nvPr/>
        </p:nvSpPr>
        <p:spPr>
          <a:xfrm>
            <a:off x="223284" y="2026736"/>
            <a:ext cx="11785600" cy="1370141"/>
          </a:xfrm>
          <a:prstGeom prst="rect">
            <a:avLst/>
          </a:prstGeom>
          <a:noFill/>
          <a:ln>
            <a:noFill/>
          </a:ln>
          <a:effectLst>
            <a:glow rad="101600">
              <a:srgbClr val="00B050">
                <a:alpha val="6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aphicFrame>
        <p:nvGraphicFramePr>
          <p:cNvPr id="5" name="Table 5">
            <a:extLst>
              <a:ext uri="{FF2B5EF4-FFF2-40B4-BE49-F238E27FC236}">
                <a16:creationId xmlns:a16="http://schemas.microsoft.com/office/drawing/2014/main" id="{5F177B73-B429-4998-B2ED-3F58183B9798}"/>
              </a:ext>
            </a:extLst>
          </p:cNvPr>
          <p:cNvGraphicFramePr>
            <a:graphicFrameLocks noGrp="1"/>
          </p:cNvGraphicFramePr>
          <p:nvPr>
            <p:extLst>
              <p:ext uri="{D42A27DB-BD31-4B8C-83A1-F6EECF244321}">
                <p14:modId xmlns:p14="http://schemas.microsoft.com/office/powerpoint/2010/main" val="3168337970"/>
              </p:ext>
            </p:extLst>
          </p:nvPr>
        </p:nvGraphicFramePr>
        <p:xfrm>
          <a:off x="2281503" y="5081924"/>
          <a:ext cx="9615530" cy="1524000"/>
        </p:xfrm>
        <a:graphic>
          <a:graphicData uri="http://schemas.openxmlformats.org/drawingml/2006/table">
            <a:tbl>
              <a:tblPr firstRow="1" bandRow="1">
                <a:tableStyleId>{5C22544A-7EE6-4342-B048-85BDC9FD1C3A}</a:tableStyleId>
              </a:tblPr>
              <a:tblGrid>
                <a:gridCol w="4807765">
                  <a:extLst>
                    <a:ext uri="{9D8B030D-6E8A-4147-A177-3AD203B41FA5}">
                      <a16:colId xmlns:a16="http://schemas.microsoft.com/office/drawing/2014/main" val="348716470"/>
                    </a:ext>
                  </a:extLst>
                </a:gridCol>
                <a:gridCol w="4807765">
                  <a:extLst>
                    <a:ext uri="{9D8B030D-6E8A-4147-A177-3AD203B41FA5}">
                      <a16:colId xmlns:a16="http://schemas.microsoft.com/office/drawing/2014/main" val="3738095001"/>
                    </a:ext>
                  </a:extLst>
                </a:gridCol>
              </a:tblGrid>
              <a:tr h="1042931">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lang="en-US" sz="2100" b="0"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Supervised By</a:t>
                      </a:r>
                    </a:p>
                    <a:p>
                      <a:pPr marL="0" marR="0" lvl="0" indent="0" algn="l" defTabSz="1371600" rtl="0" eaLnBrk="1" fontAlgn="auto" latinLnBrk="0" hangingPunct="1">
                        <a:lnSpc>
                          <a:spcPct val="100000"/>
                        </a:lnSpc>
                        <a:spcBef>
                          <a:spcPts val="0"/>
                        </a:spcBef>
                        <a:spcAft>
                          <a:spcPts val="0"/>
                        </a:spcAft>
                        <a:buClrTx/>
                        <a:buSzTx/>
                        <a:buFontTx/>
                        <a:buNone/>
                        <a:tabLst/>
                        <a:defRPr/>
                      </a:pPr>
                      <a:r>
                        <a:rPr lang="en-US" sz="2100" b="0"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Dr. Muhammad </a:t>
                      </a:r>
                      <a:r>
                        <a:rPr lang="en-US" sz="2100" b="0" dirty="0" err="1">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Aminul</a:t>
                      </a:r>
                      <a:r>
                        <a:rPr lang="en-US" sz="2100" b="0"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 Haque Akhand</a:t>
                      </a:r>
                      <a:br>
                        <a:rPr lang="en-US" sz="2100" b="0"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br>
                      <a:r>
                        <a:rPr lang="en-US" sz="2100" b="0"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Professor</a:t>
                      </a:r>
                      <a:br>
                        <a:rPr lang="en-US" sz="2100" b="0"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br>
                      <a:r>
                        <a:rPr lang="en-US" sz="2100" b="0"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Department of CSE, KUET</a:t>
                      </a:r>
                    </a:p>
                    <a:p>
                      <a:endParaRPr lang="en-US" sz="1200" b="0"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endParaRPr>
                    </a:p>
                  </a:txBody>
                  <a:tcPr marL="60960" marR="60960" marT="30480" marB="30480">
                    <a:noFill/>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lang="en-US" sz="2100" b="0"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Presented By </a:t>
                      </a:r>
                    </a:p>
                    <a:p>
                      <a:pPr marL="0" marR="0" lvl="0" indent="0" algn="l" defTabSz="1371600" rtl="0" eaLnBrk="1" fontAlgn="auto" latinLnBrk="0" hangingPunct="1">
                        <a:lnSpc>
                          <a:spcPct val="100000"/>
                        </a:lnSpc>
                        <a:spcBef>
                          <a:spcPts val="0"/>
                        </a:spcBef>
                        <a:spcAft>
                          <a:spcPts val="0"/>
                        </a:spcAft>
                        <a:buClrTx/>
                        <a:buSzTx/>
                        <a:buFontTx/>
                        <a:buNone/>
                        <a:tabLst/>
                        <a:defRPr/>
                      </a:pPr>
                      <a:r>
                        <a:rPr lang="en-US" sz="2100" b="0"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Faiyaz Mahmud</a:t>
                      </a:r>
                      <a:br>
                        <a:rPr lang="en-US" sz="2100" b="0"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br>
                      <a:r>
                        <a:rPr lang="en-US" sz="2100" b="0" i="0" dirty="0">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rPr>
                        <a:t>Roll: 2007103</a:t>
                      </a:r>
                      <a:endParaRPr lang="en-US" sz="2100" b="0"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endParaRPr>
                    </a:p>
                    <a:p>
                      <a:endParaRPr lang="en-US" sz="1200" b="0"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endParaRPr>
                    </a:p>
                  </a:txBody>
                  <a:tcPr marL="60960" marR="60960" marT="30480" marB="30480">
                    <a:noFill/>
                  </a:tcPr>
                </a:tc>
                <a:extLst>
                  <a:ext uri="{0D108BD9-81ED-4DB2-BD59-A6C34878D82A}">
                    <a16:rowId xmlns:a16="http://schemas.microsoft.com/office/drawing/2014/main" val="3245999274"/>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advTm="22881"/>
    </mc:Choice>
    <mc:Fallback xmlns="">
      <p:transition spd="slow" advTm="22881"/>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A4C3A-631F-A921-2F91-CEAAA1368C6D}"/>
              </a:ext>
            </a:extLst>
          </p:cNvPr>
          <p:cNvSpPr>
            <a:spLocks noGrp="1"/>
          </p:cNvSpPr>
          <p:nvPr>
            <p:ph type="title"/>
          </p:nvPr>
        </p:nvSpPr>
        <p:spPr>
          <a:xfrm>
            <a:off x="838200" y="365126"/>
            <a:ext cx="10515600" cy="915988"/>
          </a:xfrm>
          <a:solidFill>
            <a:schemeClr val="tx2">
              <a:lumMod val="10000"/>
              <a:lumOff val="90000"/>
            </a:schemeClr>
          </a:solidFill>
        </p:spPr>
        <p:txBody>
          <a:bodyPr/>
          <a:lstStyle/>
          <a:p>
            <a:r>
              <a:rPr lang="en-US" dirty="0">
                <a:solidFill>
                  <a:schemeClr val="accent4">
                    <a:lumMod val="50000"/>
                  </a:schemeClr>
                </a:solidFill>
                <a:latin typeface="Calibri" panose="020F0502020204030204" pitchFamily="34" charset="0"/>
                <a:ea typeface="Calibri" panose="020F0502020204030204" pitchFamily="34" charset="0"/>
                <a:cs typeface="Calibri" panose="020F0502020204030204" pitchFamily="34" charset="0"/>
              </a:rPr>
              <a:t>Outline</a:t>
            </a:r>
          </a:p>
        </p:txBody>
      </p:sp>
      <p:sp>
        <p:nvSpPr>
          <p:cNvPr id="3" name="Content Placeholder 2">
            <a:extLst>
              <a:ext uri="{FF2B5EF4-FFF2-40B4-BE49-F238E27FC236}">
                <a16:creationId xmlns:a16="http://schemas.microsoft.com/office/drawing/2014/main" id="{F689B059-A727-8507-8F85-D7B031F003EB}"/>
              </a:ext>
            </a:extLst>
          </p:cNvPr>
          <p:cNvSpPr>
            <a:spLocks noGrp="1"/>
          </p:cNvSpPr>
          <p:nvPr>
            <p:ph idx="1"/>
          </p:nvPr>
        </p:nvSpPr>
        <p:spPr/>
        <p:txBody>
          <a:bodyPr/>
          <a:lstStyle/>
          <a:p>
            <a:pPr>
              <a:buFont typeface="Wingdings" panose="05000000000000000000" pitchFamily="2" charset="2"/>
              <a:buChar char="§"/>
            </a:pPr>
            <a:r>
              <a:rPr lang="en-US" dirty="0">
                <a:latin typeface="Calibri" panose="020F0502020204030204" pitchFamily="34" charset="0"/>
                <a:ea typeface="Calibri" panose="020F0502020204030204" pitchFamily="34" charset="0"/>
                <a:cs typeface="Calibri" panose="020F0502020204030204" pitchFamily="34" charset="0"/>
              </a:rPr>
              <a:t>Introduction</a:t>
            </a:r>
          </a:p>
          <a:p>
            <a:pPr>
              <a:buFont typeface="Wingdings" panose="05000000000000000000" pitchFamily="2" charset="2"/>
              <a:buChar char="§"/>
            </a:pPr>
            <a:r>
              <a:rPr lang="en-US" dirty="0">
                <a:latin typeface="Calibri" panose="020F0502020204030204" pitchFamily="34" charset="0"/>
                <a:ea typeface="Calibri" panose="020F0502020204030204" pitchFamily="34" charset="0"/>
                <a:cs typeface="Calibri" panose="020F0502020204030204" pitchFamily="34" charset="0"/>
              </a:rPr>
              <a:t>Problem Statement</a:t>
            </a:r>
          </a:p>
          <a:p>
            <a:pPr>
              <a:buFont typeface="Wingdings" panose="05000000000000000000" pitchFamily="2" charset="2"/>
              <a:buChar char="§"/>
            </a:pPr>
            <a:r>
              <a:rPr lang="en-US" dirty="0">
                <a:latin typeface="Calibri" panose="020F0502020204030204" pitchFamily="34" charset="0"/>
                <a:ea typeface="Calibri" panose="020F0502020204030204" pitchFamily="34" charset="0"/>
                <a:cs typeface="Calibri" panose="020F0502020204030204" pitchFamily="34" charset="0"/>
              </a:rPr>
              <a:t>Related Works</a:t>
            </a:r>
          </a:p>
          <a:p>
            <a:pPr>
              <a:buFont typeface="Wingdings" panose="05000000000000000000" pitchFamily="2" charset="2"/>
              <a:buChar char="§"/>
            </a:pPr>
            <a:r>
              <a:rPr lang="en-US" dirty="0">
                <a:latin typeface="Calibri" panose="020F0502020204030204" pitchFamily="34" charset="0"/>
                <a:ea typeface="Calibri" panose="020F0502020204030204" pitchFamily="34" charset="0"/>
                <a:cs typeface="Calibri" panose="020F0502020204030204" pitchFamily="34" charset="0"/>
              </a:rPr>
              <a:t>Objectives</a:t>
            </a:r>
          </a:p>
          <a:p>
            <a:pPr>
              <a:buFont typeface="Wingdings" panose="05000000000000000000" pitchFamily="2" charset="2"/>
              <a:buChar char="§"/>
            </a:pPr>
            <a:r>
              <a:rPr lang="en-US" dirty="0">
                <a:latin typeface="Calibri" panose="020F0502020204030204" pitchFamily="34" charset="0"/>
                <a:ea typeface="Calibri" panose="020F0502020204030204" pitchFamily="34" charset="0"/>
                <a:cs typeface="Calibri" panose="020F0502020204030204" pitchFamily="34" charset="0"/>
              </a:rPr>
              <a:t>Proposed Methodology</a:t>
            </a:r>
          </a:p>
          <a:p>
            <a:pPr>
              <a:buFont typeface="Wingdings" panose="05000000000000000000" pitchFamily="2" charset="2"/>
              <a:buChar char="§"/>
            </a:pPr>
            <a:r>
              <a:rPr lang="en-US" dirty="0">
                <a:latin typeface="Calibri" panose="020F0502020204030204" pitchFamily="34" charset="0"/>
                <a:ea typeface="Calibri" panose="020F0502020204030204" pitchFamily="34" charset="0"/>
                <a:cs typeface="Calibri" panose="020F0502020204030204" pitchFamily="34" charset="0"/>
              </a:rPr>
              <a:t>Result</a:t>
            </a:r>
          </a:p>
          <a:p>
            <a:pPr>
              <a:buFont typeface="Wingdings" panose="05000000000000000000" pitchFamily="2" charset="2"/>
              <a:buChar char="§"/>
            </a:pPr>
            <a:r>
              <a:rPr lang="en-US" dirty="0">
                <a:latin typeface="Calibri" panose="020F0502020204030204" pitchFamily="34" charset="0"/>
                <a:ea typeface="Calibri" panose="020F0502020204030204" pitchFamily="34" charset="0"/>
                <a:cs typeface="Calibri" panose="020F0502020204030204" pitchFamily="34" charset="0"/>
              </a:rPr>
              <a:t>Experimental Studies</a:t>
            </a:r>
          </a:p>
          <a:p>
            <a:pPr>
              <a:buFont typeface="Wingdings" panose="05000000000000000000" pitchFamily="2" charset="2"/>
              <a:buChar char="§"/>
            </a:pPr>
            <a:r>
              <a:rPr lang="en-US" dirty="0">
                <a:latin typeface="Calibri" panose="020F0502020204030204" pitchFamily="34" charset="0"/>
                <a:ea typeface="Calibri" panose="020F0502020204030204" pitchFamily="34" charset="0"/>
                <a:cs typeface="Calibri" panose="020F0502020204030204" pitchFamily="34" charset="0"/>
              </a:rPr>
              <a:t>Conclusion</a:t>
            </a:r>
          </a:p>
        </p:txBody>
      </p:sp>
      <p:sp>
        <p:nvSpPr>
          <p:cNvPr id="4" name="Date Placeholder 3">
            <a:extLst>
              <a:ext uri="{FF2B5EF4-FFF2-40B4-BE49-F238E27FC236}">
                <a16:creationId xmlns:a16="http://schemas.microsoft.com/office/drawing/2014/main" id="{EEAFBF54-4D0C-F2CC-918D-A203C86C84DE}"/>
              </a:ext>
            </a:extLst>
          </p:cNvPr>
          <p:cNvSpPr>
            <a:spLocks noGrp="1"/>
          </p:cNvSpPr>
          <p:nvPr>
            <p:ph type="dt" sz="half" idx="10"/>
          </p:nvPr>
        </p:nvSpPr>
        <p:spPr/>
        <p:txBody>
          <a:bodyPr/>
          <a:lstStyle/>
          <a:p>
            <a:fld id="{7A201E91-4DAB-4F48-8C1A-6F69EDFC4872}" type="datetime1">
              <a:rPr lang="en-US" smtClean="0"/>
              <a:t>10-Jul-26</a:t>
            </a:fld>
            <a:endParaRPr lang="en-US"/>
          </a:p>
        </p:txBody>
      </p:sp>
      <p:sp>
        <p:nvSpPr>
          <p:cNvPr id="5" name="Slide Number Placeholder 4">
            <a:extLst>
              <a:ext uri="{FF2B5EF4-FFF2-40B4-BE49-F238E27FC236}">
                <a16:creationId xmlns:a16="http://schemas.microsoft.com/office/drawing/2014/main" id="{349C27C9-B9FE-3100-240D-7D4EE901DA09}"/>
              </a:ext>
            </a:extLst>
          </p:cNvPr>
          <p:cNvSpPr>
            <a:spLocks noGrp="1"/>
          </p:cNvSpPr>
          <p:nvPr>
            <p:ph type="sldNum" sz="quarter" idx="12"/>
          </p:nvPr>
        </p:nvSpPr>
        <p:spPr/>
        <p:txBody>
          <a:bodyPr/>
          <a:lstStyle/>
          <a:p>
            <a:fld id="{7A1EA063-F1A0-4337-9BB4-F912B647AF2A}" type="slidenum">
              <a:rPr lang="en-US" smtClean="0"/>
              <a:t>2</a:t>
            </a:fld>
            <a:endParaRPr lang="en-US"/>
          </a:p>
        </p:txBody>
      </p:sp>
      <p:pic>
        <p:nvPicPr>
          <p:cNvPr id="7" name="Picture 6">
            <a:extLst>
              <a:ext uri="{FF2B5EF4-FFF2-40B4-BE49-F238E27FC236}">
                <a16:creationId xmlns:a16="http://schemas.microsoft.com/office/drawing/2014/main" id="{E5B171BC-A7D3-A842-4342-C07A1DBF4B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81600" y="681037"/>
            <a:ext cx="6449961" cy="6040438"/>
          </a:xfrm>
          <a:prstGeom prst="rect">
            <a:avLst/>
          </a:prstGeom>
        </p:spPr>
      </p:pic>
    </p:spTree>
    <p:extLst>
      <p:ext uri="{BB962C8B-B14F-4D97-AF65-F5344CB8AC3E}">
        <p14:creationId xmlns:p14="http://schemas.microsoft.com/office/powerpoint/2010/main" val="77184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A4C3A-631F-A921-2F91-CEAAA1368C6D}"/>
              </a:ext>
            </a:extLst>
          </p:cNvPr>
          <p:cNvSpPr>
            <a:spLocks noGrp="1"/>
          </p:cNvSpPr>
          <p:nvPr>
            <p:ph type="title"/>
          </p:nvPr>
        </p:nvSpPr>
        <p:spPr>
          <a:xfrm>
            <a:off x="838200" y="365125"/>
            <a:ext cx="10515600" cy="627933"/>
          </a:xfrm>
          <a:solidFill>
            <a:schemeClr val="tx2">
              <a:lumMod val="10000"/>
              <a:lumOff val="90000"/>
            </a:schemeClr>
          </a:solidFill>
        </p:spPr>
        <p:txBody>
          <a:bodyPr>
            <a:normAutofit fontScale="90000"/>
          </a:bodyPr>
          <a:lstStyle/>
          <a:p>
            <a:r>
              <a:rPr lang="en-US" dirty="0">
                <a:solidFill>
                  <a:schemeClr val="accent4">
                    <a:lumMod val="50000"/>
                  </a:schemeClr>
                </a:solidFill>
                <a:latin typeface="Calibri" panose="020F0502020204030204" pitchFamily="34" charset="0"/>
                <a:ea typeface="Calibri" panose="020F0502020204030204" pitchFamily="34" charset="0"/>
                <a:cs typeface="Calibri" panose="020F0502020204030204" pitchFamily="34" charset="0"/>
              </a:rPr>
              <a:t>Introduction</a:t>
            </a:r>
          </a:p>
        </p:txBody>
      </p:sp>
      <p:sp>
        <p:nvSpPr>
          <p:cNvPr id="3" name="Content Placeholder 2">
            <a:extLst>
              <a:ext uri="{FF2B5EF4-FFF2-40B4-BE49-F238E27FC236}">
                <a16:creationId xmlns:a16="http://schemas.microsoft.com/office/drawing/2014/main" id="{F689B059-A727-8507-8F85-D7B031F003EB}"/>
              </a:ext>
            </a:extLst>
          </p:cNvPr>
          <p:cNvSpPr>
            <a:spLocks noGrp="1"/>
          </p:cNvSpPr>
          <p:nvPr>
            <p:ph idx="1"/>
          </p:nvPr>
        </p:nvSpPr>
        <p:spPr>
          <a:xfrm>
            <a:off x="838200" y="1209368"/>
            <a:ext cx="6899787" cy="4277032"/>
          </a:xfrm>
        </p:spPr>
        <p:txBody>
          <a:bodyPr>
            <a:normAutofit/>
          </a:bodyPr>
          <a:lstStyle/>
          <a:p>
            <a:pPr>
              <a:buFont typeface="Wingdings" panose="05000000000000000000" pitchFamily="2" charset="2"/>
              <a:buChar char="§"/>
            </a:pPr>
            <a:r>
              <a:rPr lang="en-US" dirty="0">
                <a:latin typeface="Calibri" panose="020F0502020204030204" pitchFamily="34" charset="0"/>
                <a:ea typeface="Calibri" panose="020F0502020204030204" pitchFamily="34" charset="0"/>
                <a:cs typeface="Calibri" panose="020F0502020204030204" pitchFamily="34" charset="0"/>
              </a:rPr>
              <a:t>Every digital system needs security.</a:t>
            </a:r>
          </a:p>
          <a:p>
            <a:pPr>
              <a:buFont typeface="Wingdings" panose="05000000000000000000" pitchFamily="2" charset="2"/>
              <a:buChar char="§"/>
            </a:pPr>
            <a:r>
              <a:rPr lang="en-US" dirty="0">
                <a:latin typeface="Calibri" panose="020F0502020204030204" pitchFamily="34" charset="0"/>
                <a:ea typeface="Calibri" panose="020F0502020204030204" pitchFamily="34" charset="0"/>
                <a:cs typeface="Calibri" panose="020F0502020204030204" pitchFamily="34" charset="0"/>
              </a:rPr>
              <a:t>Systems where security is most critical:</a:t>
            </a:r>
          </a:p>
          <a:p>
            <a:pPr lvl="1">
              <a:buFont typeface="Wingdings" panose="05000000000000000000" pitchFamily="2" charset="2"/>
              <a:buChar char="Ø"/>
            </a:pPr>
            <a:r>
              <a:rPr lang="en-US" b="1" dirty="0">
                <a:latin typeface="Calibri" panose="020F0502020204030204" pitchFamily="34" charset="0"/>
                <a:ea typeface="Calibri" panose="020F0502020204030204" pitchFamily="34" charset="0"/>
                <a:cs typeface="Calibri" panose="020F0502020204030204" pitchFamily="34" charset="0"/>
              </a:rPr>
              <a:t>Financial institutions </a:t>
            </a:r>
            <a:r>
              <a:rPr lang="en-US" dirty="0">
                <a:latin typeface="Calibri" panose="020F0502020204030204" pitchFamily="34" charset="0"/>
                <a:ea typeface="Calibri" panose="020F0502020204030204" pitchFamily="34" charset="0"/>
                <a:cs typeface="Calibri" panose="020F0502020204030204" pitchFamily="34" charset="0"/>
              </a:rPr>
              <a:t>— banks, stock exchanges</a:t>
            </a:r>
          </a:p>
          <a:p>
            <a:pPr lvl="1">
              <a:buFont typeface="Wingdings" panose="05000000000000000000" pitchFamily="2" charset="2"/>
              <a:buChar char="Ø"/>
            </a:pPr>
            <a:r>
              <a:rPr lang="en-US" b="1" dirty="0">
                <a:latin typeface="Calibri" panose="020F0502020204030204" pitchFamily="34" charset="0"/>
                <a:ea typeface="Calibri" panose="020F0502020204030204" pitchFamily="34" charset="0"/>
                <a:cs typeface="Calibri" panose="020F0502020204030204" pitchFamily="34" charset="0"/>
              </a:rPr>
              <a:t>Healthcare systems</a:t>
            </a:r>
            <a:r>
              <a:rPr lang="en-US" dirty="0">
                <a:latin typeface="Calibri" panose="020F0502020204030204" pitchFamily="34" charset="0"/>
                <a:ea typeface="Calibri" panose="020F0502020204030204" pitchFamily="34" charset="0"/>
                <a:cs typeface="Calibri" panose="020F0502020204030204" pitchFamily="34" charset="0"/>
              </a:rPr>
              <a:t> — sensitive patient records</a:t>
            </a:r>
          </a:p>
          <a:p>
            <a:pPr lvl="1">
              <a:buFont typeface="Wingdings" panose="05000000000000000000" pitchFamily="2" charset="2"/>
              <a:buChar char="Ø"/>
            </a:pPr>
            <a:r>
              <a:rPr lang="en-US" b="1" dirty="0">
                <a:latin typeface="Calibri" panose="020F0502020204030204" pitchFamily="34" charset="0"/>
                <a:ea typeface="Calibri" panose="020F0502020204030204" pitchFamily="34" charset="0"/>
                <a:cs typeface="Calibri" panose="020F0502020204030204" pitchFamily="34" charset="0"/>
              </a:rPr>
              <a:t>Government Institutions</a:t>
            </a:r>
            <a:r>
              <a:rPr lang="en-US" dirty="0">
                <a:latin typeface="Calibri" panose="020F0502020204030204" pitchFamily="34" charset="0"/>
                <a:ea typeface="Calibri" panose="020F0502020204030204" pitchFamily="34" charset="0"/>
                <a:cs typeface="Calibri" panose="020F0502020204030204" pitchFamily="34" charset="0"/>
              </a:rPr>
              <a:t> — national security data</a:t>
            </a:r>
          </a:p>
          <a:p>
            <a:pPr>
              <a:buFont typeface="Wingdings" panose="05000000000000000000" pitchFamily="2" charset="2"/>
              <a:buChar char="§"/>
            </a:pPr>
            <a:r>
              <a:rPr lang="en-US" dirty="0">
                <a:latin typeface="Calibri" panose="020F0502020204030204" pitchFamily="34" charset="0"/>
                <a:ea typeface="Calibri" panose="020F0502020204030204" pitchFamily="34" charset="0"/>
                <a:cs typeface="Calibri" panose="020F0502020204030204" pitchFamily="34" charset="0"/>
              </a:rPr>
              <a:t>A single breach can mean:</a:t>
            </a:r>
          </a:p>
          <a:p>
            <a:pPr lvl="1">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Loss of life</a:t>
            </a:r>
          </a:p>
          <a:p>
            <a:pPr lvl="1">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Critical service failure</a:t>
            </a:r>
          </a:p>
          <a:p>
            <a:pPr lvl="1">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Massive economic disruption</a:t>
            </a:r>
          </a:p>
        </p:txBody>
      </p:sp>
      <p:sp>
        <p:nvSpPr>
          <p:cNvPr id="4" name="Date Placeholder 3">
            <a:extLst>
              <a:ext uri="{FF2B5EF4-FFF2-40B4-BE49-F238E27FC236}">
                <a16:creationId xmlns:a16="http://schemas.microsoft.com/office/drawing/2014/main" id="{EEAFBF54-4D0C-F2CC-918D-A203C86C84DE}"/>
              </a:ext>
            </a:extLst>
          </p:cNvPr>
          <p:cNvSpPr>
            <a:spLocks noGrp="1"/>
          </p:cNvSpPr>
          <p:nvPr>
            <p:ph type="dt" sz="half" idx="10"/>
          </p:nvPr>
        </p:nvSpPr>
        <p:spPr/>
        <p:txBody>
          <a:bodyPr/>
          <a:lstStyle/>
          <a:p>
            <a:fld id="{7A201E91-4DAB-4F48-8C1A-6F69EDFC4872}" type="datetime1">
              <a:rPr lang="en-US" smtClean="0"/>
              <a:t>10-Jul-26</a:t>
            </a:fld>
            <a:endParaRPr lang="en-US"/>
          </a:p>
        </p:txBody>
      </p:sp>
      <p:sp>
        <p:nvSpPr>
          <p:cNvPr id="5" name="Slide Number Placeholder 4">
            <a:extLst>
              <a:ext uri="{FF2B5EF4-FFF2-40B4-BE49-F238E27FC236}">
                <a16:creationId xmlns:a16="http://schemas.microsoft.com/office/drawing/2014/main" id="{349C27C9-B9FE-3100-240D-7D4EE901DA09}"/>
              </a:ext>
            </a:extLst>
          </p:cNvPr>
          <p:cNvSpPr>
            <a:spLocks noGrp="1"/>
          </p:cNvSpPr>
          <p:nvPr>
            <p:ph type="sldNum" sz="quarter" idx="12"/>
          </p:nvPr>
        </p:nvSpPr>
        <p:spPr/>
        <p:txBody>
          <a:bodyPr/>
          <a:lstStyle/>
          <a:p>
            <a:fld id="{7A1EA063-F1A0-4337-9BB4-F912B647AF2A}" type="slidenum">
              <a:rPr lang="en-US" smtClean="0"/>
              <a:t>3</a:t>
            </a:fld>
            <a:endParaRPr lang="en-US"/>
          </a:p>
        </p:txBody>
      </p:sp>
      <p:pic>
        <p:nvPicPr>
          <p:cNvPr id="9" name="Picture 8">
            <a:extLst>
              <a:ext uri="{FF2B5EF4-FFF2-40B4-BE49-F238E27FC236}">
                <a16:creationId xmlns:a16="http://schemas.microsoft.com/office/drawing/2014/main" id="{C805B03F-ADB2-964D-04BF-968AE46E87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37453" y="3860849"/>
            <a:ext cx="2766553" cy="2766553"/>
          </a:xfrm>
          <a:prstGeom prst="rect">
            <a:avLst/>
          </a:prstGeom>
        </p:spPr>
      </p:pic>
      <p:pic>
        <p:nvPicPr>
          <p:cNvPr id="13" name="Picture 12">
            <a:extLst>
              <a:ext uri="{FF2B5EF4-FFF2-40B4-BE49-F238E27FC236}">
                <a16:creationId xmlns:a16="http://schemas.microsoft.com/office/drawing/2014/main" id="{E382CEC2-1CDD-B429-08FA-DA16C15FE1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07477" y="993058"/>
            <a:ext cx="3549445" cy="3549445"/>
          </a:xfrm>
          <a:prstGeom prst="rect">
            <a:avLst/>
          </a:prstGeom>
        </p:spPr>
      </p:pic>
    </p:spTree>
    <p:extLst>
      <p:ext uri="{BB962C8B-B14F-4D97-AF65-F5344CB8AC3E}">
        <p14:creationId xmlns:p14="http://schemas.microsoft.com/office/powerpoint/2010/main" val="8282378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A5E58-CFBD-BCC5-17A8-6B26DE977074}"/>
              </a:ext>
            </a:extLst>
          </p:cNvPr>
          <p:cNvSpPr>
            <a:spLocks noGrp="1"/>
          </p:cNvSpPr>
          <p:nvPr>
            <p:ph type="title"/>
          </p:nvPr>
        </p:nvSpPr>
        <p:spPr>
          <a:xfrm>
            <a:off x="528526" y="365126"/>
            <a:ext cx="11134948" cy="765584"/>
          </a:xfrm>
          <a:solidFill>
            <a:schemeClr val="bg2"/>
          </a:solidFill>
        </p:spPr>
        <p:txBody>
          <a:bodyPr>
            <a:normAutofit/>
          </a:bodyPr>
          <a:lstStyle/>
          <a:p>
            <a:r>
              <a:rPr lang="en-US" dirty="0">
                <a:solidFill>
                  <a:schemeClr val="accent4">
                    <a:lumMod val="50000"/>
                  </a:schemeClr>
                </a:solidFill>
                <a:latin typeface="Calibri" panose="020F0502020204030204" pitchFamily="34" charset="0"/>
                <a:ea typeface="Calibri" panose="020F0502020204030204" pitchFamily="34" charset="0"/>
                <a:cs typeface="Calibri" panose="020F0502020204030204" pitchFamily="34" charset="0"/>
              </a:rPr>
              <a:t>Standard security stack of a backend application</a:t>
            </a:r>
          </a:p>
        </p:txBody>
      </p:sp>
      <p:sp>
        <p:nvSpPr>
          <p:cNvPr id="3" name="Date Placeholder 2">
            <a:extLst>
              <a:ext uri="{FF2B5EF4-FFF2-40B4-BE49-F238E27FC236}">
                <a16:creationId xmlns:a16="http://schemas.microsoft.com/office/drawing/2014/main" id="{4FF6A9AB-5F1D-114E-8987-DB7F3898128B}"/>
              </a:ext>
            </a:extLst>
          </p:cNvPr>
          <p:cNvSpPr>
            <a:spLocks noGrp="1"/>
          </p:cNvSpPr>
          <p:nvPr>
            <p:ph type="dt" sz="half" idx="10"/>
          </p:nvPr>
        </p:nvSpPr>
        <p:spPr/>
        <p:txBody>
          <a:bodyPr/>
          <a:lstStyle/>
          <a:p>
            <a:fld id="{1E300BD0-E5C2-4A74-9E3E-BB244319C3D5}" type="datetime1">
              <a:rPr lang="en-US" smtClean="0"/>
              <a:t>10-Jul-26</a:t>
            </a:fld>
            <a:endParaRPr lang="en-US"/>
          </a:p>
        </p:txBody>
      </p:sp>
      <p:sp>
        <p:nvSpPr>
          <p:cNvPr id="4" name="Slide Number Placeholder 3">
            <a:extLst>
              <a:ext uri="{FF2B5EF4-FFF2-40B4-BE49-F238E27FC236}">
                <a16:creationId xmlns:a16="http://schemas.microsoft.com/office/drawing/2014/main" id="{190286B6-5CA5-7E2F-4D17-DE615160B2B6}"/>
              </a:ext>
            </a:extLst>
          </p:cNvPr>
          <p:cNvSpPr>
            <a:spLocks noGrp="1"/>
          </p:cNvSpPr>
          <p:nvPr>
            <p:ph type="sldNum" sz="quarter" idx="12"/>
          </p:nvPr>
        </p:nvSpPr>
        <p:spPr/>
        <p:txBody>
          <a:bodyPr/>
          <a:lstStyle/>
          <a:p>
            <a:fld id="{7A1EA063-F1A0-4337-9BB4-F912B647AF2A}" type="slidenum">
              <a:rPr lang="en-US" smtClean="0"/>
              <a:t>4</a:t>
            </a:fld>
            <a:endParaRPr lang="en-US"/>
          </a:p>
        </p:txBody>
      </p:sp>
      <p:pic>
        <p:nvPicPr>
          <p:cNvPr id="8" name="Picture 7">
            <a:extLst>
              <a:ext uri="{FF2B5EF4-FFF2-40B4-BE49-F238E27FC236}">
                <a16:creationId xmlns:a16="http://schemas.microsoft.com/office/drawing/2014/main" id="{13E66335-9884-8A31-986D-AEB8A3877B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8526" y="1630823"/>
            <a:ext cx="11134948" cy="4785392"/>
          </a:xfrm>
          <a:prstGeom prst="rect">
            <a:avLst/>
          </a:prstGeom>
        </p:spPr>
      </p:pic>
    </p:spTree>
    <p:extLst>
      <p:ext uri="{BB962C8B-B14F-4D97-AF65-F5344CB8AC3E}">
        <p14:creationId xmlns:p14="http://schemas.microsoft.com/office/powerpoint/2010/main" val="12851988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A5E58-CFBD-BCC5-17A8-6B26DE977074}"/>
              </a:ext>
            </a:extLst>
          </p:cNvPr>
          <p:cNvSpPr>
            <a:spLocks noGrp="1"/>
          </p:cNvSpPr>
          <p:nvPr>
            <p:ph type="title"/>
          </p:nvPr>
        </p:nvSpPr>
        <p:spPr>
          <a:xfrm>
            <a:off x="561666" y="265471"/>
            <a:ext cx="11068665" cy="776749"/>
          </a:xfrm>
          <a:solidFill>
            <a:schemeClr val="bg2"/>
          </a:solidFill>
        </p:spPr>
        <p:txBody>
          <a:bodyPr>
            <a:normAutofit/>
          </a:bodyPr>
          <a:lstStyle/>
          <a:p>
            <a:r>
              <a:rPr lang="en-US" sz="3600" dirty="0">
                <a:solidFill>
                  <a:schemeClr val="accent4">
                    <a:lumMod val="50000"/>
                  </a:schemeClr>
                </a:solidFill>
                <a:latin typeface="Calibri" panose="020F0502020204030204" pitchFamily="34" charset="0"/>
                <a:ea typeface="Calibri" panose="020F0502020204030204" pitchFamily="34" charset="0"/>
                <a:cs typeface="Calibri" panose="020F0502020204030204" pitchFamily="34" charset="0"/>
              </a:rPr>
              <a:t>Standard data access flow of a secure backend application</a:t>
            </a:r>
          </a:p>
        </p:txBody>
      </p:sp>
      <p:sp>
        <p:nvSpPr>
          <p:cNvPr id="3" name="Date Placeholder 2">
            <a:extLst>
              <a:ext uri="{FF2B5EF4-FFF2-40B4-BE49-F238E27FC236}">
                <a16:creationId xmlns:a16="http://schemas.microsoft.com/office/drawing/2014/main" id="{4FF6A9AB-5F1D-114E-8987-DB7F3898128B}"/>
              </a:ext>
            </a:extLst>
          </p:cNvPr>
          <p:cNvSpPr>
            <a:spLocks noGrp="1"/>
          </p:cNvSpPr>
          <p:nvPr>
            <p:ph type="dt" sz="half" idx="10"/>
          </p:nvPr>
        </p:nvSpPr>
        <p:spPr/>
        <p:txBody>
          <a:bodyPr/>
          <a:lstStyle/>
          <a:p>
            <a:fld id="{1E300BD0-E5C2-4A74-9E3E-BB244319C3D5}" type="datetime1">
              <a:rPr lang="en-US" smtClean="0"/>
              <a:t>10-Jul-26</a:t>
            </a:fld>
            <a:endParaRPr lang="en-US"/>
          </a:p>
        </p:txBody>
      </p:sp>
      <p:sp>
        <p:nvSpPr>
          <p:cNvPr id="4" name="Slide Number Placeholder 3">
            <a:extLst>
              <a:ext uri="{FF2B5EF4-FFF2-40B4-BE49-F238E27FC236}">
                <a16:creationId xmlns:a16="http://schemas.microsoft.com/office/drawing/2014/main" id="{190286B6-5CA5-7E2F-4D17-DE615160B2B6}"/>
              </a:ext>
            </a:extLst>
          </p:cNvPr>
          <p:cNvSpPr>
            <a:spLocks noGrp="1"/>
          </p:cNvSpPr>
          <p:nvPr>
            <p:ph type="sldNum" sz="quarter" idx="12"/>
          </p:nvPr>
        </p:nvSpPr>
        <p:spPr/>
        <p:txBody>
          <a:bodyPr/>
          <a:lstStyle/>
          <a:p>
            <a:fld id="{7A1EA063-F1A0-4337-9BB4-F912B647AF2A}" type="slidenum">
              <a:rPr lang="en-US" smtClean="0"/>
              <a:t>5</a:t>
            </a:fld>
            <a:endParaRPr lang="en-US"/>
          </a:p>
        </p:txBody>
      </p:sp>
      <p:pic>
        <p:nvPicPr>
          <p:cNvPr id="6" name="Picture 5">
            <a:extLst>
              <a:ext uri="{FF2B5EF4-FFF2-40B4-BE49-F238E27FC236}">
                <a16:creationId xmlns:a16="http://schemas.microsoft.com/office/drawing/2014/main" id="{D1668C1C-F3CF-0055-6759-3344B1A062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84671" y="1537847"/>
            <a:ext cx="9222657" cy="4818503"/>
          </a:xfrm>
          <a:prstGeom prst="rect">
            <a:avLst/>
          </a:prstGeom>
        </p:spPr>
      </p:pic>
    </p:spTree>
    <p:extLst>
      <p:ext uri="{BB962C8B-B14F-4D97-AF65-F5344CB8AC3E}">
        <p14:creationId xmlns:p14="http://schemas.microsoft.com/office/powerpoint/2010/main" val="14977993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A4C3A-631F-A921-2F91-CEAAA1368C6D}"/>
              </a:ext>
            </a:extLst>
          </p:cNvPr>
          <p:cNvSpPr>
            <a:spLocks noGrp="1"/>
          </p:cNvSpPr>
          <p:nvPr>
            <p:ph type="title"/>
          </p:nvPr>
        </p:nvSpPr>
        <p:spPr>
          <a:xfrm>
            <a:off x="838200" y="365126"/>
            <a:ext cx="10515600" cy="915988"/>
          </a:xfrm>
          <a:solidFill>
            <a:schemeClr val="tx2">
              <a:lumMod val="10000"/>
              <a:lumOff val="90000"/>
            </a:schemeClr>
          </a:solidFill>
        </p:spPr>
        <p:txBody>
          <a:bodyPr/>
          <a:lstStyle/>
          <a:p>
            <a:r>
              <a:rPr lang="en-US" dirty="0">
                <a:solidFill>
                  <a:schemeClr val="accent4">
                    <a:lumMod val="50000"/>
                  </a:schemeClr>
                </a:solidFill>
                <a:latin typeface="Calibri" panose="020F0502020204030204" pitchFamily="34" charset="0"/>
                <a:ea typeface="Calibri" panose="020F0502020204030204" pitchFamily="34" charset="0"/>
                <a:cs typeface="Calibri" panose="020F0502020204030204" pitchFamily="34" charset="0"/>
              </a:rPr>
              <a:t>Problem Statement</a:t>
            </a:r>
          </a:p>
        </p:txBody>
      </p:sp>
      <p:sp>
        <p:nvSpPr>
          <p:cNvPr id="3" name="Content Placeholder 2">
            <a:extLst>
              <a:ext uri="{FF2B5EF4-FFF2-40B4-BE49-F238E27FC236}">
                <a16:creationId xmlns:a16="http://schemas.microsoft.com/office/drawing/2014/main" id="{F689B059-A727-8507-8F85-D7B031F003EB}"/>
              </a:ext>
            </a:extLst>
          </p:cNvPr>
          <p:cNvSpPr>
            <a:spLocks noGrp="1"/>
          </p:cNvSpPr>
          <p:nvPr>
            <p:ph idx="1"/>
          </p:nvPr>
        </p:nvSpPr>
        <p:spPr>
          <a:xfrm>
            <a:off x="838200" y="1543665"/>
            <a:ext cx="10515600" cy="4812685"/>
          </a:xfrm>
        </p:spPr>
        <p:txBody>
          <a:bodyPr/>
          <a:lstStyle/>
          <a:p>
            <a:pPr marL="0" indent="0">
              <a:buNone/>
            </a:pPr>
            <a:r>
              <a:rPr lang="en-US" sz="3600" dirty="0">
                <a:latin typeface="Calibri" panose="020F0502020204030204" pitchFamily="34" charset="0"/>
                <a:ea typeface="Calibri" panose="020F0502020204030204" pitchFamily="34" charset="0"/>
                <a:cs typeface="Calibri" panose="020F0502020204030204" pitchFamily="34" charset="0"/>
              </a:rPr>
              <a:t>What if user credential, token or session gets hijacked?</a:t>
            </a:r>
          </a:p>
          <a:p>
            <a:pPr>
              <a:buFont typeface="Wingdings" panose="05000000000000000000" pitchFamily="2" charset="2"/>
              <a:buChar char="§"/>
            </a:pPr>
            <a:r>
              <a:rPr lang="en-US" dirty="0">
                <a:latin typeface="Calibri" panose="020F0502020204030204" pitchFamily="34" charset="0"/>
                <a:ea typeface="Calibri" panose="020F0502020204030204" pitchFamily="34" charset="0"/>
                <a:cs typeface="Calibri" panose="020F0502020204030204" pitchFamily="34" charset="0"/>
              </a:rPr>
              <a:t>Authenticated and role-authorized - yet behaviorally anomalous.</a:t>
            </a:r>
          </a:p>
          <a:p>
            <a:pPr>
              <a:buFont typeface="Wingdings" panose="05000000000000000000" pitchFamily="2" charset="2"/>
              <a:buChar char="§"/>
            </a:pPr>
            <a:r>
              <a:rPr lang="en-US" dirty="0">
                <a:latin typeface="Calibri" panose="020F0502020204030204" pitchFamily="34" charset="0"/>
                <a:ea typeface="Calibri" panose="020F0502020204030204" pitchFamily="34" charset="0"/>
                <a:cs typeface="Calibri" panose="020F0502020204030204" pitchFamily="34" charset="0"/>
              </a:rPr>
              <a:t>Nothing re-evaluates trust while data is actually being accessed.</a:t>
            </a:r>
          </a:p>
          <a:p>
            <a:pPr>
              <a:buFont typeface="Wingdings" panose="05000000000000000000" pitchFamily="2" charset="2"/>
              <a:buChar char="§"/>
            </a:pPr>
            <a:r>
              <a:rPr lang="en-US" dirty="0">
                <a:latin typeface="Calibri" panose="020F0502020204030204" pitchFamily="34" charset="0"/>
                <a:ea typeface="Calibri" panose="020F0502020204030204" pitchFamily="34" charset="0"/>
                <a:cs typeface="Calibri" panose="020F0502020204030204" pitchFamily="34" charset="0"/>
              </a:rPr>
              <a:t>TDE decrypts pages for any authenticated connection.</a:t>
            </a:r>
          </a:p>
          <a:p>
            <a:pPr>
              <a:buFont typeface="Wingdings" panose="05000000000000000000" pitchFamily="2" charset="2"/>
              <a:buChar char="§"/>
            </a:pPr>
            <a:r>
              <a:rPr lang="en-US" dirty="0">
                <a:latin typeface="Calibri" panose="020F0502020204030204" pitchFamily="34" charset="0"/>
                <a:ea typeface="Calibri" panose="020F0502020204030204" pitchFamily="34" charset="0"/>
                <a:cs typeface="Calibri" panose="020F0502020204030204" pitchFamily="34" charset="0"/>
              </a:rPr>
              <a:t>ALE decrypts unconditionally on read. Decryption is a side effect of the query, not a security decision.</a:t>
            </a:r>
          </a:p>
          <a:p>
            <a:pPr>
              <a:buFont typeface="Wingdings" panose="05000000000000000000" pitchFamily="2" charset="2"/>
              <a:buChar char="§"/>
            </a:pPr>
            <a:r>
              <a:rPr lang="en-US" dirty="0">
                <a:latin typeface="Calibri" panose="020F0502020204030204" pitchFamily="34" charset="0"/>
                <a:ea typeface="Calibri" panose="020F0502020204030204" pitchFamily="34" charset="0"/>
                <a:cs typeface="Calibri" panose="020F0502020204030204" pitchFamily="34" charset="0"/>
              </a:rPr>
              <a:t>ALE and TDE are blind to behavior.</a:t>
            </a:r>
          </a:p>
        </p:txBody>
      </p:sp>
      <p:sp>
        <p:nvSpPr>
          <p:cNvPr id="4" name="Date Placeholder 3">
            <a:extLst>
              <a:ext uri="{FF2B5EF4-FFF2-40B4-BE49-F238E27FC236}">
                <a16:creationId xmlns:a16="http://schemas.microsoft.com/office/drawing/2014/main" id="{EEAFBF54-4D0C-F2CC-918D-A203C86C84DE}"/>
              </a:ext>
            </a:extLst>
          </p:cNvPr>
          <p:cNvSpPr>
            <a:spLocks noGrp="1"/>
          </p:cNvSpPr>
          <p:nvPr>
            <p:ph type="dt" sz="half" idx="10"/>
          </p:nvPr>
        </p:nvSpPr>
        <p:spPr/>
        <p:txBody>
          <a:bodyPr/>
          <a:lstStyle/>
          <a:p>
            <a:fld id="{7A201E91-4DAB-4F48-8C1A-6F69EDFC4872}" type="datetime1">
              <a:rPr lang="en-US" smtClean="0"/>
              <a:t>10-Jul-26</a:t>
            </a:fld>
            <a:endParaRPr lang="en-US"/>
          </a:p>
        </p:txBody>
      </p:sp>
      <p:sp>
        <p:nvSpPr>
          <p:cNvPr id="5" name="Slide Number Placeholder 4">
            <a:extLst>
              <a:ext uri="{FF2B5EF4-FFF2-40B4-BE49-F238E27FC236}">
                <a16:creationId xmlns:a16="http://schemas.microsoft.com/office/drawing/2014/main" id="{349C27C9-B9FE-3100-240D-7D4EE901DA09}"/>
              </a:ext>
            </a:extLst>
          </p:cNvPr>
          <p:cNvSpPr>
            <a:spLocks noGrp="1"/>
          </p:cNvSpPr>
          <p:nvPr>
            <p:ph type="sldNum" sz="quarter" idx="12"/>
          </p:nvPr>
        </p:nvSpPr>
        <p:spPr/>
        <p:txBody>
          <a:bodyPr/>
          <a:lstStyle/>
          <a:p>
            <a:fld id="{7A1EA063-F1A0-4337-9BB4-F912B647AF2A}" type="slidenum">
              <a:rPr lang="en-US" smtClean="0"/>
              <a:t>6</a:t>
            </a:fld>
            <a:endParaRPr lang="en-US"/>
          </a:p>
        </p:txBody>
      </p:sp>
      <p:pic>
        <p:nvPicPr>
          <p:cNvPr id="8" name="Picture 7">
            <a:extLst>
              <a:ext uri="{FF2B5EF4-FFF2-40B4-BE49-F238E27FC236}">
                <a16:creationId xmlns:a16="http://schemas.microsoft.com/office/drawing/2014/main" id="{888A1F19-17AF-FEA1-EAA7-5877BBFA61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31958" y="4055703"/>
            <a:ext cx="2665772" cy="2665772"/>
          </a:xfrm>
          <a:prstGeom prst="rect">
            <a:avLst/>
          </a:prstGeom>
        </p:spPr>
      </p:pic>
    </p:spTree>
    <p:extLst>
      <p:ext uri="{BB962C8B-B14F-4D97-AF65-F5344CB8AC3E}">
        <p14:creationId xmlns:p14="http://schemas.microsoft.com/office/powerpoint/2010/main" val="39258688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A4C3A-631F-A921-2F91-CEAAA1368C6D}"/>
              </a:ext>
            </a:extLst>
          </p:cNvPr>
          <p:cNvSpPr>
            <a:spLocks noGrp="1"/>
          </p:cNvSpPr>
          <p:nvPr>
            <p:ph type="title"/>
          </p:nvPr>
        </p:nvSpPr>
        <p:spPr>
          <a:xfrm>
            <a:off x="838200" y="365126"/>
            <a:ext cx="10515600" cy="667261"/>
          </a:xfrm>
          <a:solidFill>
            <a:schemeClr val="tx2">
              <a:lumMod val="10000"/>
              <a:lumOff val="90000"/>
            </a:schemeClr>
          </a:solidFill>
        </p:spPr>
        <p:txBody>
          <a:bodyPr>
            <a:normAutofit fontScale="90000"/>
          </a:bodyPr>
          <a:lstStyle/>
          <a:p>
            <a:r>
              <a:rPr lang="en-US" dirty="0">
                <a:solidFill>
                  <a:schemeClr val="accent4">
                    <a:lumMod val="50000"/>
                  </a:schemeClr>
                </a:solidFill>
                <a:latin typeface="Calibri" panose="020F0502020204030204" pitchFamily="34" charset="0"/>
                <a:ea typeface="Calibri" panose="020F0502020204030204" pitchFamily="34" charset="0"/>
                <a:cs typeface="Calibri" panose="020F0502020204030204" pitchFamily="34" charset="0"/>
              </a:rPr>
              <a:t>Related Works</a:t>
            </a:r>
          </a:p>
        </p:txBody>
      </p:sp>
      <p:graphicFrame>
        <p:nvGraphicFramePr>
          <p:cNvPr id="7" name="Content Placeholder 6">
            <a:extLst>
              <a:ext uri="{FF2B5EF4-FFF2-40B4-BE49-F238E27FC236}">
                <a16:creationId xmlns:a16="http://schemas.microsoft.com/office/drawing/2014/main" id="{63D845FE-FCC4-8B74-6FD0-BD869AEAA1B4}"/>
              </a:ext>
            </a:extLst>
          </p:cNvPr>
          <p:cNvGraphicFramePr>
            <a:graphicFrameLocks noGrp="1"/>
          </p:cNvGraphicFramePr>
          <p:nvPr>
            <p:ph idx="1"/>
            <p:extLst>
              <p:ext uri="{D42A27DB-BD31-4B8C-83A1-F6EECF244321}">
                <p14:modId xmlns:p14="http://schemas.microsoft.com/office/powerpoint/2010/main" val="443548990"/>
              </p:ext>
            </p:extLst>
          </p:nvPr>
        </p:nvGraphicFramePr>
        <p:xfrm>
          <a:off x="822222" y="1640657"/>
          <a:ext cx="10547555" cy="4715693"/>
        </p:xfrm>
        <a:graphic>
          <a:graphicData uri="http://schemas.openxmlformats.org/drawingml/2006/table">
            <a:tbl>
              <a:tblPr firstRow="1" bandRow="1">
                <a:tableStyleId>{5C22544A-7EE6-4342-B048-85BDC9FD1C3A}</a:tableStyleId>
              </a:tblPr>
              <a:tblGrid>
                <a:gridCol w="2660855">
                  <a:extLst>
                    <a:ext uri="{9D8B030D-6E8A-4147-A177-3AD203B41FA5}">
                      <a16:colId xmlns:a16="http://schemas.microsoft.com/office/drawing/2014/main" val="156768185"/>
                    </a:ext>
                  </a:extLst>
                </a:gridCol>
                <a:gridCol w="2628900">
                  <a:extLst>
                    <a:ext uri="{9D8B030D-6E8A-4147-A177-3AD203B41FA5}">
                      <a16:colId xmlns:a16="http://schemas.microsoft.com/office/drawing/2014/main" val="4069322285"/>
                    </a:ext>
                  </a:extLst>
                </a:gridCol>
                <a:gridCol w="2628900">
                  <a:extLst>
                    <a:ext uri="{9D8B030D-6E8A-4147-A177-3AD203B41FA5}">
                      <a16:colId xmlns:a16="http://schemas.microsoft.com/office/drawing/2014/main" val="3926099247"/>
                    </a:ext>
                  </a:extLst>
                </a:gridCol>
                <a:gridCol w="2628900">
                  <a:extLst>
                    <a:ext uri="{9D8B030D-6E8A-4147-A177-3AD203B41FA5}">
                      <a16:colId xmlns:a16="http://schemas.microsoft.com/office/drawing/2014/main" val="3456844472"/>
                    </a:ext>
                  </a:extLst>
                </a:gridCol>
              </a:tblGrid>
              <a:tr h="401335">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Author(s) and Year</a:t>
                      </a: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Title</a:t>
                      </a: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Method</a:t>
                      </a: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Shortcoming</a:t>
                      </a:r>
                    </a:p>
                  </a:txBody>
                  <a:tcPr/>
                </a:tc>
                <a:extLst>
                  <a:ext uri="{0D108BD9-81ED-4DB2-BD59-A6C34878D82A}">
                    <a16:rowId xmlns:a16="http://schemas.microsoft.com/office/drawing/2014/main" val="1168733043"/>
                  </a:ext>
                </a:extLst>
              </a:tr>
              <a:tr h="1304341">
                <a:tc>
                  <a:txBody>
                    <a:bodyPr/>
                    <a:lstStyle/>
                    <a:p>
                      <a:pPr algn="ctr" fontAlgn="t"/>
                      <a:r>
                        <a:rPr lang="en-US" b="0" i="0" dirty="0" err="1">
                          <a:effectLst/>
                          <a:latin typeface="Calibri" panose="020F0502020204030204" pitchFamily="34" charset="0"/>
                          <a:ea typeface="Calibri" panose="020F0502020204030204" pitchFamily="34" charset="0"/>
                          <a:cs typeface="Calibri" panose="020F0502020204030204" pitchFamily="34" charset="0"/>
                        </a:rPr>
                        <a:t>Houtsma</a:t>
                      </a:r>
                      <a:r>
                        <a:rPr lang="en-US" b="0" i="0" dirty="0">
                          <a:effectLst/>
                          <a:latin typeface="Calibri" panose="020F0502020204030204" pitchFamily="34" charset="0"/>
                          <a:ea typeface="Calibri" panose="020F0502020204030204" pitchFamily="34" charset="0"/>
                          <a:cs typeface="Calibri" panose="020F0502020204030204" pitchFamily="34" charset="0"/>
                        </a:rPr>
                        <a:t>, 2022 </a:t>
                      </a:r>
                      <a:r>
                        <a:rPr lang="en-US" b="1" i="0" dirty="0">
                          <a:effectLst/>
                          <a:latin typeface="Calibri" panose="020F0502020204030204" pitchFamily="34" charset="0"/>
                          <a:ea typeface="Calibri" panose="020F0502020204030204" pitchFamily="34" charset="0"/>
                          <a:cs typeface="Calibri" panose="020F0502020204030204" pitchFamily="34" charset="0"/>
                        </a:rPr>
                        <a:t>[1]</a:t>
                      </a:r>
                      <a:endParaRPr lang="en-US" b="0" i="0" dirty="0">
                        <a:effectLst/>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fontAlgn="t"/>
                      <a:r>
                        <a:rPr lang="en-US" b="0" i="0" dirty="0">
                          <a:effectLst/>
                          <a:latin typeface="Calibri" panose="020F0502020204030204" pitchFamily="34" charset="0"/>
                          <a:ea typeface="Calibri" panose="020F0502020204030204" pitchFamily="34" charset="0"/>
                          <a:cs typeface="Calibri" panose="020F0502020204030204" pitchFamily="34" charset="0"/>
                        </a:rPr>
                        <a:t>An Explainable Machine Learning Approach to Risk-Adaptive Access Control</a:t>
                      </a:r>
                    </a:p>
                  </a:txBody>
                  <a:tcPr/>
                </a:tc>
                <a:tc>
                  <a:txBody>
                    <a:bodyPr/>
                    <a:lstStyle/>
                    <a:p>
                      <a:pPr fontAlgn="t"/>
                      <a:r>
                        <a:rPr lang="en-US" b="0" i="0" dirty="0">
                          <a:effectLst/>
                          <a:latin typeface="Calibri" panose="020F0502020204030204" pitchFamily="34" charset="0"/>
                          <a:ea typeface="Calibri" panose="020F0502020204030204" pitchFamily="34" charset="0"/>
                          <a:cs typeface="Calibri" panose="020F0502020204030204" pitchFamily="34" charset="0"/>
                        </a:rPr>
                        <a:t>Neural networks predict </a:t>
                      </a:r>
                      <a:r>
                        <a:rPr lang="en-US" b="0" i="0" dirty="0" err="1">
                          <a:effectLst/>
                          <a:latin typeface="Calibri" panose="020F0502020204030204" pitchFamily="34" charset="0"/>
                          <a:ea typeface="Calibri" panose="020F0502020204030204" pitchFamily="34" charset="0"/>
                          <a:cs typeface="Calibri" panose="020F0502020204030204" pitchFamily="34" charset="0"/>
                        </a:rPr>
                        <a:t>RAdAC</a:t>
                      </a:r>
                      <a:r>
                        <a:rPr lang="en-US" b="0" i="0" dirty="0">
                          <a:effectLst/>
                          <a:latin typeface="Calibri" panose="020F0502020204030204" pitchFamily="34" charset="0"/>
                          <a:ea typeface="Calibri" panose="020F0502020204030204" pitchFamily="34" charset="0"/>
                          <a:cs typeface="Calibri" panose="020F0502020204030204" pitchFamily="34" charset="0"/>
                        </a:rPr>
                        <a:t> decisions.</a:t>
                      </a:r>
                    </a:p>
                  </a:txBody>
                  <a:tcPr/>
                </a:tc>
                <a:tc>
                  <a:txBody>
                    <a:bodyPr/>
                    <a:lstStyle/>
                    <a:p>
                      <a:pPr fontAlgn="t"/>
                      <a:r>
                        <a:rPr lang="en-US" b="0" i="0" dirty="0">
                          <a:effectLst/>
                          <a:latin typeface="Calibri" panose="020F0502020204030204" pitchFamily="34" charset="0"/>
                          <a:ea typeface="Calibri" panose="020F0502020204030204" pitchFamily="34" charset="0"/>
                          <a:cs typeface="Calibri" panose="020F0502020204030204" pitchFamily="34" charset="0"/>
                        </a:rPr>
                        <a:t>No decryption-boundary enforcement.</a:t>
                      </a:r>
                    </a:p>
                  </a:txBody>
                  <a:tcPr/>
                </a:tc>
                <a:extLst>
                  <a:ext uri="{0D108BD9-81ED-4DB2-BD59-A6C34878D82A}">
                    <a16:rowId xmlns:a16="http://schemas.microsoft.com/office/drawing/2014/main" val="3932655972"/>
                  </a:ext>
                </a:extLst>
              </a:tr>
              <a:tr h="1304341">
                <a:tc>
                  <a:txBody>
                    <a:bodyPr/>
                    <a:lstStyle/>
                    <a:p>
                      <a:pPr algn="ctr" fontAlgn="t"/>
                      <a:r>
                        <a:rPr lang="en-US" b="0" i="0" dirty="0">
                          <a:effectLst/>
                          <a:latin typeface="Calibri" panose="020F0502020204030204" pitchFamily="34" charset="0"/>
                          <a:ea typeface="Calibri" panose="020F0502020204030204" pitchFamily="34" charset="0"/>
                          <a:cs typeface="Calibri" panose="020F0502020204030204" pitchFamily="34" charset="0"/>
                        </a:rPr>
                        <a:t>Liu et al., 2021 </a:t>
                      </a:r>
                      <a:r>
                        <a:rPr lang="en-US" b="1" i="0" dirty="0">
                          <a:effectLst/>
                          <a:latin typeface="Calibri" panose="020F0502020204030204" pitchFamily="34" charset="0"/>
                          <a:ea typeface="Calibri" panose="020F0502020204030204" pitchFamily="34" charset="0"/>
                          <a:cs typeface="Calibri" panose="020F0502020204030204" pitchFamily="34" charset="0"/>
                        </a:rPr>
                        <a:t>[2]</a:t>
                      </a:r>
                      <a:endParaRPr lang="en-US" b="0" i="0" dirty="0">
                        <a:effectLst/>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fontAlgn="t"/>
                      <a:r>
                        <a:rPr lang="en-US" b="0" i="0" dirty="0">
                          <a:effectLst/>
                          <a:latin typeface="Calibri" panose="020F0502020204030204" pitchFamily="34" charset="0"/>
                          <a:ea typeface="Calibri" panose="020F0502020204030204" pitchFamily="34" charset="0"/>
                          <a:cs typeface="Calibri" panose="020F0502020204030204" pitchFamily="34" charset="0"/>
                        </a:rPr>
                        <a:t>Efficient Access Control Permission Decision Engine Based on Machine Learning</a:t>
                      </a:r>
                    </a:p>
                  </a:txBody>
                  <a:tcPr/>
                </a:tc>
                <a:tc>
                  <a:txBody>
                    <a:bodyPr/>
                    <a:lstStyle/>
                    <a:p>
                      <a:pPr fontAlgn="t"/>
                      <a:r>
                        <a:rPr lang="en-US" b="0" i="0" dirty="0">
                          <a:effectLst/>
                          <a:latin typeface="Calibri" panose="020F0502020204030204" pitchFamily="34" charset="0"/>
                          <a:ea typeface="Calibri" panose="020F0502020204030204" pitchFamily="34" charset="0"/>
                          <a:cs typeface="Calibri" panose="020F0502020204030204" pitchFamily="34" charset="0"/>
                        </a:rPr>
                        <a:t>Random Forest predicts access permission.</a:t>
                      </a:r>
                    </a:p>
                  </a:txBody>
                  <a:tcPr/>
                </a:tc>
                <a:tc>
                  <a:txBody>
                    <a:bodyPr/>
                    <a:lstStyle/>
                    <a:p>
                      <a:pPr fontAlgn="t"/>
                      <a:r>
                        <a:rPr lang="en-US" b="0" i="0" dirty="0">
                          <a:effectLst/>
                          <a:latin typeface="Calibri" panose="020F0502020204030204" pitchFamily="34" charset="0"/>
                          <a:ea typeface="Calibri" panose="020F0502020204030204" pitchFamily="34" charset="0"/>
                          <a:cs typeface="Calibri" panose="020F0502020204030204" pitchFamily="34" charset="0"/>
                        </a:rPr>
                        <a:t>Binary access, no masking tier.</a:t>
                      </a:r>
                    </a:p>
                  </a:txBody>
                  <a:tcPr/>
                </a:tc>
                <a:extLst>
                  <a:ext uri="{0D108BD9-81ED-4DB2-BD59-A6C34878D82A}">
                    <a16:rowId xmlns:a16="http://schemas.microsoft.com/office/drawing/2014/main" val="2596198191"/>
                  </a:ext>
                </a:extLst>
              </a:tr>
              <a:tr h="1003339">
                <a:tc>
                  <a:txBody>
                    <a:bodyPr/>
                    <a:lstStyle/>
                    <a:p>
                      <a:pPr algn="ctr" fontAlgn="t"/>
                      <a:r>
                        <a:rPr lang="en-US" b="0" i="0" dirty="0">
                          <a:effectLst/>
                          <a:latin typeface="Calibri" panose="020F0502020204030204" pitchFamily="34" charset="0"/>
                          <a:ea typeface="Calibri" panose="020F0502020204030204" pitchFamily="34" charset="0"/>
                          <a:cs typeface="Calibri" panose="020F0502020204030204" pitchFamily="34" charset="0"/>
                        </a:rPr>
                        <a:t>Li et al., 2024 </a:t>
                      </a:r>
                      <a:r>
                        <a:rPr lang="en-US" b="1" i="0" dirty="0">
                          <a:effectLst/>
                          <a:latin typeface="Calibri" panose="020F0502020204030204" pitchFamily="34" charset="0"/>
                          <a:ea typeface="Calibri" panose="020F0502020204030204" pitchFamily="34" charset="0"/>
                          <a:cs typeface="Calibri" panose="020F0502020204030204" pitchFamily="34" charset="0"/>
                        </a:rPr>
                        <a:t>[3]</a:t>
                      </a:r>
                      <a:endParaRPr lang="en-US" b="0" i="0" dirty="0">
                        <a:effectLst/>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fontAlgn="t"/>
                      <a:r>
                        <a:rPr lang="en-US" b="0" i="0" dirty="0">
                          <a:effectLst/>
                          <a:latin typeface="Calibri" panose="020F0502020204030204" pitchFamily="34" charset="0"/>
                          <a:ea typeface="Calibri" panose="020F0502020204030204" pitchFamily="34" charset="0"/>
                          <a:cs typeface="Calibri" panose="020F0502020204030204" pitchFamily="34" charset="0"/>
                        </a:rPr>
                        <a:t>Context-Aware Risk Attribute Access Control</a:t>
                      </a:r>
                    </a:p>
                  </a:txBody>
                  <a:tcPr/>
                </a:tc>
                <a:tc>
                  <a:txBody>
                    <a:bodyPr/>
                    <a:lstStyle/>
                    <a:p>
                      <a:pPr fontAlgn="t"/>
                      <a:r>
                        <a:rPr lang="en-US" b="0" i="0" dirty="0">
                          <a:effectLst/>
                          <a:latin typeface="Calibri" panose="020F0502020204030204" pitchFamily="34" charset="0"/>
                          <a:ea typeface="Calibri" panose="020F0502020204030204" pitchFamily="34" charset="0"/>
                          <a:cs typeface="Calibri" panose="020F0502020204030204" pitchFamily="34" charset="0"/>
                        </a:rPr>
                        <a:t>Context risk controls authorization.</a:t>
                      </a:r>
                    </a:p>
                  </a:txBody>
                  <a:tcPr/>
                </a:tc>
                <a:tc>
                  <a:txBody>
                    <a:bodyPr/>
                    <a:lstStyle/>
                    <a:p>
                      <a:pPr fontAlgn="t"/>
                      <a:r>
                        <a:rPr lang="en-US" b="0" i="0" dirty="0">
                          <a:effectLst/>
                          <a:latin typeface="Calibri" panose="020F0502020204030204" pitchFamily="34" charset="0"/>
                          <a:ea typeface="Calibri" panose="020F0502020204030204" pitchFamily="34" charset="0"/>
                          <a:cs typeface="Calibri" panose="020F0502020204030204" pitchFamily="34" charset="0"/>
                        </a:rPr>
                        <a:t>Authorization-focused, not cryptography-coupled.</a:t>
                      </a:r>
                    </a:p>
                  </a:txBody>
                  <a:tcPr/>
                </a:tc>
                <a:extLst>
                  <a:ext uri="{0D108BD9-81ED-4DB2-BD59-A6C34878D82A}">
                    <a16:rowId xmlns:a16="http://schemas.microsoft.com/office/drawing/2014/main" val="458809909"/>
                  </a:ext>
                </a:extLst>
              </a:tr>
              <a:tr h="702337">
                <a:tc>
                  <a:txBody>
                    <a:bodyPr/>
                    <a:lstStyle/>
                    <a:p>
                      <a:pPr algn="ctr" fontAlgn="t"/>
                      <a:r>
                        <a:rPr lang="en-US" b="0" i="0" dirty="0" err="1">
                          <a:effectLst/>
                          <a:latin typeface="Calibri" panose="020F0502020204030204" pitchFamily="34" charset="0"/>
                          <a:ea typeface="Calibri" panose="020F0502020204030204" pitchFamily="34" charset="0"/>
                          <a:cs typeface="Calibri" panose="020F0502020204030204" pitchFamily="34" charset="0"/>
                        </a:rPr>
                        <a:t>Anciaux</a:t>
                      </a:r>
                      <a:r>
                        <a:rPr lang="en-US" b="0" i="0" dirty="0">
                          <a:effectLst/>
                          <a:latin typeface="Calibri" panose="020F0502020204030204" pitchFamily="34" charset="0"/>
                          <a:ea typeface="Calibri" panose="020F0502020204030204" pitchFamily="34" charset="0"/>
                          <a:cs typeface="Calibri" panose="020F0502020204030204" pitchFamily="34" charset="0"/>
                        </a:rPr>
                        <a:t> et al., 2023 </a:t>
                      </a:r>
                      <a:r>
                        <a:rPr lang="en-US" b="1" i="0" dirty="0">
                          <a:effectLst/>
                          <a:latin typeface="Calibri" panose="020F0502020204030204" pitchFamily="34" charset="0"/>
                          <a:ea typeface="Calibri" panose="020F0502020204030204" pitchFamily="34" charset="0"/>
                          <a:cs typeface="Calibri" panose="020F0502020204030204" pitchFamily="34" charset="0"/>
                        </a:rPr>
                        <a:t>[4]</a:t>
                      </a:r>
                      <a:endParaRPr lang="en-US" b="0" i="0" dirty="0">
                        <a:effectLst/>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fontAlgn="t"/>
                      <a:r>
                        <a:rPr lang="en-US" b="0" i="0" dirty="0">
                          <a:effectLst/>
                          <a:latin typeface="Calibri" panose="020F0502020204030204" pitchFamily="34" charset="0"/>
                          <a:ea typeface="Calibri" panose="020F0502020204030204" pitchFamily="34" charset="0"/>
                          <a:cs typeface="Calibri" panose="020F0502020204030204" pitchFamily="34" charset="0"/>
                        </a:rPr>
                        <a:t>Database Encryption</a:t>
                      </a:r>
                    </a:p>
                  </a:txBody>
                  <a:tcPr/>
                </a:tc>
                <a:tc>
                  <a:txBody>
                    <a:bodyPr/>
                    <a:lstStyle/>
                    <a:p>
                      <a:pPr fontAlgn="t"/>
                      <a:r>
                        <a:rPr lang="en-US" b="0" i="0" dirty="0">
                          <a:effectLst/>
                          <a:latin typeface="Calibri" panose="020F0502020204030204" pitchFamily="34" charset="0"/>
                          <a:ea typeface="Calibri" panose="020F0502020204030204" pitchFamily="34" charset="0"/>
                          <a:cs typeface="Calibri" panose="020F0502020204030204" pitchFamily="34" charset="0"/>
                        </a:rPr>
                        <a:t>Surveys database encryption methods.</a:t>
                      </a:r>
                    </a:p>
                  </a:txBody>
                  <a:tcPr/>
                </a:tc>
                <a:tc>
                  <a:txBody>
                    <a:bodyPr/>
                    <a:lstStyle/>
                    <a:p>
                      <a:r>
                        <a:rPr lang="en-US" dirty="0">
                          <a:latin typeface="Calibri" panose="020F0502020204030204" pitchFamily="34" charset="0"/>
                          <a:ea typeface="Calibri" panose="020F0502020204030204" pitchFamily="34" charset="0"/>
                          <a:cs typeface="Calibri" panose="020F0502020204030204" pitchFamily="34" charset="0"/>
                        </a:rPr>
                        <a:t>Covers storage, not runtime use</a:t>
                      </a:r>
                    </a:p>
                  </a:txBody>
                  <a:tcPr/>
                </a:tc>
                <a:extLst>
                  <a:ext uri="{0D108BD9-81ED-4DB2-BD59-A6C34878D82A}">
                    <a16:rowId xmlns:a16="http://schemas.microsoft.com/office/drawing/2014/main" val="2196214172"/>
                  </a:ext>
                </a:extLst>
              </a:tr>
            </a:tbl>
          </a:graphicData>
        </a:graphic>
      </p:graphicFrame>
      <p:sp>
        <p:nvSpPr>
          <p:cNvPr id="4" name="Date Placeholder 3">
            <a:extLst>
              <a:ext uri="{FF2B5EF4-FFF2-40B4-BE49-F238E27FC236}">
                <a16:creationId xmlns:a16="http://schemas.microsoft.com/office/drawing/2014/main" id="{EEAFBF54-4D0C-F2CC-918D-A203C86C84DE}"/>
              </a:ext>
            </a:extLst>
          </p:cNvPr>
          <p:cNvSpPr>
            <a:spLocks noGrp="1"/>
          </p:cNvSpPr>
          <p:nvPr>
            <p:ph type="dt" sz="half" idx="10"/>
          </p:nvPr>
        </p:nvSpPr>
        <p:spPr/>
        <p:txBody>
          <a:bodyPr/>
          <a:lstStyle/>
          <a:p>
            <a:fld id="{7A201E91-4DAB-4F48-8C1A-6F69EDFC4872}" type="datetime1">
              <a:rPr lang="en-US" smtClean="0"/>
              <a:t>10-Jul-26</a:t>
            </a:fld>
            <a:endParaRPr lang="en-US"/>
          </a:p>
        </p:txBody>
      </p:sp>
      <p:sp>
        <p:nvSpPr>
          <p:cNvPr id="5" name="Slide Number Placeholder 4">
            <a:extLst>
              <a:ext uri="{FF2B5EF4-FFF2-40B4-BE49-F238E27FC236}">
                <a16:creationId xmlns:a16="http://schemas.microsoft.com/office/drawing/2014/main" id="{349C27C9-B9FE-3100-240D-7D4EE901DA09}"/>
              </a:ext>
            </a:extLst>
          </p:cNvPr>
          <p:cNvSpPr>
            <a:spLocks noGrp="1"/>
          </p:cNvSpPr>
          <p:nvPr>
            <p:ph type="sldNum" sz="quarter" idx="12"/>
          </p:nvPr>
        </p:nvSpPr>
        <p:spPr/>
        <p:txBody>
          <a:bodyPr/>
          <a:lstStyle/>
          <a:p>
            <a:fld id="{7A1EA063-F1A0-4337-9BB4-F912B647AF2A}" type="slidenum">
              <a:rPr lang="en-US" smtClean="0"/>
              <a:t>7</a:t>
            </a:fld>
            <a:endParaRPr lang="en-US"/>
          </a:p>
        </p:txBody>
      </p:sp>
      <p:sp>
        <p:nvSpPr>
          <p:cNvPr id="9" name="TextBox 8">
            <a:extLst>
              <a:ext uri="{FF2B5EF4-FFF2-40B4-BE49-F238E27FC236}">
                <a16:creationId xmlns:a16="http://schemas.microsoft.com/office/drawing/2014/main" id="{98153C3A-57BF-1D56-B657-855CFC947C62}"/>
              </a:ext>
            </a:extLst>
          </p:cNvPr>
          <p:cNvSpPr txBox="1"/>
          <p:nvPr/>
        </p:nvSpPr>
        <p:spPr>
          <a:xfrm>
            <a:off x="4937021" y="1271324"/>
            <a:ext cx="2317955" cy="369332"/>
          </a:xfrm>
          <a:prstGeom prst="rect">
            <a:avLst/>
          </a:prstGeom>
          <a:noFill/>
        </p:spPr>
        <p:txBody>
          <a:bodyPr wrap="square" rtlCol="0">
            <a:spAutoFit/>
          </a:bodyPr>
          <a:lstStyle/>
          <a:p>
            <a:r>
              <a:rPr lang="en-US" dirty="0">
                <a:latin typeface="Calibri" panose="020F0502020204030204" pitchFamily="34" charset="0"/>
                <a:ea typeface="Calibri" panose="020F0502020204030204" pitchFamily="34" charset="0"/>
                <a:cs typeface="Calibri" panose="020F0502020204030204" pitchFamily="34" charset="0"/>
              </a:rPr>
              <a:t>Table 1: Related works</a:t>
            </a:r>
          </a:p>
        </p:txBody>
      </p:sp>
    </p:spTree>
    <p:extLst>
      <p:ext uri="{BB962C8B-B14F-4D97-AF65-F5344CB8AC3E}">
        <p14:creationId xmlns:p14="http://schemas.microsoft.com/office/powerpoint/2010/main" val="17779475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0A030-F3DD-465C-DDE0-EC4C49B1DE11}"/>
              </a:ext>
            </a:extLst>
          </p:cNvPr>
          <p:cNvSpPr>
            <a:spLocks noGrp="1"/>
          </p:cNvSpPr>
          <p:nvPr>
            <p:ph type="title"/>
          </p:nvPr>
        </p:nvSpPr>
        <p:spPr>
          <a:xfrm>
            <a:off x="838200" y="365126"/>
            <a:ext cx="10515600" cy="834410"/>
          </a:xfrm>
          <a:solidFill>
            <a:schemeClr val="tx2">
              <a:lumMod val="10000"/>
              <a:lumOff val="90000"/>
            </a:schemeClr>
          </a:solidFill>
        </p:spPr>
        <p:txBody>
          <a:bodyPr/>
          <a:lstStyle/>
          <a:p>
            <a:r>
              <a:rPr lang="en-US" dirty="0">
                <a:solidFill>
                  <a:schemeClr val="accent4">
                    <a:lumMod val="50000"/>
                  </a:schemeClr>
                </a:solidFill>
                <a:latin typeface="Calibri" panose="020F0502020204030204" pitchFamily="34" charset="0"/>
                <a:ea typeface="Calibri" panose="020F0502020204030204" pitchFamily="34" charset="0"/>
                <a:cs typeface="Calibri" panose="020F0502020204030204" pitchFamily="34" charset="0"/>
              </a:rPr>
              <a:t>Objectives</a:t>
            </a:r>
            <a:endParaRPr lang="en-US" dirty="0"/>
          </a:p>
        </p:txBody>
      </p:sp>
      <p:sp>
        <p:nvSpPr>
          <p:cNvPr id="3" name="Content Placeholder 2">
            <a:extLst>
              <a:ext uri="{FF2B5EF4-FFF2-40B4-BE49-F238E27FC236}">
                <a16:creationId xmlns:a16="http://schemas.microsoft.com/office/drawing/2014/main" id="{89DCF287-1254-25DF-8EC8-F47CD24D1170}"/>
              </a:ext>
            </a:extLst>
          </p:cNvPr>
          <p:cNvSpPr>
            <a:spLocks noGrp="1"/>
          </p:cNvSpPr>
          <p:nvPr>
            <p:ph idx="1"/>
          </p:nvPr>
        </p:nvSpPr>
        <p:spPr>
          <a:xfrm>
            <a:off x="838200" y="1337186"/>
            <a:ext cx="10515600" cy="5019163"/>
          </a:xfrm>
        </p:spPr>
        <p:txBody>
          <a:bodyPr>
            <a:normAutofit/>
          </a:bodyPr>
          <a:lstStyle/>
          <a:p>
            <a:pPr>
              <a:buFont typeface="Wingdings" panose="05000000000000000000" pitchFamily="2" charset="2"/>
              <a:buChar char="§"/>
            </a:pPr>
            <a:r>
              <a:rPr lang="en-US" b="1" dirty="0">
                <a:latin typeface="Calibri" panose="020F0502020204030204" pitchFamily="34" charset="0"/>
                <a:ea typeface="Calibri" panose="020F0502020204030204" pitchFamily="34" charset="0"/>
                <a:cs typeface="Calibri" panose="020F0502020204030204" pitchFamily="34" charset="0"/>
              </a:rPr>
              <a:t>Global objective: </a:t>
            </a:r>
            <a:r>
              <a:rPr lang="en-US" dirty="0">
                <a:latin typeface="Calibri" panose="020F0502020204030204" pitchFamily="34" charset="0"/>
                <a:ea typeface="Calibri" panose="020F0502020204030204" pitchFamily="34" charset="0"/>
                <a:cs typeface="Calibri" panose="020F0502020204030204" pitchFamily="34" charset="0"/>
              </a:rPr>
              <a:t>Adaptive, ML-driven decryption control for data-in-use protection.</a:t>
            </a:r>
          </a:p>
          <a:p>
            <a:pPr>
              <a:buFont typeface="Wingdings" panose="05000000000000000000" pitchFamily="2" charset="2"/>
              <a:buChar char="§"/>
            </a:pPr>
            <a:r>
              <a:rPr lang="en-US" b="1" dirty="0">
                <a:latin typeface="Calibri" panose="020F0502020204030204" pitchFamily="34" charset="0"/>
                <a:ea typeface="Calibri" panose="020F0502020204030204" pitchFamily="34" charset="0"/>
                <a:cs typeface="Calibri" panose="020F0502020204030204" pitchFamily="34" charset="0"/>
              </a:rPr>
              <a:t>Specific objectives:</a:t>
            </a:r>
          </a:p>
          <a:p>
            <a:pPr lvl="1">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Engineer synthetic, rule-labeled access-event dataset</a:t>
            </a:r>
          </a:p>
          <a:p>
            <a:pPr lvl="1">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Design unforgeable runtime behavioral feature scheme</a:t>
            </a:r>
          </a:p>
          <a:p>
            <a:pPr lvl="1">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Train and tune Random Forest risk classifier</a:t>
            </a:r>
          </a:p>
          <a:p>
            <a:pPr lvl="1">
              <a:buFont typeface="Wingdings" panose="05000000000000000000" pitchFamily="2" charset="2"/>
              <a:buChar char="Ø"/>
            </a:pPr>
            <a:r>
              <a:rPr lang="en-US" dirty="0" err="1">
                <a:latin typeface="Calibri" panose="020F0502020204030204" pitchFamily="34" charset="0"/>
                <a:ea typeface="Calibri" panose="020F0502020204030204" pitchFamily="34" charset="0"/>
                <a:cs typeface="Calibri" panose="020F0502020204030204" pitchFamily="34" charset="0"/>
              </a:rPr>
              <a:t>Transpile</a:t>
            </a:r>
            <a:r>
              <a:rPr lang="en-US" dirty="0">
                <a:latin typeface="Calibri" panose="020F0502020204030204" pitchFamily="34" charset="0"/>
                <a:ea typeface="Calibri" panose="020F0502020204030204" pitchFamily="34" charset="0"/>
                <a:cs typeface="Calibri" panose="020F0502020204030204" pitchFamily="34" charset="0"/>
              </a:rPr>
              <a:t> model to in-process, dependency-free JavaScript</a:t>
            </a:r>
          </a:p>
          <a:p>
            <a:pPr lvl="1">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Re-engineer ORM into late-binding encryption</a:t>
            </a:r>
          </a:p>
          <a:p>
            <a:pPr lvl="1">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Integrate graduated decrypt / mask / deny policy engine</a:t>
            </a:r>
          </a:p>
          <a:p>
            <a:pPr lvl="1">
              <a:buFont typeface="Wingdings" panose="05000000000000000000" pitchFamily="2" charset="2"/>
              <a:buChar char="Ø"/>
            </a:pPr>
            <a:r>
              <a:rPr lang="en-US" dirty="0">
                <a:latin typeface="Calibri" panose="020F0502020204030204" pitchFamily="34" charset="0"/>
                <a:ea typeface="Calibri" panose="020F0502020204030204" pitchFamily="34" charset="0"/>
                <a:cs typeface="Calibri" panose="020F0502020204030204" pitchFamily="34" charset="0"/>
              </a:rPr>
              <a:t>Verify pipeline end-to-end</a:t>
            </a:r>
          </a:p>
        </p:txBody>
      </p:sp>
      <p:sp>
        <p:nvSpPr>
          <p:cNvPr id="4" name="Date Placeholder 3">
            <a:extLst>
              <a:ext uri="{FF2B5EF4-FFF2-40B4-BE49-F238E27FC236}">
                <a16:creationId xmlns:a16="http://schemas.microsoft.com/office/drawing/2014/main" id="{C90BEDAD-E468-6FD6-C01E-0915FFA23006}"/>
              </a:ext>
            </a:extLst>
          </p:cNvPr>
          <p:cNvSpPr>
            <a:spLocks noGrp="1"/>
          </p:cNvSpPr>
          <p:nvPr>
            <p:ph type="dt" sz="half" idx="10"/>
          </p:nvPr>
        </p:nvSpPr>
        <p:spPr/>
        <p:txBody>
          <a:bodyPr/>
          <a:lstStyle/>
          <a:p>
            <a:fld id="{7A201E91-4DAB-4F48-8C1A-6F69EDFC4872}" type="datetime1">
              <a:rPr lang="en-US" smtClean="0"/>
              <a:t>10-Jul-26</a:t>
            </a:fld>
            <a:endParaRPr lang="en-US"/>
          </a:p>
        </p:txBody>
      </p:sp>
      <p:sp>
        <p:nvSpPr>
          <p:cNvPr id="5" name="Slide Number Placeholder 4">
            <a:extLst>
              <a:ext uri="{FF2B5EF4-FFF2-40B4-BE49-F238E27FC236}">
                <a16:creationId xmlns:a16="http://schemas.microsoft.com/office/drawing/2014/main" id="{150DAD61-2B03-35B5-0254-E7632D3C3A48}"/>
              </a:ext>
            </a:extLst>
          </p:cNvPr>
          <p:cNvSpPr>
            <a:spLocks noGrp="1"/>
          </p:cNvSpPr>
          <p:nvPr>
            <p:ph type="sldNum" sz="quarter" idx="12"/>
          </p:nvPr>
        </p:nvSpPr>
        <p:spPr/>
        <p:txBody>
          <a:bodyPr/>
          <a:lstStyle/>
          <a:p>
            <a:fld id="{7A1EA063-F1A0-4337-9BB4-F912B647AF2A}" type="slidenum">
              <a:rPr lang="en-US" smtClean="0"/>
              <a:t>8</a:t>
            </a:fld>
            <a:endParaRPr lang="en-US"/>
          </a:p>
        </p:txBody>
      </p:sp>
    </p:spTree>
    <p:extLst>
      <p:ext uri="{BB962C8B-B14F-4D97-AF65-F5344CB8AC3E}">
        <p14:creationId xmlns:p14="http://schemas.microsoft.com/office/powerpoint/2010/main" val="9073566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122D3-7250-F05E-B76C-9DA88DDB98A4}"/>
              </a:ext>
            </a:extLst>
          </p:cNvPr>
          <p:cNvSpPr>
            <a:spLocks noGrp="1"/>
          </p:cNvSpPr>
          <p:nvPr>
            <p:ph type="title"/>
          </p:nvPr>
        </p:nvSpPr>
        <p:spPr>
          <a:xfrm>
            <a:off x="838200" y="365125"/>
            <a:ext cx="10515600" cy="637765"/>
          </a:xfrm>
          <a:solidFill>
            <a:schemeClr val="tx2">
              <a:lumMod val="10000"/>
              <a:lumOff val="90000"/>
            </a:schemeClr>
          </a:solidFill>
        </p:spPr>
        <p:txBody>
          <a:bodyPr>
            <a:normAutofit fontScale="90000"/>
          </a:bodyPr>
          <a:lstStyle/>
          <a:p>
            <a:r>
              <a:rPr lang="en-US" dirty="0">
                <a:solidFill>
                  <a:schemeClr val="accent4">
                    <a:lumMod val="50000"/>
                  </a:schemeClr>
                </a:solidFill>
                <a:latin typeface="Calibri" panose="020F0502020204030204" pitchFamily="34" charset="0"/>
                <a:ea typeface="Calibri" panose="020F0502020204030204" pitchFamily="34" charset="0"/>
                <a:cs typeface="Calibri" panose="020F0502020204030204" pitchFamily="34" charset="0"/>
              </a:rPr>
              <a:t>Proposed Methodology</a:t>
            </a:r>
          </a:p>
        </p:txBody>
      </p:sp>
      <p:sp>
        <p:nvSpPr>
          <p:cNvPr id="3" name="Date Placeholder 2">
            <a:extLst>
              <a:ext uri="{FF2B5EF4-FFF2-40B4-BE49-F238E27FC236}">
                <a16:creationId xmlns:a16="http://schemas.microsoft.com/office/drawing/2014/main" id="{1EB1A4F4-EFC9-088C-5DA4-BFD359E81EAE}"/>
              </a:ext>
            </a:extLst>
          </p:cNvPr>
          <p:cNvSpPr>
            <a:spLocks noGrp="1"/>
          </p:cNvSpPr>
          <p:nvPr>
            <p:ph type="dt" sz="half" idx="10"/>
          </p:nvPr>
        </p:nvSpPr>
        <p:spPr/>
        <p:txBody>
          <a:bodyPr/>
          <a:lstStyle/>
          <a:p>
            <a:fld id="{1E300BD0-E5C2-4A74-9E3E-BB244319C3D5}" type="datetime1">
              <a:rPr lang="en-US" smtClean="0"/>
              <a:t>10-Jul-26</a:t>
            </a:fld>
            <a:endParaRPr lang="en-US"/>
          </a:p>
        </p:txBody>
      </p:sp>
      <p:sp>
        <p:nvSpPr>
          <p:cNvPr id="4" name="Slide Number Placeholder 3">
            <a:extLst>
              <a:ext uri="{FF2B5EF4-FFF2-40B4-BE49-F238E27FC236}">
                <a16:creationId xmlns:a16="http://schemas.microsoft.com/office/drawing/2014/main" id="{D4EF9121-AC73-C1EF-4BF1-EFCE2DCB4354}"/>
              </a:ext>
            </a:extLst>
          </p:cNvPr>
          <p:cNvSpPr>
            <a:spLocks noGrp="1"/>
          </p:cNvSpPr>
          <p:nvPr>
            <p:ph type="sldNum" sz="quarter" idx="12"/>
          </p:nvPr>
        </p:nvSpPr>
        <p:spPr/>
        <p:txBody>
          <a:bodyPr/>
          <a:lstStyle/>
          <a:p>
            <a:fld id="{7A1EA063-F1A0-4337-9BB4-F912B647AF2A}" type="slidenum">
              <a:rPr lang="en-US" smtClean="0"/>
              <a:t>9</a:t>
            </a:fld>
            <a:endParaRPr lang="en-US"/>
          </a:p>
        </p:txBody>
      </p:sp>
      <p:pic>
        <p:nvPicPr>
          <p:cNvPr id="6" name="Picture 5">
            <a:extLst>
              <a:ext uri="{FF2B5EF4-FFF2-40B4-BE49-F238E27FC236}">
                <a16:creationId xmlns:a16="http://schemas.microsoft.com/office/drawing/2014/main" id="{CF226880-F98F-F22B-E266-E7E59C42AF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33832" y="1144600"/>
            <a:ext cx="9193162" cy="5576875"/>
          </a:xfrm>
          <a:prstGeom prst="rect">
            <a:avLst/>
          </a:prstGeom>
        </p:spPr>
      </p:pic>
    </p:spTree>
    <p:extLst>
      <p:ext uri="{BB962C8B-B14F-4D97-AF65-F5344CB8AC3E}">
        <p14:creationId xmlns:p14="http://schemas.microsoft.com/office/powerpoint/2010/main" val="36951776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122D3-7250-F05E-B76C-9DA88DDB98A4}"/>
              </a:ext>
            </a:extLst>
          </p:cNvPr>
          <p:cNvSpPr>
            <a:spLocks noGrp="1"/>
          </p:cNvSpPr>
          <p:nvPr>
            <p:ph type="title"/>
          </p:nvPr>
        </p:nvSpPr>
        <p:spPr>
          <a:xfrm>
            <a:off x="419099" y="365125"/>
            <a:ext cx="11353799" cy="637765"/>
          </a:xfrm>
          <a:solidFill>
            <a:schemeClr val="bg2"/>
          </a:solidFill>
        </p:spPr>
        <p:txBody>
          <a:bodyPr>
            <a:normAutofit fontScale="90000"/>
          </a:bodyPr>
          <a:lstStyle/>
          <a:p>
            <a:r>
              <a:rPr lang="en-US" dirty="0">
                <a:solidFill>
                  <a:schemeClr val="accent4">
                    <a:lumMod val="50000"/>
                  </a:schemeClr>
                </a:solidFill>
                <a:latin typeface="Calibri" panose="020F0502020204030204" pitchFamily="34" charset="0"/>
                <a:ea typeface="Calibri" panose="020F0502020204030204" pitchFamily="34" charset="0"/>
                <a:cs typeface="Calibri" panose="020F0502020204030204" pitchFamily="34" charset="0"/>
              </a:rPr>
              <a:t>Four-Stage Pipeline</a:t>
            </a:r>
          </a:p>
        </p:txBody>
      </p:sp>
      <p:sp>
        <p:nvSpPr>
          <p:cNvPr id="3" name="Date Placeholder 2">
            <a:extLst>
              <a:ext uri="{FF2B5EF4-FFF2-40B4-BE49-F238E27FC236}">
                <a16:creationId xmlns:a16="http://schemas.microsoft.com/office/drawing/2014/main" id="{1EB1A4F4-EFC9-088C-5DA4-BFD359E81EAE}"/>
              </a:ext>
            </a:extLst>
          </p:cNvPr>
          <p:cNvSpPr>
            <a:spLocks noGrp="1"/>
          </p:cNvSpPr>
          <p:nvPr>
            <p:ph type="dt" sz="half" idx="10"/>
          </p:nvPr>
        </p:nvSpPr>
        <p:spPr/>
        <p:txBody>
          <a:bodyPr/>
          <a:lstStyle/>
          <a:p>
            <a:fld id="{1E300BD0-E5C2-4A74-9E3E-BB244319C3D5}" type="datetime1">
              <a:rPr lang="en-US" smtClean="0"/>
              <a:t>10-Jul-26</a:t>
            </a:fld>
            <a:endParaRPr lang="en-US"/>
          </a:p>
        </p:txBody>
      </p:sp>
      <p:sp>
        <p:nvSpPr>
          <p:cNvPr id="4" name="Slide Number Placeholder 3">
            <a:extLst>
              <a:ext uri="{FF2B5EF4-FFF2-40B4-BE49-F238E27FC236}">
                <a16:creationId xmlns:a16="http://schemas.microsoft.com/office/drawing/2014/main" id="{D4EF9121-AC73-C1EF-4BF1-EFCE2DCB4354}"/>
              </a:ext>
            </a:extLst>
          </p:cNvPr>
          <p:cNvSpPr>
            <a:spLocks noGrp="1"/>
          </p:cNvSpPr>
          <p:nvPr>
            <p:ph type="sldNum" sz="quarter" idx="12"/>
          </p:nvPr>
        </p:nvSpPr>
        <p:spPr/>
        <p:txBody>
          <a:bodyPr/>
          <a:lstStyle/>
          <a:p>
            <a:fld id="{7A1EA063-F1A0-4337-9BB4-F912B647AF2A}" type="slidenum">
              <a:rPr lang="en-US" smtClean="0"/>
              <a:t>10</a:t>
            </a:fld>
            <a:endParaRPr lang="en-US"/>
          </a:p>
        </p:txBody>
      </p:sp>
      <p:pic>
        <p:nvPicPr>
          <p:cNvPr id="7" name="Picture 6">
            <a:extLst>
              <a:ext uri="{FF2B5EF4-FFF2-40B4-BE49-F238E27FC236}">
                <a16:creationId xmlns:a16="http://schemas.microsoft.com/office/drawing/2014/main" id="{34F578E2-3252-96D4-8378-51AFD8673F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9100" y="1473964"/>
            <a:ext cx="11353800" cy="4611822"/>
          </a:xfrm>
          <a:prstGeom prst="rect">
            <a:avLst/>
          </a:prstGeom>
        </p:spPr>
      </p:pic>
    </p:spTree>
    <p:extLst>
      <p:ext uri="{BB962C8B-B14F-4D97-AF65-F5344CB8AC3E}">
        <p14:creationId xmlns:p14="http://schemas.microsoft.com/office/powerpoint/2010/main" val="5530947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122D3-7250-F05E-B76C-9DA88DDB98A4}"/>
              </a:ext>
            </a:extLst>
          </p:cNvPr>
          <p:cNvSpPr>
            <a:spLocks noGrp="1"/>
          </p:cNvSpPr>
          <p:nvPr>
            <p:ph type="title"/>
          </p:nvPr>
        </p:nvSpPr>
        <p:spPr>
          <a:xfrm>
            <a:off x="838200" y="136525"/>
            <a:ext cx="10515600" cy="637765"/>
          </a:xfrm>
          <a:solidFill>
            <a:schemeClr val="bg2"/>
          </a:solidFill>
        </p:spPr>
        <p:txBody>
          <a:bodyPr>
            <a:normAutofit fontScale="90000"/>
          </a:bodyPr>
          <a:lstStyle/>
          <a:p>
            <a:r>
              <a:rPr lang="en-US" dirty="0">
                <a:solidFill>
                  <a:schemeClr val="accent4">
                    <a:lumMod val="50000"/>
                  </a:schemeClr>
                </a:solidFill>
                <a:latin typeface="Calibri" panose="020F0502020204030204" pitchFamily="34" charset="0"/>
                <a:ea typeface="Calibri" panose="020F0502020204030204" pitchFamily="34" charset="0"/>
                <a:cs typeface="Calibri" panose="020F0502020204030204" pitchFamily="34" charset="0"/>
              </a:rPr>
              <a:t>Eight-Layer Security Architecture</a:t>
            </a:r>
          </a:p>
        </p:txBody>
      </p:sp>
      <p:sp>
        <p:nvSpPr>
          <p:cNvPr id="3" name="Date Placeholder 2">
            <a:extLst>
              <a:ext uri="{FF2B5EF4-FFF2-40B4-BE49-F238E27FC236}">
                <a16:creationId xmlns:a16="http://schemas.microsoft.com/office/drawing/2014/main" id="{1EB1A4F4-EFC9-088C-5DA4-BFD359E81EAE}"/>
              </a:ext>
            </a:extLst>
          </p:cNvPr>
          <p:cNvSpPr>
            <a:spLocks noGrp="1"/>
          </p:cNvSpPr>
          <p:nvPr>
            <p:ph type="dt" sz="half" idx="10"/>
          </p:nvPr>
        </p:nvSpPr>
        <p:spPr/>
        <p:txBody>
          <a:bodyPr/>
          <a:lstStyle/>
          <a:p>
            <a:fld id="{1E300BD0-E5C2-4A74-9E3E-BB244319C3D5}" type="datetime1">
              <a:rPr lang="en-US" smtClean="0"/>
              <a:t>10-Jul-26</a:t>
            </a:fld>
            <a:endParaRPr lang="en-US"/>
          </a:p>
        </p:txBody>
      </p:sp>
      <p:sp>
        <p:nvSpPr>
          <p:cNvPr id="4" name="Slide Number Placeholder 3">
            <a:extLst>
              <a:ext uri="{FF2B5EF4-FFF2-40B4-BE49-F238E27FC236}">
                <a16:creationId xmlns:a16="http://schemas.microsoft.com/office/drawing/2014/main" id="{D4EF9121-AC73-C1EF-4BF1-EFCE2DCB4354}"/>
              </a:ext>
            </a:extLst>
          </p:cNvPr>
          <p:cNvSpPr>
            <a:spLocks noGrp="1"/>
          </p:cNvSpPr>
          <p:nvPr>
            <p:ph type="sldNum" sz="quarter" idx="12"/>
          </p:nvPr>
        </p:nvSpPr>
        <p:spPr/>
        <p:txBody>
          <a:bodyPr/>
          <a:lstStyle/>
          <a:p>
            <a:fld id="{7A1EA063-F1A0-4337-9BB4-F912B647AF2A}" type="slidenum">
              <a:rPr lang="en-US" smtClean="0"/>
              <a:t>11</a:t>
            </a:fld>
            <a:endParaRPr lang="en-US"/>
          </a:p>
        </p:txBody>
      </p:sp>
      <p:pic>
        <p:nvPicPr>
          <p:cNvPr id="6" name="Picture 5">
            <a:extLst>
              <a:ext uri="{FF2B5EF4-FFF2-40B4-BE49-F238E27FC236}">
                <a16:creationId xmlns:a16="http://schemas.microsoft.com/office/drawing/2014/main" id="{9AE6EC80-FC64-D011-041B-B7BB7834EA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5731" y="774290"/>
            <a:ext cx="8173934" cy="4653116"/>
          </a:xfrm>
          <a:prstGeom prst="rect">
            <a:avLst/>
          </a:prstGeom>
        </p:spPr>
      </p:pic>
      <p:sp>
        <p:nvSpPr>
          <p:cNvPr id="8" name="TextBox 7">
            <a:extLst>
              <a:ext uri="{FF2B5EF4-FFF2-40B4-BE49-F238E27FC236}">
                <a16:creationId xmlns:a16="http://schemas.microsoft.com/office/drawing/2014/main" id="{15C67C02-4675-2284-8785-B69063A74F96}"/>
              </a:ext>
            </a:extLst>
          </p:cNvPr>
          <p:cNvSpPr txBox="1"/>
          <p:nvPr/>
        </p:nvSpPr>
        <p:spPr>
          <a:xfrm>
            <a:off x="3315527" y="5286964"/>
            <a:ext cx="5560946" cy="1200329"/>
          </a:xfrm>
          <a:prstGeom prst="rect">
            <a:avLst/>
          </a:prstGeom>
          <a:noFill/>
        </p:spPr>
        <p:txBody>
          <a:bodyPr wrap="none" rtlCol="0">
            <a:spAutoFit/>
          </a:bodyPr>
          <a:lstStyle/>
          <a:p>
            <a:r>
              <a:rPr lang="en-US" dirty="0">
                <a:latin typeface="Calibri" panose="020F0502020204030204" pitchFamily="34" charset="0"/>
                <a:ea typeface="Calibri" panose="020F0502020204030204" pitchFamily="34" charset="0"/>
                <a:cs typeface="Calibri" panose="020F0502020204030204" pitchFamily="34" charset="0"/>
              </a:rPr>
              <a:t>Layers 1–3: conventional tiers (client, JWT + RBAC, logic)</a:t>
            </a:r>
          </a:p>
          <a:p>
            <a:r>
              <a:rPr lang="en-US" b="1" dirty="0">
                <a:solidFill>
                  <a:schemeClr val="accent4">
                    <a:lumMod val="50000"/>
                  </a:schemeClr>
                </a:solidFill>
                <a:latin typeface="Calibri" panose="020F0502020204030204" pitchFamily="34" charset="0"/>
                <a:ea typeface="Calibri" panose="020F0502020204030204" pitchFamily="34" charset="0"/>
                <a:cs typeface="Calibri" panose="020F0502020204030204" pitchFamily="34" charset="0"/>
              </a:rPr>
              <a:t>Layer 4: Adaptive ML Decryption Control ← contribution</a:t>
            </a:r>
          </a:p>
          <a:p>
            <a:r>
              <a:rPr lang="en-US" dirty="0">
                <a:latin typeface="Calibri" panose="020F0502020204030204" pitchFamily="34" charset="0"/>
                <a:ea typeface="Calibri" panose="020F0502020204030204" pitchFamily="34" charset="0"/>
                <a:cs typeface="Calibri" panose="020F0502020204030204" pitchFamily="34" charset="0"/>
              </a:rPr>
              <a:t>Layers 5–7: late-binding ALE, ORM, TDE storage</a:t>
            </a:r>
          </a:p>
          <a:p>
            <a:r>
              <a:rPr lang="en-US" dirty="0">
                <a:latin typeface="Calibri" panose="020F0502020204030204" pitchFamily="34" charset="0"/>
                <a:ea typeface="Calibri" panose="020F0502020204030204" pitchFamily="34" charset="0"/>
                <a:cs typeface="Calibri" panose="020F0502020204030204" pitchFamily="34" charset="0"/>
              </a:rPr>
              <a:t>Layer 8: audit tables feed the features</a:t>
            </a:r>
          </a:p>
        </p:txBody>
      </p:sp>
    </p:spTree>
    <p:extLst>
      <p:ext uri="{BB962C8B-B14F-4D97-AF65-F5344CB8AC3E}">
        <p14:creationId xmlns:p14="http://schemas.microsoft.com/office/powerpoint/2010/main" val="39455293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122D3-7250-F05E-B76C-9DA88DDB98A4}"/>
              </a:ext>
            </a:extLst>
          </p:cNvPr>
          <p:cNvSpPr>
            <a:spLocks noGrp="1"/>
          </p:cNvSpPr>
          <p:nvPr>
            <p:ph type="title"/>
          </p:nvPr>
        </p:nvSpPr>
        <p:spPr>
          <a:xfrm>
            <a:off x="557514" y="136525"/>
            <a:ext cx="11076972" cy="637765"/>
          </a:xfrm>
          <a:solidFill>
            <a:schemeClr val="bg2"/>
          </a:solidFill>
        </p:spPr>
        <p:txBody>
          <a:bodyPr>
            <a:normAutofit fontScale="90000"/>
          </a:bodyPr>
          <a:lstStyle/>
          <a:p>
            <a:r>
              <a:rPr lang="en-US" dirty="0">
                <a:solidFill>
                  <a:schemeClr val="accent4">
                    <a:lumMod val="50000"/>
                  </a:schemeClr>
                </a:solidFill>
                <a:latin typeface="Calibri" panose="020F0502020204030204" pitchFamily="34" charset="0"/>
                <a:ea typeface="Calibri" panose="020F0502020204030204" pitchFamily="34" charset="0"/>
                <a:cs typeface="Calibri" panose="020F0502020204030204" pitchFamily="34" charset="0"/>
              </a:rPr>
              <a:t>Synthetic Dataset Engineering</a:t>
            </a:r>
          </a:p>
        </p:txBody>
      </p:sp>
      <p:sp>
        <p:nvSpPr>
          <p:cNvPr id="3" name="Date Placeholder 2">
            <a:extLst>
              <a:ext uri="{FF2B5EF4-FFF2-40B4-BE49-F238E27FC236}">
                <a16:creationId xmlns:a16="http://schemas.microsoft.com/office/drawing/2014/main" id="{1EB1A4F4-EFC9-088C-5DA4-BFD359E81EAE}"/>
              </a:ext>
            </a:extLst>
          </p:cNvPr>
          <p:cNvSpPr>
            <a:spLocks noGrp="1"/>
          </p:cNvSpPr>
          <p:nvPr>
            <p:ph type="dt" sz="half" idx="10"/>
          </p:nvPr>
        </p:nvSpPr>
        <p:spPr/>
        <p:txBody>
          <a:bodyPr/>
          <a:lstStyle/>
          <a:p>
            <a:fld id="{1E300BD0-E5C2-4A74-9E3E-BB244319C3D5}" type="datetime1">
              <a:rPr lang="en-US" smtClean="0"/>
              <a:t>10-Jul-26</a:t>
            </a:fld>
            <a:endParaRPr lang="en-US"/>
          </a:p>
        </p:txBody>
      </p:sp>
      <p:sp>
        <p:nvSpPr>
          <p:cNvPr id="4" name="Slide Number Placeholder 3">
            <a:extLst>
              <a:ext uri="{FF2B5EF4-FFF2-40B4-BE49-F238E27FC236}">
                <a16:creationId xmlns:a16="http://schemas.microsoft.com/office/drawing/2014/main" id="{D4EF9121-AC73-C1EF-4BF1-EFCE2DCB4354}"/>
              </a:ext>
            </a:extLst>
          </p:cNvPr>
          <p:cNvSpPr>
            <a:spLocks noGrp="1"/>
          </p:cNvSpPr>
          <p:nvPr>
            <p:ph type="sldNum" sz="quarter" idx="12"/>
          </p:nvPr>
        </p:nvSpPr>
        <p:spPr/>
        <p:txBody>
          <a:bodyPr/>
          <a:lstStyle/>
          <a:p>
            <a:fld id="{7A1EA063-F1A0-4337-9BB4-F912B647AF2A}" type="slidenum">
              <a:rPr lang="en-US" smtClean="0"/>
              <a:t>12</a:t>
            </a:fld>
            <a:endParaRPr lang="en-US"/>
          </a:p>
        </p:txBody>
      </p:sp>
      <p:graphicFrame>
        <p:nvGraphicFramePr>
          <p:cNvPr id="5" name="Table 4">
            <a:extLst>
              <a:ext uri="{FF2B5EF4-FFF2-40B4-BE49-F238E27FC236}">
                <a16:creationId xmlns:a16="http://schemas.microsoft.com/office/drawing/2014/main" id="{F3E831EA-FE7E-BFB7-AAC1-165A252F8DD0}"/>
              </a:ext>
            </a:extLst>
          </p:cNvPr>
          <p:cNvGraphicFramePr>
            <a:graphicFrameLocks noGrp="1"/>
          </p:cNvGraphicFramePr>
          <p:nvPr>
            <p:extLst>
              <p:ext uri="{D42A27DB-BD31-4B8C-83A1-F6EECF244321}">
                <p14:modId xmlns:p14="http://schemas.microsoft.com/office/powerpoint/2010/main" val="1294160755"/>
              </p:ext>
            </p:extLst>
          </p:nvPr>
        </p:nvGraphicFramePr>
        <p:xfrm>
          <a:off x="557514" y="890406"/>
          <a:ext cx="11076972" cy="5467793"/>
        </p:xfrm>
        <a:graphic>
          <a:graphicData uri="http://schemas.openxmlformats.org/drawingml/2006/table">
            <a:tbl>
              <a:tblPr firstRow="1" bandRow="1">
                <a:tableStyleId>{5C22544A-7EE6-4342-B048-85BDC9FD1C3A}</a:tableStyleId>
              </a:tblPr>
              <a:tblGrid>
                <a:gridCol w="3692324">
                  <a:extLst>
                    <a:ext uri="{9D8B030D-6E8A-4147-A177-3AD203B41FA5}">
                      <a16:colId xmlns:a16="http://schemas.microsoft.com/office/drawing/2014/main" val="1610268124"/>
                    </a:ext>
                  </a:extLst>
                </a:gridCol>
                <a:gridCol w="3692324">
                  <a:extLst>
                    <a:ext uri="{9D8B030D-6E8A-4147-A177-3AD203B41FA5}">
                      <a16:colId xmlns:a16="http://schemas.microsoft.com/office/drawing/2014/main" val="1457602179"/>
                    </a:ext>
                  </a:extLst>
                </a:gridCol>
                <a:gridCol w="3692324">
                  <a:extLst>
                    <a:ext uri="{9D8B030D-6E8A-4147-A177-3AD203B41FA5}">
                      <a16:colId xmlns:a16="http://schemas.microsoft.com/office/drawing/2014/main" val="193494260"/>
                    </a:ext>
                  </a:extLst>
                </a:gridCol>
              </a:tblGrid>
              <a:tr h="388451">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Feature</a:t>
                      </a: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Distribution</a:t>
                      </a: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Parameters / rationale</a:t>
                      </a:r>
                    </a:p>
                  </a:txBody>
                  <a:tcPr/>
                </a:tc>
                <a:extLst>
                  <a:ext uri="{0D108BD9-81ED-4DB2-BD59-A6C34878D82A}">
                    <a16:rowId xmlns:a16="http://schemas.microsoft.com/office/drawing/2014/main" val="1889795344"/>
                  </a:ext>
                </a:extLst>
              </a:tr>
              <a:tr h="971130">
                <a:tc>
                  <a:txBody>
                    <a:bodyPr/>
                    <a:lstStyle/>
                    <a:p>
                      <a:pPr algn="ctr"/>
                      <a:r>
                        <a:rPr lang="en-US" dirty="0" err="1">
                          <a:latin typeface="Calibri" panose="020F0502020204030204" pitchFamily="34" charset="0"/>
                          <a:ea typeface="Calibri" panose="020F0502020204030204" pitchFamily="34" charset="0"/>
                          <a:cs typeface="Calibri" panose="020F0502020204030204" pitchFamily="34" charset="0"/>
                        </a:rPr>
                        <a:t>User_role</a:t>
                      </a:r>
                      <a:endParaRPr lang="en-US"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Categorical</a:t>
                      </a:r>
                    </a:p>
                  </a:txBody>
                  <a:tcPr/>
                </a:tc>
                <a:tc>
                  <a:txBody>
                    <a:bodyPr/>
                    <a:lstStyle/>
                    <a:p>
                      <a:r>
                        <a:rPr lang="en-US" dirty="0">
                          <a:latin typeface="Calibri" panose="020F0502020204030204" pitchFamily="34" charset="0"/>
                          <a:ea typeface="Calibri" panose="020F0502020204030204" pitchFamily="34" charset="0"/>
                          <a:cs typeface="Calibri" panose="020F0502020204030204" pitchFamily="34" charset="0"/>
                        </a:rPr>
                        <a:t>customer 75%, moderator 20%, </a:t>
                      </a:r>
                    </a:p>
                    <a:p>
                      <a:r>
                        <a:rPr lang="en-US" dirty="0">
                          <a:latin typeface="Calibri" panose="020F0502020204030204" pitchFamily="34" charset="0"/>
                          <a:ea typeface="Calibri" panose="020F0502020204030204" pitchFamily="34" charset="0"/>
                          <a:cs typeface="Calibri" panose="020F0502020204030204" pitchFamily="34" charset="0"/>
                        </a:rPr>
                        <a:t>admin 5% — read traffic is </a:t>
                      </a:r>
                    </a:p>
                    <a:p>
                      <a:r>
                        <a:rPr lang="en-US" dirty="0">
                          <a:latin typeface="Calibri" panose="020F0502020204030204" pitchFamily="34" charset="0"/>
                          <a:ea typeface="Calibri" panose="020F0502020204030204" pitchFamily="34" charset="0"/>
                          <a:cs typeface="Calibri" panose="020F0502020204030204" pitchFamily="34" charset="0"/>
                        </a:rPr>
                        <a:t>customer-dominated </a:t>
                      </a:r>
                    </a:p>
                  </a:txBody>
                  <a:tcPr/>
                </a:tc>
                <a:extLst>
                  <a:ext uri="{0D108BD9-81ED-4DB2-BD59-A6C34878D82A}">
                    <a16:rowId xmlns:a16="http://schemas.microsoft.com/office/drawing/2014/main" val="1762690456"/>
                  </a:ext>
                </a:extLst>
              </a:tr>
              <a:tr h="971130">
                <a:tc>
                  <a:txBody>
                    <a:bodyPr/>
                    <a:lstStyle/>
                    <a:p>
                      <a:pPr algn="ctr"/>
                      <a:r>
                        <a:rPr lang="en-US" dirty="0" err="1">
                          <a:latin typeface="Calibri" panose="020F0502020204030204" pitchFamily="34" charset="0"/>
                          <a:ea typeface="Calibri" panose="020F0502020204030204" pitchFamily="34" charset="0"/>
                          <a:cs typeface="Calibri" panose="020F0502020204030204" pitchFamily="34" charset="0"/>
                        </a:rPr>
                        <a:t>Resource_sensitivity</a:t>
                      </a:r>
                      <a:endParaRPr lang="en-US"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Categorical</a:t>
                      </a:r>
                    </a:p>
                  </a:txBody>
                  <a:tcPr/>
                </a:tc>
                <a:tc>
                  <a:txBody>
                    <a:bodyPr/>
                    <a:lstStyle/>
                    <a:p>
                      <a:r>
                        <a:rPr lang="en-US" dirty="0">
                          <a:latin typeface="Calibri" panose="020F0502020204030204" pitchFamily="34" charset="0"/>
                          <a:ea typeface="Calibri" panose="020F0502020204030204" pitchFamily="34" charset="0"/>
                          <a:cs typeface="Calibri" panose="020F0502020204030204" pitchFamily="34" charset="0"/>
                        </a:rPr>
                        <a:t>LOW 60%, MEDIUM 30%, </a:t>
                      </a:r>
                    </a:p>
                    <a:p>
                      <a:r>
                        <a:rPr lang="en-US" dirty="0">
                          <a:latin typeface="Calibri" panose="020F0502020204030204" pitchFamily="34" charset="0"/>
                          <a:ea typeface="Calibri" panose="020F0502020204030204" pitchFamily="34" charset="0"/>
                          <a:cs typeface="Calibri" panose="020F0502020204030204" pitchFamily="34" charset="0"/>
                        </a:rPr>
                        <a:t>HIGH 10% — most reads touch </a:t>
                      </a:r>
                    </a:p>
                    <a:p>
                      <a:r>
                        <a:rPr lang="en-US" dirty="0">
                          <a:latin typeface="Calibri" panose="020F0502020204030204" pitchFamily="34" charset="0"/>
                          <a:ea typeface="Calibri" panose="020F0502020204030204" pitchFamily="34" charset="0"/>
                          <a:cs typeface="Calibri" panose="020F0502020204030204" pitchFamily="34" charset="0"/>
                        </a:rPr>
                        <a:t>low/medium-tier fields</a:t>
                      </a:r>
                    </a:p>
                  </a:txBody>
                  <a:tcPr/>
                </a:tc>
                <a:extLst>
                  <a:ext uri="{0D108BD9-81ED-4DB2-BD59-A6C34878D82A}">
                    <a16:rowId xmlns:a16="http://schemas.microsoft.com/office/drawing/2014/main" val="4115012224"/>
                  </a:ext>
                </a:extLst>
              </a:tr>
              <a:tr h="721984">
                <a:tc>
                  <a:txBody>
                    <a:bodyPr/>
                    <a:lstStyle/>
                    <a:p>
                      <a:pPr algn="ctr"/>
                      <a:r>
                        <a:rPr lang="en-US" dirty="0" err="1">
                          <a:latin typeface="Calibri" panose="020F0502020204030204" pitchFamily="34" charset="0"/>
                          <a:ea typeface="Calibri" panose="020F0502020204030204" pitchFamily="34" charset="0"/>
                          <a:cs typeface="Calibri" panose="020F0502020204030204" pitchFamily="34" charset="0"/>
                        </a:rPr>
                        <a:t>Is_office_hours</a:t>
                      </a:r>
                      <a:endParaRPr lang="en-US"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Bernoulli</a:t>
                      </a:r>
                    </a:p>
                  </a:txBody>
                  <a:tcPr/>
                </a:tc>
                <a:tc>
                  <a:txBody>
                    <a:bodyPr/>
                    <a:lstStyle/>
                    <a:p>
                      <a:r>
                        <a:rPr lang="en-US" dirty="0">
                          <a:latin typeface="Calibri" panose="020F0502020204030204" pitchFamily="34" charset="0"/>
                          <a:ea typeface="Calibri" panose="020F0502020204030204" pitchFamily="34" charset="0"/>
                          <a:cs typeface="Calibri" panose="020F0502020204030204" pitchFamily="34" charset="0"/>
                        </a:rPr>
                        <a:t>P(1) = 0.80 — operational-hours </a:t>
                      </a:r>
                    </a:p>
                    <a:p>
                      <a:r>
                        <a:rPr lang="en-US" dirty="0">
                          <a:latin typeface="Calibri" panose="020F0502020204030204" pitchFamily="34" charset="0"/>
                          <a:ea typeface="Calibri" panose="020F0502020204030204" pitchFamily="34" charset="0"/>
                          <a:cs typeface="Calibri" panose="020F0502020204030204" pitchFamily="34" charset="0"/>
                        </a:rPr>
                        <a:t>dominance</a:t>
                      </a:r>
                    </a:p>
                  </a:txBody>
                  <a:tcPr/>
                </a:tc>
                <a:extLst>
                  <a:ext uri="{0D108BD9-81ED-4DB2-BD59-A6C34878D82A}">
                    <a16:rowId xmlns:a16="http://schemas.microsoft.com/office/drawing/2014/main" val="3503705377"/>
                  </a:ext>
                </a:extLst>
              </a:tr>
              <a:tr h="721984">
                <a:tc>
                  <a:txBody>
                    <a:bodyPr/>
                    <a:lstStyle/>
                    <a:p>
                      <a:pPr algn="ctr"/>
                      <a:r>
                        <a:rPr lang="en-US" dirty="0" err="1">
                          <a:latin typeface="Calibri" panose="020F0502020204030204" pitchFamily="34" charset="0"/>
                          <a:ea typeface="Calibri" panose="020F0502020204030204" pitchFamily="34" charset="0"/>
                          <a:cs typeface="Calibri" panose="020F0502020204030204" pitchFamily="34" charset="0"/>
                        </a:rPr>
                        <a:t>Record_owner_match</a:t>
                      </a:r>
                      <a:endParaRPr lang="en-US"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Role-conditional Bernoulli</a:t>
                      </a:r>
                    </a:p>
                  </a:txBody>
                  <a:tcPr/>
                </a:tc>
                <a:tc>
                  <a:txBody>
                    <a:bodyPr/>
                    <a:lstStyle/>
                    <a:p>
                      <a:r>
                        <a:rPr lang="en-US" dirty="0">
                          <a:latin typeface="Calibri" panose="020F0502020204030204" pitchFamily="34" charset="0"/>
                          <a:ea typeface="Calibri" panose="020F0502020204030204" pitchFamily="34" charset="0"/>
                          <a:cs typeface="Calibri" panose="020F0502020204030204" pitchFamily="34" charset="0"/>
                        </a:rPr>
                        <a:t>customers: P(own record) = 0.95; </a:t>
                      </a:r>
                    </a:p>
                    <a:p>
                      <a:r>
                        <a:rPr lang="en-US" dirty="0">
                          <a:latin typeface="Calibri" panose="020F0502020204030204" pitchFamily="34" charset="0"/>
                          <a:ea typeface="Calibri" panose="020F0502020204030204" pitchFamily="34" charset="0"/>
                          <a:cs typeface="Calibri" panose="020F0502020204030204" pitchFamily="34" charset="0"/>
                        </a:rPr>
                        <a:t>staff roles: P(match) = 0.15 </a:t>
                      </a:r>
                    </a:p>
                  </a:txBody>
                  <a:tcPr/>
                </a:tc>
                <a:extLst>
                  <a:ext uri="{0D108BD9-81ED-4DB2-BD59-A6C34878D82A}">
                    <a16:rowId xmlns:a16="http://schemas.microsoft.com/office/drawing/2014/main" val="3980600165"/>
                  </a:ext>
                </a:extLst>
              </a:tr>
              <a:tr h="971130">
                <a:tc>
                  <a:txBody>
                    <a:bodyPr/>
                    <a:lstStyle/>
                    <a:p>
                      <a:pPr algn="ctr"/>
                      <a:r>
                        <a:rPr lang="en-US" dirty="0" err="1">
                          <a:latin typeface="Calibri" panose="020F0502020204030204" pitchFamily="34" charset="0"/>
                          <a:ea typeface="Calibri" panose="020F0502020204030204" pitchFamily="34" charset="0"/>
                          <a:cs typeface="Calibri" panose="020F0502020204030204" pitchFamily="34" charset="0"/>
                        </a:rPr>
                        <a:t>Recent_request_count</a:t>
                      </a:r>
                      <a:endParaRPr lang="en-US"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Poisson(λ=4) + injected attack mass</a:t>
                      </a:r>
                    </a:p>
                  </a:txBody>
                  <a:tcPr/>
                </a:tc>
                <a:tc>
                  <a:txBody>
                    <a:bodyPr/>
                    <a:lstStyle/>
                    <a:p>
                      <a:r>
                        <a:rPr lang="en-US" dirty="0">
                          <a:latin typeface="Calibri" panose="020F0502020204030204" pitchFamily="34" charset="0"/>
                          <a:ea typeface="Calibri" panose="020F0502020204030204" pitchFamily="34" charset="0"/>
                          <a:cs typeface="Calibri" panose="020F0502020204030204" pitchFamily="34" charset="0"/>
                        </a:rPr>
                        <a:t>5% of rows overwritten with Uniform{15…64} scraping </a:t>
                      </a:r>
                    </a:p>
                    <a:p>
                      <a:r>
                        <a:rPr lang="en-US" dirty="0">
                          <a:latin typeface="Calibri" panose="020F0502020204030204" pitchFamily="34" charset="0"/>
                          <a:ea typeface="Calibri" panose="020F0502020204030204" pitchFamily="34" charset="0"/>
                          <a:cs typeface="Calibri" panose="020F0502020204030204" pitchFamily="34" charset="0"/>
                        </a:rPr>
                        <a:t>bursts </a:t>
                      </a:r>
                    </a:p>
                  </a:txBody>
                  <a:tcPr/>
                </a:tc>
                <a:extLst>
                  <a:ext uri="{0D108BD9-81ED-4DB2-BD59-A6C34878D82A}">
                    <a16:rowId xmlns:a16="http://schemas.microsoft.com/office/drawing/2014/main" val="1541820617"/>
                  </a:ext>
                </a:extLst>
              </a:tr>
              <a:tr h="721984">
                <a:tc>
                  <a:txBody>
                    <a:bodyPr/>
                    <a:lstStyle/>
                    <a:p>
                      <a:pPr algn="ctr"/>
                      <a:r>
                        <a:rPr lang="en-US" dirty="0" err="1">
                          <a:latin typeface="Calibri" panose="020F0502020204030204" pitchFamily="34" charset="0"/>
                          <a:ea typeface="Calibri" panose="020F0502020204030204" pitchFamily="34" charset="0"/>
                          <a:cs typeface="Calibri" panose="020F0502020204030204" pitchFamily="34" charset="0"/>
                        </a:rPr>
                        <a:t>Failed_attempt_count</a:t>
                      </a:r>
                      <a:endParaRPr lang="en-US"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Discrete exponential decay over {0…8}</a:t>
                      </a:r>
                    </a:p>
                  </a:txBody>
                  <a:tcPr/>
                </a:tc>
                <a:tc>
                  <a:txBody>
                    <a:bodyPr/>
                    <a:lstStyle/>
                    <a:p>
                      <a:r>
                        <a:rPr lang="en-US" dirty="0">
                          <a:latin typeface="Calibri" panose="020F0502020204030204" pitchFamily="34" charset="0"/>
                          <a:ea typeface="Calibri" panose="020F0502020204030204" pitchFamily="34" charset="0"/>
                          <a:cs typeface="Calibri" panose="020F0502020204030204" pitchFamily="34" charset="0"/>
                        </a:rPr>
                        <a:t>P(0) = 0.88; long tail models </a:t>
                      </a:r>
                    </a:p>
                    <a:p>
                      <a:r>
                        <a:rPr lang="en-US" dirty="0">
                          <a:latin typeface="Calibri" panose="020F0502020204030204" pitchFamily="34" charset="0"/>
                          <a:ea typeface="Calibri" panose="020F0502020204030204" pitchFamily="34" charset="0"/>
                          <a:cs typeface="Calibri" panose="020F0502020204030204" pitchFamily="34" charset="0"/>
                        </a:rPr>
                        <a:t>brute-force campaigns</a:t>
                      </a:r>
                    </a:p>
                  </a:txBody>
                  <a:tcPr/>
                </a:tc>
                <a:extLst>
                  <a:ext uri="{0D108BD9-81ED-4DB2-BD59-A6C34878D82A}">
                    <a16:rowId xmlns:a16="http://schemas.microsoft.com/office/drawing/2014/main" val="2736565789"/>
                  </a:ext>
                </a:extLst>
              </a:tr>
            </a:tbl>
          </a:graphicData>
        </a:graphic>
      </p:graphicFrame>
    </p:spTree>
    <p:extLst>
      <p:ext uri="{BB962C8B-B14F-4D97-AF65-F5344CB8AC3E}">
        <p14:creationId xmlns:p14="http://schemas.microsoft.com/office/powerpoint/2010/main" val="41931736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122D3-7250-F05E-B76C-9DA88DDB98A4}"/>
              </a:ext>
            </a:extLst>
          </p:cNvPr>
          <p:cNvSpPr>
            <a:spLocks noGrp="1"/>
          </p:cNvSpPr>
          <p:nvPr>
            <p:ph type="title"/>
          </p:nvPr>
        </p:nvSpPr>
        <p:spPr>
          <a:xfrm>
            <a:off x="557514" y="136525"/>
            <a:ext cx="11076972" cy="637765"/>
          </a:xfrm>
          <a:solidFill>
            <a:schemeClr val="bg2"/>
          </a:solidFill>
        </p:spPr>
        <p:txBody>
          <a:bodyPr>
            <a:normAutofit fontScale="90000"/>
          </a:bodyPr>
          <a:lstStyle/>
          <a:p>
            <a:r>
              <a:rPr lang="en-US" dirty="0">
                <a:solidFill>
                  <a:schemeClr val="accent4">
                    <a:lumMod val="50000"/>
                  </a:schemeClr>
                </a:solidFill>
                <a:latin typeface="Calibri" panose="020F0502020204030204" pitchFamily="34" charset="0"/>
                <a:ea typeface="Calibri" panose="020F0502020204030204" pitchFamily="34" charset="0"/>
                <a:cs typeface="Calibri" panose="020F0502020204030204" pitchFamily="34" charset="0"/>
              </a:rPr>
              <a:t> </a:t>
            </a:r>
            <a:r>
              <a:rPr lang="en-US" dirty="0" err="1">
                <a:solidFill>
                  <a:schemeClr val="accent4">
                    <a:lumMod val="50000"/>
                  </a:schemeClr>
                </a:solidFill>
                <a:latin typeface="Calibri" panose="020F0502020204030204" pitchFamily="34" charset="0"/>
                <a:ea typeface="Calibri" panose="020F0502020204030204" pitchFamily="34" charset="0"/>
                <a:cs typeface="Calibri" panose="020F0502020204030204" pitchFamily="34" charset="0"/>
              </a:rPr>
              <a:t>HIGH-risk</a:t>
            </a:r>
            <a:r>
              <a:rPr lang="en-US" dirty="0">
                <a:solidFill>
                  <a:schemeClr val="accent4">
                    <a:lumMod val="50000"/>
                  </a:schemeClr>
                </a:solidFill>
                <a:latin typeface="Calibri" panose="020F0502020204030204" pitchFamily="34" charset="0"/>
                <a:ea typeface="Calibri" panose="020F0502020204030204" pitchFamily="34" charset="0"/>
                <a:cs typeface="Calibri" panose="020F0502020204030204" pitchFamily="34" charset="0"/>
              </a:rPr>
              <a:t> labeling rules of the dataset generator</a:t>
            </a:r>
          </a:p>
        </p:txBody>
      </p:sp>
      <p:sp>
        <p:nvSpPr>
          <p:cNvPr id="3" name="Date Placeholder 2">
            <a:extLst>
              <a:ext uri="{FF2B5EF4-FFF2-40B4-BE49-F238E27FC236}">
                <a16:creationId xmlns:a16="http://schemas.microsoft.com/office/drawing/2014/main" id="{1EB1A4F4-EFC9-088C-5DA4-BFD359E81EAE}"/>
              </a:ext>
            </a:extLst>
          </p:cNvPr>
          <p:cNvSpPr>
            <a:spLocks noGrp="1"/>
          </p:cNvSpPr>
          <p:nvPr>
            <p:ph type="dt" sz="half" idx="10"/>
          </p:nvPr>
        </p:nvSpPr>
        <p:spPr/>
        <p:txBody>
          <a:bodyPr/>
          <a:lstStyle/>
          <a:p>
            <a:fld id="{1E300BD0-E5C2-4A74-9E3E-BB244319C3D5}" type="datetime1">
              <a:rPr lang="en-US" smtClean="0"/>
              <a:t>10-Jul-26</a:t>
            </a:fld>
            <a:endParaRPr lang="en-US"/>
          </a:p>
        </p:txBody>
      </p:sp>
      <p:sp>
        <p:nvSpPr>
          <p:cNvPr id="4" name="Slide Number Placeholder 3">
            <a:extLst>
              <a:ext uri="{FF2B5EF4-FFF2-40B4-BE49-F238E27FC236}">
                <a16:creationId xmlns:a16="http://schemas.microsoft.com/office/drawing/2014/main" id="{D4EF9121-AC73-C1EF-4BF1-EFCE2DCB4354}"/>
              </a:ext>
            </a:extLst>
          </p:cNvPr>
          <p:cNvSpPr>
            <a:spLocks noGrp="1"/>
          </p:cNvSpPr>
          <p:nvPr>
            <p:ph type="sldNum" sz="quarter" idx="12"/>
          </p:nvPr>
        </p:nvSpPr>
        <p:spPr/>
        <p:txBody>
          <a:bodyPr/>
          <a:lstStyle/>
          <a:p>
            <a:fld id="{7A1EA063-F1A0-4337-9BB4-F912B647AF2A}" type="slidenum">
              <a:rPr lang="en-US" smtClean="0"/>
              <a:t>13</a:t>
            </a:fld>
            <a:endParaRPr lang="en-US"/>
          </a:p>
        </p:txBody>
      </p:sp>
      <p:graphicFrame>
        <p:nvGraphicFramePr>
          <p:cNvPr id="8" name="Content Placeholder 4">
            <a:extLst>
              <a:ext uri="{FF2B5EF4-FFF2-40B4-BE49-F238E27FC236}">
                <a16:creationId xmlns:a16="http://schemas.microsoft.com/office/drawing/2014/main" id="{435EDAEC-3D42-4A4F-1767-35CB58691708}"/>
              </a:ext>
            </a:extLst>
          </p:cNvPr>
          <p:cNvGraphicFramePr>
            <a:graphicFrameLocks/>
          </p:cNvGraphicFramePr>
          <p:nvPr>
            <p:extLst>
              <p:ext uri="{D42A27DB-BD31-4B8C-83A1-F6EECF244321}">
                <p14:modId xmlns:p14="http://schemas.microsoft.com/office/powerpoint/2010/main" val="3999856308"/>
              </p:ext>
            </p:extLst>
          </p:nvPr>
        </p:nvGraphicFramePr>
        <p:xfrm>
          <a:off x="557513" y="1145604"/>
          <a:ext cx="11076972" cy="4839432"/>
        </p:xfrm>
        <a:graphic>
          <a:graphicData uri="http://schemas.openxmlformats.org/drawingml/2006/table">
            <a:tbl>
              <a:tblPr firstRow="1" bandRow="1">
                <a:tableStyleId>{5C22544A-7EE6-4342-B048-85BDC9FD1C3A}</a:tableStyleId>
              </a:tblPr>
              <a:tblGrid>
                <a:gridCol w="5521065">
                  <a:extLst>
                    <a:ext uri="{9D8B030D-6E8A-4147-A177-3AD203B41FA5}">
                      <a16:colId xmlns:a16="http://schemas.microsoft.com/office/drawing/2014/main" val="2899949008"/>
                    </a:ext>
                  </a:extLst>
                </a:gridCol>
                <a:gridCol w="5555907">
                  <a:extLst>
                    <a:ext uri="{9D8B030D-6E8A-4147-A177-3AD203B41FA5}">
                      <a16:colId xmlns:a16="http://schemas.microsoft.com/office/drawing/2014/main" val="2013281631"/>
                    </a:ext>
                  </a:extLst>
                </a:gridCol>
              </a:tblGrid>
              <a:tr h="497512">
                <a:tc>
                  <a:txBody>
                    <a:bodyPr/>
                    <a:lstStyle/>
                    <a:p>
                      <a:pPr algn="ctr">
                        <a:buNone/>
                      </a:pPr>
                      <a:r>
                        <a:rPr lang="en-US" sz="1700" dirty="0" err="1">
                          <a:latin typeface="Calibri" panose="020F0502020204030204" pitchFamily="34" charset="0"/>
                          <a:ea typeface="Calibri" panose="020F0502020204030204" pitchFamily="34" charset="0"/>
                          <a:cs typeface="Calibri" panose="020F0502020204030204" pitchFamily="34" charset="0"/>
                        </a:rPr>
                        <a:t>HIGH-risk</a:t>
                      </a:r>
                      <a:r>
                        <a:rPr lang="en-US" sz="1700" dirty="0">
                          <a:latin typeface="Calibri" panose="020F0502020204030204" pitchFamily="34" charset="0"/>
                          <a:ea typeface="Calibri" panose="020F0502020204030204" pitchFamily="34" charset="0"/>
                          <a:cs typeface="Calibri" panose="020F0502020204030204" pitchFamily="34" charset="0"/>
                        </a:rPr>
                        <a:t> rule (label = 2)</a:t>
                      </a:r>
                    </a:p>
                  </a:txBody>
                  <a:tcPr marL="87893" marR="87893" marT="43946" marB="43946" anchor="ctr"/>
                </a:tc>
                <a:tc>
                  <a:txBody>
                    <a:bodyPr/>
                    <a:lstStyle/>
                    <a:p>
                      <a:pPr algn="ctr">
                        <a:buNone/>
                      </a:pPr>
                      <a:r>
                        <a:rPr lang="en-US" sz="1700" dirty="0">
                          <a:latin typeface="Calibri" panose="020F0502020204030204" pitchFamily="34" charset="0"/>
                          <a:ea typeface="Calibri" panose="020F0502020204030204" pitchFamily="34" charset="0"/>
                          <a:cs typeface="Calibri" panose="020F0502020204030204" pitchFamily="34" charset="0"/>
                        </a:rPr>
                        <a:t>Threat interpretation</a:t>
                      </a:r>
                    </a:p>
                  </a:txBody>
                  <a:tcPr marL="87893" marR="87893" marT="43946" marB="43946" anchor="ctr"/>
                </a:tc>
                <a:extLst>
                  <a:ext uri="{0D108BD9-81ED-4DB2-BD59-A6C34878D82A}">
                    <a16:rowId xmlns:a16="http://schemas.microsoft.com/office/drawing/2014/main" val="1905908992"/>
                  </a:ext>
                </a:extLst>
              </a:tr>
              <a:tr h="836724">
                <a:tc>
                  <a:txBody>
                    <a:bodyPr/>
                    <a:lstStyle/>
                    <a:p>
                      <a:pPr>
                        <a:buNone/>
                      </a:pPr>
                      <a:r>
                        <a:rPr lang="en-US" sz="1700" dirty="0">
                          <a:latin typeface="Calibri" panose="020F0502020204030204" pitchFamily="34" charset="0"/>
                          <a:ea typeface="Calibri" panose="020F0502020204030204" pitchFamily="34" charset="0"/>
                          <a:cs typeface="Calibri" panose="020F0502020204030204" pitchFamily="34" charset="0"/>
                        </a:rPr>
                        <a:t>customer ∧ </a:t>
                      </a:r>
                      <a:r>
                        <a:rPr lang="en-US" sz="1700" dirty="0" err="1">
                          <a:latin typeface="Calibri" panose="020F0502020204030204" pitchFamily="34" charset="0"/>
                          <a:ea typeface="Calibri" panose="020F0502020204030204" pitchFamily="34" charset="0"/>
                          <a:cs typeface="Calibri" panose="020F0502020204030204" pitchFamily="34" charset="0"/>
                        </a:rPr>
                        <a:t>owner_match</a:t>
                      </a:r>
                      <a:r>
                        <a:rPr lang="en-US" sz="1700" dirty="0">
                          <a:latin typeface="Calibri" panose="020F0502020204030204" pitchFamily="34" charset="0"/>
                          <a:ea typeface="Calibri" panose="020F0502020204030204" pitchFamily="34" charset="0"/>
                          <a:cs typeface="Calibri" panose="020F0502020204030204" pitchFamily="34" charset="0"/>
                        </a:rPr>
                        <a:t> = 0 ∧ sensitivity ∈ {MEDIUM, HIGH}</a:t>
                      </a:r>
                    </a:p>
                  </a:txBody>
                  <a:tcPr marL="87893" marR="87893" marT="43946" marB="43946" anchor="ctr"/>
                </a:tc>
                <a:tc>
                  <a:txBody>
                    <a:bodyPr/>
                    <a:lstStyle/>
                    <a:p>
                      <a:pPr>
                        <a:buNone/>
                      </a:pPr>
                      <a:r>
                        <a:rPr lang="en-US" sz="1700">
                          <a:latin typeface="Calibri" panose="020F0502020204030204" pitchFamily="34" charset="0"/>
                          <a:ea typeface="Calibri" panose="020F0502020204030204" pitchFamily="34" charset="0"/>
                          <a:cs typeface="Calibri" panose="020F0502020204030204" pitchFamily="34" charset="0"/>
                        </a:rPr>
                        <a:t>IDOR on protected data</a:t>
                      </a:r>
                    </a:p>
                  </a:txBody>
                  <a:tcPr marL="87893" marR="87893" marT="43946" marB="43946" anchor="ctr"/>
                </a:tc>
                <a:extLst>
                  <a:ext uri="{0D108BD9-81ED-4DB2-BD59-A6C34878D82A}">
                    <a16:rowId xmlns:a16="http://schemas.microsoft.com/office/drawing/2014/main" val="3629784933"/>
                  </a:ext>
                </a:extLst>
              </a:tr>
              <a:tr h="497512">
                <a:tc>
                  <a:txBody>
                    <a:bodyPr/>
                    <a:lstStyle/>
                    <a:p>
                      <a:pPr>
                        <a:buNone/>
                      </a:pPr>
                      <a:r>
                        <a:rPr lang="en-US" sz="1700" dirty="0">
                          <a:latin typeface="Calibri" panose="020F0502020204030204" pitchFamily="34" charset="0"/>
                          <a:ea typeface="Calibri" panose="020F0502020204030204" pitchFamily="34" charset="0"/>
                          <a:cs typeface="Calibri" panose="020F0502020204030204" pitchFamily="34" charset="0"/>
                        </a:rPr>
                        <a:t>customer ∧ </a:t>
                      </a:r>
                      <a:r>
                        <a:rPr lang="en-US" sz="1700" dirty="0" err="1">
                          <a:latin typeface="Calibri" panose="020F0502020204030204" pitchFamily="34" charset="0"/>
                          <a:ea typeface="Calibri" panose="020F0502020204030204" pitchFamily="34" charset="0"/>
                          <a:cs typeface="Calibri" panose="020F0502020204030204" pitchFamily="34" charset="0"/>
                        </a:rPr>
                        <a:t>request_count</a:t>
                      </a:r>
                      <a:r>
                        <a:rPr lang="en-US" sz="1700" dirty="0">
                          <a:latin typeface="Calibri" panose="020F0502020204030204" pitchFamily="34" charset="0"/>
                          <a:ea typeface="Calibri" panose="020F0502020204030204" pitchFamily="34" charset="0"/>
                          <a:cs typeface="Calibri" panose="020F0502020204030204" pitchFamily="34" charset="0"/>
                        </a:rPr>
                        <a:t> &gt; 15</a:t>
                      </a:r>
                    </a:p>
                  </a:txBody>
                  <a:tcPr marL="87893" marR="87893" marT="43946" marB="43946" anchor="ctr"/>
                </a:tc>
                <a:tc>
                  <a:txBody>
                    <a:bodyPr/>
                    <a:lstStyle/>
                    <a:p>
                      <a:pPr>
                        <a:buNone/>
                      </a:pPr>
                      <a:r>
                        <a:rPr lang="en-US" sz="1700">
                          <a:latin typeface="Calibri" panose="020F0502020204030204" pitchFamily="34" charset="0"/>
                          <a:ea typeface="Calibri" panose="020F0502020204030204" pitchFamily="34" charset="0"/>
                          <a:cs typeface="Calibri" panose="020F0502020204030204" pitchFamily="34" charset="0"/>
                        </a:rPr>
                        <a:t>Scraping / bulk exfiltration velocity</a:t>
                      </a:r>
                    </a:p>
                  </a:txBody>
                  <a:tcPr marL="87893" marR="87893" marT="43946" marB="43946" anchor="ctr"/>
                </a:tc>
                <a:extLst>
                  <a:ext uri="{0D108BD9-81ED-4DB2-BD59-A6C34878D82A}">
                    <a16:rowId xmlns:a16="http://schemas.microsoft.com/office/drawing/2014/main" val="1344199014"/>
                  </a:ext>
                </a:extLst>
              </a:tr>
              <a:tr h="836724">
                <a:tc>
                  <a:txBody>
                    <a:bodyPr/>
                    <a:lstStyle/>
                    <a:p>
                      <a:pPr>
                        <a:buNone/>
                      </a:pPr>
                      <a:r>
                        <a:rPr lang="en-US" sz="1700" dirty="0">
                          <a:latin typeface="Calibri" panose="020F0502020204030204" pitchFamily="34" charset="0"/>
                          <a:ea typeface="Calibri" panose="020F0502020204030204" pitchFamily="34" charset="0"/>
                          <a:cs typeface="Calibri" panose="020F0502020204030204" pitchFamily="34" charset="0"/>
                        </a:rPr>
                        <a:t>moderator ∧ sensitivity = HIGH</a:t>
                      </a:r>
                    </a:p>
                  </a:txBody>
                  <a:tcPr marL="87893" marR="87893" marT="43946" marB="43946" anchor="ctr"/>
                </a:tc>
                <a:tc>
                  <a:txBody>
                    <a:bodyPr/>
                    <a:lstStyle/>
                    <a:p>
                      <a:pPr>
                        <a:buNone/>
                      </a:pPr>
                      <a:r>
                        <a:rPr lang="en-US" sz="1700">
                          <a:latin typeface="Calibri" panose="020F0502020204030204" pitchFamily="34" charset="0"/>
                          <a:ea typeface="Calibri" panose="020F0502020204030204" pitchFamily="34" charset="0"/>
                          <a:cs typeface="Calibri" panose="020F0502020204030204" pitchFamily="34" charset="0"/>
                        </a:rPr>
                        <a:t>Support tier has no business on HIGH-tier data</a:t>
                      </a:r>
                    </a:p>
                  </a:txBody>
                  <a:tcPr marL="87893" marR="87893" marT="43946" marB="43946" anchor="ctr"/>
                </a:tc>
                <a:extLst>
                  <a:ext uri="{0D108BD9-81ED-4DB2-BD59-A6C34878D82A}">
                    <a16:rowId xmlns:a16="http://schemas.microsoft.com/office/drawing/2014/main" val="2099273533"/>
                  </a:ext>
                </a:extLst>
              </a:tr>
              <a:tr h="836724">
                <a:tc>
                  <a:txBody>
                    <a:bodyPr/>
                    <a:lstStyle/>
                    <a:p>
                      <a:pPr>
                        <a:buNone/>
                      </a:pPr>
                      <a:r>
                        <a:rPr lang="en-US" sz="1700">
                          <a:latin typeface="Calibri" panose="020F0502020204030204" pitchFamily="34" charset="0"/>
                          <a:ea typeface="Calibri" panose="020F0502020204030204" pitchFamily="34" charset="0"/>
                          <a:cs typeface="Calibri" panose="020F0502020204030204" pitchFamily="34" charset="0"/>
                        </a:rPr>
                        <a:t>moderator ∧ request_count &gt; 25 ∧ owner_match = 0</a:t>
                      </a:r>
                    </a:p>
                  </a:txBody>
                  <a:tcPr marL="87893" marR="87893" marT="43946" marB="43946" anchor="ctr"/>
                </a:tc>
                <a:tc>
                  <a:txBody>
                    <a:bodyPr/>
                    <a:lstStyle/>
                    <a:p>
                      <a:pPr>
                        <a:buNone/>
                      </a:pPr>
                      <a:r>
                        <a:rPr lang="en-US" sz="1700">
                          <a:latin typeface="Calibri" panose="020F0502020204030204" pitchFamily="34" charset="0"/>
                          <a:ea typeface="Calibri" panose="020F0502020204030204" pitchFamily="34" charset="0"/>
                          <a:cs typeface="Calibri" panose="020F0502020204030204" pitchFamily="34" charset="0"/>
                        </a:rPr>
                        <a:t>Bulk cross-record harvesting</a:t>
                      </a:r>
                    </a:p>
                  </a:txBody>
                  <a:tcPr marL="87893" marR="87893" marT="43946" marB="43946" anchor="ctr"/>
                </a:tc>
                <a:extLst>
                  <a:ext uri="{0D108BD9-81ED-4DB2-BD59-A6C34878D82A}">
                    <a16:rowId xmlns:a16="http://schemas.microsoft.com/office/drawing/2014/main" val="2402477790"/>
                  </a:ext>
                </a:extLst>
              </a:tr>
              <a:tr h="836724">
                <a:tc>
                  <a:txBody>
                    <a:bodyPr/>
                    <a:lstStyle/>
                    <a:p>
                      <a:pPr>
                        <a:buNone/>
                      </a:pPr>
                      <a:r>
                        <a:rPr lang="en-US" sz="1700">
                          <a:latin typeface="Calibri" panose="020F0502020204030204" pitchFamily="34" charset="0"/>
                          <a:ea typeface="Calibri" panose="020F0502020204030204" pitchFamily="34" charset="0"/>
                          <a:cs typeface="Calibri" panose="020F0502020204030204" pitchFamily="34" charset="0"/>
                        </a:rPr>
                        <a:t>admin ∧ off-hours ∧ sensitivity = HIGH ∧ request_count &gt; 20</a:t>
                      </a:r>
                    </a:p>
                  </a:txBody>
                  <a:tcPr marL="87893" marR="87893" marT="43946" marB="43946" anchor="ctr"/>
                </a:tc>
                <a:tc>
                  <a:txBody>
                    <a:bodyPr/>
                    <a:lstStyle/>
                    <a:p>
                      <a:pPr>
                        <a:buNone/>
                      </a:pPr>
                      <a:r>
                        <a:rPr lang="en-US" sz="1700">
                          <a:latin typeface="Calibri" panose="020F0502020204030204" pitchFamily="34" charset="0"/>
                          <a:ea typeface="Calibri" panose="020F0502020204030204" pitchFamily="34" charset="0"/>
                          <a:cs typeface="Calibri" panose="020F0502020204030204" pitchFamily="34" charset="0"/>
                        </a:rPr>
                        <a:t>Compromised super-user pattern</a:t>
                      </a:r>
                    </a:p>
                  </a:txBody>
                  <a:tcPr marL="87893" marR="87893" marT="43946" marB="43946" anchor="ctr"/>
                </a:tc>
                <a:extLst>
                  <a:ext uri="{0D108BD9-81ED-4DB2-BD59-A6C34878D82A}">
                    <a16:rowId xmlns:a16="http://schemas.microsoft.com/office/drawing/2014/main" val="1128097085"/>
                  </a:ext>
                </a:extLst>
              </a:tr>
              <a:tr h="497512">
                <a:tc>
                  <a:txBody>
                    <a:bodyPr/>
                    <a:lstStyle/>
                    <a:p>
                      <a:pPr>
                        <a:buNone/>
                      </a:pPr>
                      <a:r>
                        <a:rPr lang="en-US" sz="1700">
                          <a:latin typeface="Calibri" panose="020F0502020204030204" pitchFamily="34" charset="0"/>
                          <a:ea typeface="Calibri" panose="020F0502020204030204" pitchFamily="34" charset="0"/>
                          <a:cs typeface="Calibri" panose="020F0502020204030204" pitchFamily="34" charset="0"/>
                        </a:rPr>
                        <a:t>failed_attempts ≥ 5 (any role)</a:t>
                      </a:r>
                    </a:p>
                  </a:txBody>
                  <a:tcPr marL="87893" marR="87893" marT="43946" marB="43946" anchor="ctr"/>
                </a:tc>
                <a:tc>
                  <a:txBody>
                    <a:bodyPr/>
                    <a:lstStyle/>
                    <a:p>
                      <a:pPr>
                        <a:buNone/>
                      </a:pPr>
                      <a:r>
                        <a:rPr lang="en-US" sz="1700" dirty="0">
                          <a:latin typeface="Calibri" panose="020F0502020204030204" pitchFamily="34" charset="0"/>
                          <a:ea typeface="Calibri" panose="020F0502020204030204" pitchFamily="34" charset="0"/>
                          <a:cs typeface="Calibri" panose="020F0502020204030204" pitchFamily="34" charset="0"/>
                        </a:rPr>
                        <a:t>Post-brute-force account takeover</a:t>
                      </a:r>
                    </a:p>
                  </a:txBody>
                  <a:tcPr marL="87893" marR="87893" marT="43946" marB="43946" anchor="ctr"/>
                </a:tc>
                <a:extLst>
                  <a:ext uri="{0D108BD9-81ED-4DB2-BD59-A6C34878D82A}">
                    <a16:rowId xmlns:a16="http://schemas.microsoft.com/office/drawing/2014/main" val="3409925434"/>
                  </a:ext>
                </a:extLst>
              </a:tr>
            </a:tbl>
          </a:graphicData>
        </a:graphic>
      </p:graphicFrame>
    </p:spTree>
    <p:extLst>
      <p:ext uri="{BB962C8B-B14F-4D97-AF65-F5344CB8AC3E}">
        <p14:creationId xmlns:p14="http://schemas.microsoft.com/office/powerpoint/2010/main" val="41000675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122D3-7250-F05E-B76C-9DA88DDB98A4}"/>
              </a:ext>
            </a:extLst>
          </p:cNvPr>
          <p:cNvSpPr>
            <a:spLocks noGrp="1"/>
          </p:cNvSpPr>
          <p:nvPr>
            <p:ph type="title"/>
          </p:nvPr>
        </p:nvSpPr>
        <p:spPr>
          <a:xfrm>
            <a:off x="557514" y="136525"/>
            <a:ext cx="11076972" cy="716915"/>
          </a:xfrm>
          <a:solidFill>
            <a:schemeClr val="bg2"/>
          </a:solidFill>
        </p:spPr>
        <p:txBody>
          <a:bodyPr>
            <a:normAutofit fontScale="90000"/>
          </a:bodyPr>
          <a:lstStyle/>
          <a:p>
            <a:r>
              <a:rPr lang="en-US" dirty="0">
                <a:solidFill>
                  <a:schemeClr val="accent4">
                    <a:lumMod val="50000"/>
                  </a:schemeClr>
                </a:solidFill>
                <a:latin typeface="Calibri" panose="020F0502020204030204" pitchFamily="34" charset="0"/>
                <a:ea typeface="Calibri" panose="020F0502020204030204" pitchFamily="34" charset="0"/>
                <a:cs typeface="Calibri" panose="020F0502020204030204" pitchFamily="34" charset="0"/>
              </a:rPr>
              <a:t>MEDIUM-risk labeling rules of the dataset generator.</a:t>
            </a:r>
          </a:p>
        </p:txBody>
      </p:sp>
      <p:sp>
        <p:nvSpPr>
          <p:cNvPr id="3" name="Date Placeholder 2">
            <a:extLst>
              <a:ext uri="{FF2B5EF4-FFF2-40B4-BE49-F238E27FC236}">
                <a16:creationId xmlns:a16="http://schemas.microsoft.com/office/drawing/2014/main" id="{1EB1A4F4-EFC9-088C-5DA4-BFD359E81EAE}"/>
              </a:ext>
            </a:extLst>
          </p:cNvPr>
          <p:cNvSpPr>
            <a:spLocks noGrp="1"/>
          </p:cNvSpPr>
          <p:nvPr>
            <p:ph type="dt" sz="half" idx="10"/>
          </p:nvPr>
        </p:nvSpPr>
        <p:spPr/>
        <p:txBody>
          <a:bodyPr/>
          <a:lstStyle/>
          <a:p>
            <a:fld id="{1E300BD0-E5C2-4A74-9E3E-BB244319C3D5}" type="datetime1">
              <a:rPr lang="en-US" smtClean="0"/>
              <a:t>10-Jul-26</a:t>
            </a:fld>
            <a:endParaRPr lang="en-US"/>
          </a:p>
        </p:txBody>
      </p:sp>
      <p:sp>
        <p:nvSpPr>
          <p:cNvPr id="4" name="Slide Number Placeholder 3">
            <a:extLst>
              <a:ext uri="{FF2B5EF4-FFF2-40B4-BE49-F238E27FC236}">
                <a16:creationId xmlns:a16="http://schemas.microsoft.com/office/drawing/2014/main" id="{D4EF9121-AC73-C1EF-4BF1-EFCE2DCB4354}"/>
              </a:ext>
            </a:extLst>
          </p:cNvPr>
          <p:cNvSpPr>
            <a:spLocks noGrp="1"/>
          </p:cNvSpPr>
          <p:nvPr>
            <p:ph type="sldNum" sz="quarter" idx="12"/>
          </p:nvPr>
        </p:nvSpPr>
        <p:spPr/>
        <p:txBody>
          <a:bodyPr/>
          <a:lstStyle/>
          <a:p>
            <a:fld id="{7A1EA063-F1A0-4337-9BB4-F912B647AF2A}" type="slidenum">
              <a:rPr lang="en-US" smtClean="0"/>
              <a:t>14</a:t>
            </a:fld>
            <a:endParaRPr lang="en-US"/>
          </a:p>
        </p:txBody>
      </p:sp>
      <p:graphicFrame>
        <p:nvGraphicFramePr>
          <p:cNvPr id="8" name="Content Placeholder 4">
            <a:extLst>
              <a:ext uri="{FF2B5EF4-FFF2-40B4-BE49-F238E27FC236}">
                <a16:creationId xmlns:a16="http://schemas.microsoft.com/office/drawing/2014/main" id="{435EDAEC-3D42-4A4F-1767-35CB58691708}"/>
              </a:ext>
            </a:extLst>
          </p:cNvPr>
          <p:cNvGraphicFramePr>
            <a:graphicFrameLocks/>
          </p:cNvGraphicFramePr>
          <p:nvPr>
            <p:extLst>
              <p:ext uri="{D42A27DB-BD31-4B8C-83A1-F6EECF244321}">
                <p14:modId xmlns:p14="http://schemas.microsoft.com/office/powerpoint/2010/main" val="3387186008"/>
              </p:ext>
            </p:extLst>
          </p:nvPr>
        </p:nvGraphicFramePr>
        <p:xfrm>
          <a:off x="557513" y="1145604"/>
          <a:ext cx="11076972" cy="5102796"/>
        </p:xfrm>
        <a:graphic>
          <a:graphicData uri="http://schemas.openxmlformats.org/drawingml/2006/table">
            <a:tbl>
              <a:tblPr firstRow="1" bandRow="1">
                <a:tableStyleId>{5C22544A-7EE6-4342-B048-85BDC9FD1C3A}</a:tableStyleId>
              </a:tblPr>
              <a:tblGrid>
                <a:gridCol w="5521065">
                  <a:extLst>
                    <a:ext uri="{9D8B030D-6E8A-4147-A177-3AD203B41FA5}">
                      <a16:colId xmlns:a16="http://schemas.microsoft.com/office/drawing/2014/main" val="2899949008"/>
                    </a:ext>
                  </a:extLst>
                </a:gridCol>
                <a:gridCol w="5555907">
                  <a:extLst>
                    <a:ext uri="{9D8B030D-6E8A-4147-A177-3AD203B41FA5}">
                      <a16:colId xmlns:a16="http://schemas.microsoft.com/office/drawing/2014/main" val="2013281631"/>
                    </a:ext>
                  </a:extLst>
                </a:gridCol>
              </a:tblGrid>
              <a:tr h="584696">
                <a:tc>
                  <a:txBody>
                    <a:bodyPr/>
                    <a:lstStyle/>
                    <a:p>
                      <a:pPr algn="ctr">
                        <a:buNone/>
                      </a:pPr>
                      <a:r>
                        <a:rPr lang="en-US" sz="1700" dirty="0">
                          <a:latin typeface="Calibri" panose="020F0502020204030204" pitchFamily="34" charset="0"/>
                          <a:ea typeface="Calibri" panose="020F0502020204030204" pitchFamily="34" charset="0"/>
                          <a:cs typeface="Calibri" panose="020F0502020204030204" pitchFamily="34" charset="0"/>
                        </a:rPr>
                        <a:t>MEDIUM-risk rule (label = 1)</a:t>
                      </a:r>
                    </a:p>
                  </a:txBody>
                  <a:tcPr marL="87893" marR="87893" marT="43946" marB="43946" anchor="ctr"/>
                </a:tc>
                <a:tc>
                  <a:txBody>
                    <a:bodyPr/>
                    <a:lstStyle/>
                    <a:p>
                      <a:pPr algn="ctr">
                        <a:buNone/>
                      </a:pPr>
                      <a:r>
                        <a:rPr lang="en-US" sz="1700" dirty="0">
                          <a:latin typeface="Calibri" panose="020F0502020204030204" pitchFamily="34" charset="0"/>
                          <a:ea typeface="Calibri" panose="020F0502020204030204" pitchFamily="34" charset="0"/>
                          <a:cs typeface="Calibri" panose="020F0502020204030204" pitchFamily="34" charset="0"/>
                        </a:rPr>
                        <a:t>Threat interpretation</a:t>
                      </a:r>
                    </a:p>
                  </a:txBody>
                  <a:tcPr marL="87893" marR="87893" marT="43946" marB="43946" anchor="ctr"/>
                </a:tc>
                <a:extLst>
                  <a:ext uri="{0D108BD9-81ED-4DB2-BD59-A6C34878D82A}">
                    <a16:rowId xmlns:a16="http://schemas.microsoft.com/office/drawing/2014/main" val="1905908992"/>
                  </a:ext>
                </a:extLst>
              </a:tr>
              <a:tr h="983351">
                <a:tc>
                  <a:txBody>
                    <a:bodyPr/>
                    <a:lstStyle/>
                    <a:p>
                      <a:pPr>
                        <a:buNone/>
                      </a:pPr>
                      <a:r>
                        <a:rPr lang="en-US" sz="1700" dirty="0">
                          <a:latin typeface="Calibri" panose="020F0502020204030204" pitchFamily="34" charset="0"/>
                          <a:ea typeface="Calibri" panose="020F0502020204030204" pitchFamily="34" charset="0"/>
                          <a:cs typeface="Calibri" panose="020F0502020204030204" pitchFamily="34" charset="0"/>
                        </a:rPr>
                        <a:t>customer ∧ </a:t>
                      </a:r>
                      <a:r>
                        <a:rPr lang="en-US" sz="1700" dirty="0" err="1">
                          <a:latin typeface="Calibri" panose="020F0502020204030204" pitchFamily="34" charset="0"/>
                          <a:ea typeface="Calibri" panose="020F0502020204030204" pitchFamily="34" charset="0"/>
                          <a:cs typeface="Calibri" panose="020F0502020204030204" pitchFamily="34" charset="0"/>
                        </a:rPr>
                        <a:t>owner_match</a:t>
                      </a:r>
                      <a:r>
                        <a:rPr lang="en-US" sz="1700" dirty="0">
                          <a:latin typeface="Calibri" panose="020F0502020204030204" pitchFamily="34" charset="0"/>
                          <a:ea typeface="Calibri" panose="020F0502020204030204" pitchFamily="34" charset="0"/>
                          <a:cs typeface="Calibri" panose="020F0502020204030204" pitchFamily="34" charset="0"/>
                        </a:rPr>
                        <a:t> = 0 ∧ sensitivity = LOW</a:t>
                      </a:r>
                    </a:p>
                  </a:txBody>
                  <a:tcPr marL="87893" marR="87893" marT="43946" marB="43946" anchor="ctr"/>
                </a:tc>
                <a:tc>
                  <a:txBody>
                    <a:bodyPr/>
                    <a:lstStyle/>
                    <a:p>
                      <a:pPr marL="0" indent="0" algn="l">
                        <a:buNone/>
                      </a:pPr>
                      <a:r>
                        <a:rPr lang="en-US" sz="1800">
                          <a:solidFill>
                            <a:srgbClr val="000000"/>
                          </a:solidFill>
                          <a:latin typeface="Calibri" panose="020F0502020204030204" pitchFamily="34" charset="0"/>
                          <a:ea typeface="Calibri" panose="020F0502020204030204" pitchFamily="34" charset="0"/>
                          <a:cs typeface="Calibri" panose="020F0502020204030204" pitchFamily="34" charset="0"/>
                        </a:rPr>
                        <a:t>Cross-record access on public-tier data</a:t>
                      </a:r>
                      <a:endParaRPr lang="en-US" sz="1800" dirty="0">
                        <a:latin typeface="Calibri" panose="020F0502020204030204" pitchFamily="34" charset="0"/>
                        <a:ea typeface="Calibri" panose="020F0502020204030204" pitchFamily="34" charset="0"/>
                        <a:cs typeface="Calibri" panose="020F0502020204030204" pitchFamily="34" charset="0"/>
                      </a:endParaRPr>
                    </a:p>
                  </a:txBody>
                  <a:tcPr marL="87893" marR="87893" marT="43946" marB="43946" anchor="ctr"/>
                </a:tc>
                <a:extLst>
                  <a:ext uri="{0D108BD9-81ED-4DB2-BD59-A6C34878D82A}">
                    <a16:rowId xmlns:a16="http://schemas.microsoft.com/office/drawing/2014/main" val="3629784933"/>
                  </a:ext>
                </a:extLst>
              </a:tr>
              <a:tr h="584696">
                <a:tc>
                  <a:txBody>
                    <a:bodyPr/>
                    <a:lstStyle/>
                    <a:p>
                      <a:pPr marL="0" indent="0" algn="l">
                        <a:buNone/>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customer ∧ </a:t>
                      </a:r>
                      <a:r>
                        <a:rPr lang="en-US" sz="1800" dirty="0" err="1">
                          <a:solidFill>
                            <a:srgbClr val="000000"/>
                          </a:solidFill>
                          <a:latin typeface="Calibri" panose="020F0502020204030204" pitchFamily="34" charset="0"/>
                          <a:ea typeface="Calibri" panose="020F0502020204030204" pitchFamily="34" charset="0"/>
                          <a:cs typeface="Calibri" panose="020F0502020204030204" pitchFamily="34" charset="0"/>
                        </a:rPr>
                        <a:t>request_count</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 ∈ [9, 15]</a:t>
                      </a:r>
                      <a:endParaRPr lang="en-US" sz="1800" dirty="0">
                        <a:latin typeface="Calibri" panose="020F0502020204030204" pitchFamily="34" charset="0"/>
                        <a:ea typeface="Calibri" panose="020F0502020204030204" pitchFamily="34" charset="0"/>
                        <a:cs typeface="Calibri" panose="020F0502020204030204" pitchFamily="34" charset="0"/>
                      </a:endParaRPr>
                    </a:p>
                  </a:txBody>
                  <a:tcPr marL="87893" marR="87893" marT="43946" marB="43946" anchor="ctr"/>
                </a:tc>
                <a:tc>
                  <a:txBody>
                    <a:bodyPr/>
                    <a:lstStyle/>
                    <a:p>
                      <a:pPr marL="0" indent="0" algn="l">
                        <a:buNone/>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Elevated velocity below the attack threshold</a:t>
                      </a:r>
                      <a:endParaRPr lang="en-US" sz="1800" dirty="0">
                        <a:latin typeface="Calibri" panose="020F0502020204030204" pitchFamily="34" charset="0"/>
                        <a:ea typeface="Calibri" panose="020F0502020204030204" pitchFamily="34" charset="0"/>
                        <a:cs typeface="Calibri" panose="020F0502020204030204" pitchFamily="34" charset="0"/>
                      </a:endParaRPr>
                    </a:p>
                  </a:txBody>
                  <a:tcPr marL="87893" marR="87893" marT="43946" marB="43946" anchor="ctr"/>
                </a:tc>
                <a:extLst>
                  <a:ext uri="{0D108BD9-81ED-4DB2-BD59-A6C34878D82A}">
                    <a16:rowId xmlns:a16="http://schemas.microsoft.com/office/drawing/2014/main" val="1344199014"/>
                  </a:ext>
                </a:extLst>
              </a:tr>
              <a:tr h="983351">
                <a:tc>
                  <a:txBody>
                    <a:bodyPr/>
                    <a:lstStyle/>
                    <a:p>
                      <a:pPr marL="0" indent="0" algn="l">
                        <a:buNone/>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moderator ∧ off-hours ∧ sensitivity = MEDIUM</a:t>
                      </a:r>
                      <a:endParaRPr lang="en-US" sz="1800" dirty="0">
                        <a:latin typeface="Calibri" panose="020F0502020204030204" pitchFamily="34" charset="0"/>
                        <a:ea typeface="Calibri" panose="020F0502020204030204" pitchFamily="34" charset="0"/>
                        <a:cs typeface="Calibri" panose="020F0502020204030204" pitchFamily="34" charset="0"/>
                      </a:endParaRPr>
                    </a:p>
                  </a:txBody>
                  <a:tcPr marL="87893" marR="87893" marT="43946" marB="43946" anchor="ctr"/>
                </a:tc>
                <a:tc>
                  <a:txBody>
                    <a:bodyPr/>
                    <a:lstStyle/>
                    <a:p>
                      <a:pPr marL="0" indent="0" algn="l">
                        <a:buNone/>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Unusual time for support work on personal data</a:t>
                      </a:r>
                      <a:endParaRPr lang="en-US" sz="1800" dirty="0">
                        <a:latin typeface="Calibri" panose="020F0502020204030204" pitchFamily="34" charset="0"/>
                        <a:ea typeface="Calibri" panose="020F0502020204030204" pitchFamily="34" charset="0"/>
                        <a:cs typeface="Calibri" panose="020F0502020204030204" pitchFamily="34" charset="0"/>
                      </a:endParaRPr>
                    </a:p>
                  </a:txBody>
                  <a:tcPr marL="87893" marR="87893" marT="43946" marB="43946" anchor="ctr"/>
                </a:tc>
                <a:extLst>
                  <a:ext uri="{0D108BD9-81ED-4DB2-BD59-A6C34878D82A}">
                    <a16:rowId xmlns:a16="http://schemas.microsoft.com/office/drawing/2014/main" val="2099273533"/>
                  </a:ext>
                </a:extLst>
              </a:tr>
              <a:tr h="983351">
                <a:tc>
                  <a:txBody>
                    <a:bodyPr/>
                    <a:lstStyle/>
                    <a:p>
                      <a:pPr marL="0" indent="0" algn="l">
                        <a:buNone/>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admin ∧ </a:t>
                      </a:r>
                      <a:r>
                        <a:rPr lang="en-US" sz="1800" dirty="0" err="1">
                          <a:solidFill>
                            <a:srgbClr val="000000"/>
                          </a:solidFill>
                          <a:latin typeface="Calibri" panose="020F0502020204030204" pitchFamily="34" charset="0"/>
                          <a:ea typeface="Calibri" panose="020F0502020204030204" pitchFamily="34" charset="0"/>
                          <a:cs typeface="Calibri" panose="020F0502020204030204" pitchFamily="34" charset="0"/>
                        </a:rPr>
                        <a:t>failed_attempts</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 ∈ {3, 4}</a:t>
                      </a:r>
                      <a:endParaRPr lang="en-US" sz="1800" dirty="0">
                        <a:latin typeface="Calibri" panose="020F0502020204030204" pitchFamily="34" charset="0"/>
                        <a:ea typeface="Calibri" panose="020F0502020204030204" pitchFamily="34" charset="0"/>
                        <a:cs typeface="Calibri" panose="020F0502020204030204" pitchFamily="34" charset="0"/>
                      </a:endParaRPr>
                    </a:p>
                  </a:txBody>
                  <a:tcPr marL="87893" marR="87893" marT="43946" marB="43946" anchor="ctr"/>
                </a:tc>
                <a:tc>
                  <a:txBody>
                    <a:bodyPr/>
                    <a:lstStyle/>
                    <a:p>
                      <a:pPr marL="0" indent="0" algn="l">
                        <a:buNone/>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Moderate authentication friction on a privileged</a:t>
                      </a:r>
                      <a:endParaRPr lang="en-US" sz="1800" dirty="0">
                        <a:latin typeface="Calibri" panose="020F0502020204030204" pitchFamily="34" charset="0"/>
                        <a:ea typeface="Calibri" panose="020F0502020204030204" pitchFamily="34" charset="0"/>
                        <a:cs typeface="Calibri" panose="020F0502020204030204" pitchFamily="34" charset="0"/>
                      </a:endParaRPr>
                    </a:p>
                  </a:txBody>
                  <a:tcPr marL="87893" marR="87893" marT="43946" marB="43946" anchor="ctr"/>
                </a:tc>
                <a:extLst>
                  <a:ext uri="{0D108BD9-81ED-4DB2-BD59-A6C34878D82A}">
                    <a16:rowId xmlns:a16="http://schemas.microsoft.com/office/drawing/2014/main" val="2402477790"/>
                  </a:ext>
                </a:extLst>
              </a:tr>
              <a:tr h="983351">
                <a:tc>
                  <a:txBody>
                    <a:bodyPr/>
                    <a:lstStyle/>
                    <a:p>
                      <a:pPr marL="0" indent="0" algn="l">
                        <a:buNone/>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(moderator ∨ admin) ∧ </a:t>
                      </a:r>
                      <a:r>
                        <a:rPr lang="en-US" sz="1800" dirty="0" err="1">
                          <a:solidFill>
                            <a:srgbClr val="000000"/>
                          </a:solidFill>
                          <a:latin typeface="Calibri" panose="020F0502020204030204" pitchFamily="34" charset="0"/>
                          <a:ea typeface="Calibri" panose="020F0502020204030204" pitchFamily="34" charset="0"/>
                          <a:cs typeface="Calibri" panose="020F0502020204030204" pitchFamily="34" charset="0"/>
                        </a:rPr>
                        <a:t>request_count</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 &gt; 18</a:t>
                      </a:r>
                      <a:endParaRPr lang="en-US" sz="1800" dirty="0">
                        <a:latin typeface="Calibri" panose="020F0502020204030204" pitchFamily="34" charset="0"/>
                        <a:ea typeface="Calibri" panose="020F0502020204030204" pitchFamily="34" charset="0"/>
                        <a:cs typeface="Calibri" panose="020F0502020204030204" pitchFamily="34" charset="0"/>
                      </a:endParaRPr>
                    </a:p>
                  </a:txBody>
                  <a:tcPr marL="87893" marR="87893" marT="43946" marB="43946" anchor="ctr"/>
                </a:tc>
                <a:tc>
                  <a:txBody>
                    <a:bodyPr/>
                    <a:lstStyle/>
                    <a:p>
                      <a:pPr marL="0" indent="0" algn="l">
                        <a:buNone/>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Staff-tier volume anomaly</a:t>
                      </a:r>
                      <a:endParaRPr lang="en-US" sz="1800" dirty="0">
                        <a:latin typeface="Calibri" panose="020F0502020204030204" pitchFamily="34" charset="0"/>
                        <a:ea typeface="Calibri" panose="020F0502020204030204" pitchFamily="34" charset="0"/>
                        <a:cs typeface="Calibri" panose="020F0502020204030204" pitchFamily="34" charset="0"/>
                      </a:endParaRPr>
                    </a:p>
                  </a:txBody>
                  <a:tcPr marL="87893" marR="87893" marT="43946" marB="43946" anchor="ctr"/>
                </a:tc>
                <a:extLst>
                  <a:ext uri="{0D108BD9-81ED-4DB2-BD59-A6C34878D82A}">
                    <a16:rowId xmlns:a16="http://schemas.microsoft.com/office/drawing/2014/main" val="1128097085"/>
                  </a:ext>
                </a:extLst>
              </a:tr>
            </a:tbl>
          </a:graphicData>
        </a:graphic>
      </p:graphicFrame>
    </p:spTree>
    <p:extLst>
      <p:ext uri="{BB962C8B-B14F-4D97-AF65-F5344CB8AC3E}">
        <p14:creationId xmlns:p14="http://schemas.microsoft.com/office/powerpoint/2010/main" val="39829003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122D3-7250-F05E-B76C-9DA88DDB98A4}"/>
              </a:ext>
            </a:extLst>
          </p:cNvPr>
          <p:cNvSpPr>
            <a:spLocks noGrp="1"/>
          </p:cNvSpPr>
          <p:nvPr>
            <p:ph type="title"/>
          </p:nvPr>
        </p:nvSpPr>
        <p:spPr>
          <a:xfrm>
            <a:off x="1065160" y="136525"/>
            <a:ext cx="10061680" cy="716915"/>
          </a:xfrm>
          <a:solidFill>
            <a:schemeClr val="bg2"/>
          </a:solidFill>
        </p:spPr>
        <p:txBody>
          <a:bodyPr>
            <a:normAutofit/>
          </a:bodyPr>
          <a:lstStyle/>
          <a:p>
            <a:r>
              <a:rPr lang="en-US" dirty="0">
                <a:solidFill>
                  <a:schemeClr val="accent4">
                    <a:lumMod val="50000"/>
                  </a:schemeClr>
                </a:solidFill>
                <a:latin typeface="Calibri" panose="020F0502020204030204" pitchFamily="34" charset="0"/>
                <a:ea typeface="Calibri" panose="020F0502020204030204" pitchFamily="34" charset="0"/>
                <a:cs typeface="Calibri" panose="020F0502020204030204" pitchFamily="34" charset="0"/>
              </a:rPr>
              <a:t>Dataset partitions</a:t>
            </a:r>
          </a:p>
        </p:txBody>
      </p:sp>
      <p:sp>
        <p:nvSpPr>
          <p:cNvPr id="3" name="Date Placeholder 2">
            <a:extLst>
              <a:ext uri="{FF2B5EF4-FFF2-40B4-BE49-F238E27FC236}">
                <a16:creationId xmlns:a16="http://schemas.microsoft.com/office/drawing/2014/main" id="{1EB1A4F4-EFC9-088C-5DA4-BFD359E81EAE}"/>
              </a:ext>
            </a:extLst>
          </p:cNvPr>
          <p:cNvSpPr>
            <a:spLocks noGrp="1"/>
          </p:cNvSpPr>
          <p:nvPr>
            <p:ph type="dt" sz="half" idx="10"/>
          </p:nvPr>
        </p:nvSpPr>
        <p:spPr/>
        <p:txBody>
          <a:bodyPr/>
          <a:lstStyle/>
          <a:p>
            <a:fld id="{1E300BD0-E5C2-4A74-9E3E-BB244319C3D5}" type="datetime1">
              <a:rPr lang="en-US" smtClean="0"/>
              <a:t>10-Jul-26</a:t>
            </a:fld>
            <a:endParaRPr lang="en-US"/>
          </a:p>
        </p:txBody>
      </p:sp>
      <p:sp>
        <p:nvSpPr>
          <p:cNvPr id="4" name="Slide Number Placeholder 3">
            <a:extLst>
              <a:ext uri="{FF2B5EF4-FFF2-40B4-BE49-F238E27FC236}">
                <a16:creationId xmlns:a16="http://schemas.microsoft.com/office/drawing/2014/main" id="{D4EF9121-AC73-C1EF-4BF1-EFCE2DCB4354}"/>
              </a:ext>
            </a:extLst>
          </p:cNvPr>
          <p:cNvSpPr>
            <a:spLocks noGrp="1"/>
          </p:cNvSpPr>
          <p:nvPr>
            <p:ph type="sldNum" sz="quarter" idx="12"/>
          </p:nvPr>
        </p:nvSpPr>
        <p:spPr/>
        <p:txBody>
          <a:bodyPr/>
          <a:lstStyle/>
          <a:p>
            <a:fld id="{7A1EA063-F1A0-4337-9BB4-F912B647AF2A}" type="slidenum">
              <a:rPr lang="en-US" smtClean="0"/>
              <a:t>15</a:t>
            </a:fld>
            <a:endParaRPr lang="en-US"/>
          </a:p>
        </p:txBody>
      </p:sp>
      <p:graphicFrame>
        <p:nvGraphicFramePr>
          <p:cNvPr id="5" name="Table 4">
            <a:extLst>
              <a:ext uri="{FF2B5EF4-FFF2-40B4-BE49-F238E27FC236}">
                <a16:creationId xmlns:a16="http://schemas.microsoft.com/office/drawing/2014/main" id="{A2DFC6B1-227F-2CBC-C168-F765566DC70D}"/>
              </a:ext>
            </a:extLst>
          </p:cNvPr>
          <p:cNvGraphicFramePr>
            <a:graphicFrameLocks noGrp="1"/>
          </p:cNvGraphicFramePr>
          <p:nvPr>
            <p:extLst>
              <p:ext uri="{D42A27DB-BD31-4B8C-83A1-F6EECF244321}">
                <p14:modId xmlns:p14="http://schemas.microsoft.com/office/powerpoint/2010/main" val="4288128265"/>
              </p:ext>
            </p:extLst>
          </p:nvPr>
        </p:nvGraphicFramePr>
        <p:xfrm>
          <a:off x="1065160" y="1606936"/>
          <a:ext cx="10061680" cy="4726370"/>
        </p:xfrm>
        <a:graphic>
          <a:graphicData uri="http://schemas.openxmlformats.org/drawingml/2006/table">
            <a:tbl>
              <a:tblPr firstRow="1" bandRow="1">
                <a:tableStyleId>{5C22544A-7EE6-4342-B048-85BDC9FD1C3A}</a:tableStyleId>
              </a:tblPr>
              <a:tblGrid>
                <a:gridCol w="2515420">
                  <a:extLst>
                    <a:ext uri="{9D8B030D-6E8A-4147-A177-3AD203B41FA5}">
                      <a16:colId xmlns:a16="http://schemas.microsoft.com/office/drawing/2014/main" val="4121201979"/>
                    </a:ext>
                  </a:extLst>
                </a:gridCol>
                <a:gridCol w="2515420">
                  <a:extLst>
                    <a:ext uri="{9D8B030D-6E8A-4147-A177-3AD203B41FA5}">
                      <a16:colId xmlns:a16="http://schemas.microsoft.com/office/drawing/2014/main" val="293461592"/>
                    </a:ext>
                  </a:extLst>
                </a:gridCol>
                <a:gridCol w="2515420">
                  <a:extLst>
                    <a:ext uri="{9D8B030D-6E8A-4147-A177-3AD203B41FA5}">
                      <a16:colId xmlns:a16="http://schemas.microsoft.com/office/drawing/2014/main" val="1826046763"/>
                    </a:ext>
                  </a:extLst>
                </a:gridCol>
                <a:gridCol w="2515420">
                  <a:extLst>
                    <a:ext uri="{9D8B030D-6E8A-4147-A177-3AD203B41FA5}">
                      <a16:colId xmlns:a16="http://schemas.microsoft.com/office/drawing/2014/main" val="1898632416"/>
                    </a:ext>
                  </a:extLst>
                </a:gridCol>
              </a:tblGrid>
              <a:tr h="562847">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Partition</a:t>
                      </a: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Samples</a:t>
                      </a: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Purpose</a:t>
                      </a: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Class balance</a:t>
                      </a:r>
                    </a:p>
                  </a:txBody>
                  <a:tcPr/>
                </a:tc>
                <a:extLst>
                  <a:ext uri="{0D108BD9-81ED-4DB2-BD59-A6C34878D82A}">
                    <a16:rowId xmlns:a16="http://schemas.microsoft.com/office/drawing/2014/main" val="3916896393"/>
                  </a:ext>
                </a:extLst>
              </a:tr>
              <a:tr h="1804193">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Training</a:t>
                      </a: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7000 (70%)</a:t>
                      </a: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Model fitting</a:t>
                      </a:r>
                    </a:p>
                  </a:txBody>
                  <a:tcPr/>
                </a:tc>
                <a:tc>
                  <a:txBody>
                    <a:bodyPr/>
                    <a:lstStyle/>
                    <a:p>
                      <a:r>
                        <a:rPr lang="en-US" dirty="0">
                          <a:latin typeface="Calibri" panose="020F0502020204030204" pitchFamily="34" charset="0"/>
                          <a:ea typeface="Calibri" panose="020F0502020204030204" pitchFamily="34" charset="0"/>
                          <a:cs typeface="Calibri" panose="020F0502020204030204" pitchFamily="34" charset="0"/>
                        </a:rPr>
                        <a:t>Stratified: ≈85% LOW / ≈6% MEDIUM / ≈9% HIGH</a:t>
                      </a:r>
                    </a:p>
                  </a:txBody>
                  <a:tcPr/>
                </a:tc>
                <a:extLst>
                  <a:ext uri="{0D108BD9-81ED-4DB2-BD59-A6C34878D82A}">
                    <a16:rowId xmlns:a16="http://schemas.microsoft.com/office/drawing/2014/main" val="1223414308"/>
                  </a:ext>
                </a:extLst>
              </a:tr>
              <a:tr h="971489">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Validation</a:t>
                      </a: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1500 (15%)</a:t>
                      </a: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Hyperparameter tuning</a:t>
                      </a:r>
                    </a:p>
                  </a:txBody>
                  <a:tcPr/>
                </a:tc>
                <a:tc>
                  <a:txBody>
                    <a:bodyPr/>
                    <a:lstStyle/>
                    <a:p>
                      <a:r>
                        <a:rPr lang="en-US" dirty="0">
                          <a:latin typeface="Calibri" panose="020F0502020204030204" pitchFamily="34" charset="0"/>
                          <a:ea typeface="Calibri" panose="020F0502020204030204" pitchFamily="34" charset="0"/>
                          <a:cs typeface="Calibri" panose="020F0502020204030204" pitchFamily="34" charset="0"/>
                        </a:rPr>
                        <a:t>Same (stratified)</a:t>
                      </a:r>
                    </a:p>
                  </a:txBody>
                  <a:tcPr/>
                </a:tc>
                <a:extLst>
                  <a:ext uri="{0D108BD9-81ED-4DB2-BD59-A6C34878D82A}">
                    <a16:rowId xmlns:a16="http://schemas.microsoft.com/office/drawing/2014/main" val="1357332036"/>
                  </a:ext>
                </a:extLst>
              </a:tr>
              <a:tr h="1387841">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Test</a:t>
                      </a: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1500 (15%)</a:t>
                      </a: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Quarantined; used once for final metrics </a:t>
                      </a:r>
                    </a:p>
                  </a:txBody>
                  <a:tcPr/>
                </a:tc>
                <a:tc>
                  <a:txBody>
                    <a:bodyPr/>
                    <a:lstStyle/>
                    <a:p>
                      <a:r>
                        <a:rPr lang="en-US" dirty="0">
                          <a:latin typeface="Calibri" panose="020F0502020204030204" pitchFamily="34" charset="0"/>
                          <a:ea typeface="Calibri" panose="020F0502020204030204" pitchFamily="34" charset="0"/>
                          <a:cs typeface="Calibri" panose="020F0502020204030204" pitchFamily="34" charset="0"/>
                        </a:rPr>
                        <a:t>1,274 LOW / 87 MEDIUM / 139 HIGH</a:t>
                      </a:r>
                    </a:p>
                  </a:txBody>
                  <a:tcPr/>
                </a:tc>
                <a:extLst>
                  <a:ext uri="{0D108BD9-81ED-4DB2-BD59-A6C34878D82A}">
                    <a16:rowId xmlns:a16="http://schemas.microsoft.com/office/drawing/2014/main" val="3377225824"/>
                  </a:ext>
                </a:extLst>
              </a:tr>
            </a:tbl>
          </a:graphicData>
        </a:graphic>
      </p:graphicFrame>
    </p:spTree>
    <p:extLst>
      <p:ext uri="{BB962C8B-B14F-4D97-AF65-F5344CB8AC3E}">
        <p14:creationId xmlns:p14="http://schemas.microsoft.com/office/powerpoint/2010/main" val="20488836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122D3-7250-F05E-B76C-9DA88DDB98A4}"/>
              </a:ext>
            </a:extLst>
          </p:cNvPr>
          <p:cNvSpPr>
            <a:spLocks noGrp="1"/>
          </p:cNvSpPr>
          <p:nvPr>
            <p:ph type="title"/>
          </p:nvPr>
        </p:nvSpPr>
        <p:spPr>
          <a:xfrm>
            <a:off x="1236201" y="136525"/>
            <a:ext cx="9719598" cy="716915"/>
          </a:xfrm>
          <a:solidFill>
            <a:schemeClr val="bg2"/>
          </a:solidFill>
        </p:spPr>
        <p:txBody>
          <a:bodyPr>
            <a:normAutofit/>
          </a:bodyPr>
          <a:lstStyle/>
          <a:p>
            <a:r>
              <a:rPr lang="en-US" dirty="0">
                <a:solidFill>
                  <a:schemeClr val="accent4">
                    <a:lumMod val="50000"/>
                  </a:schemeClr>
                </a:solidFill>
                <a:latin typeface="Calibri" panose="020F0502020204030204" pitchFamily="34" charset="0"/>
                <a:ea typeface="Calibri" panose="020F0502020204030204" pitchFamily="34" charset="0"/>
                <a:cs typeface="Calibri" panose="020F0502020204030204" pitchFamily="34" charset="0"/>
              </a:rPr>
              <a:t>Model: Random Forest</a:t>
            </a:r>
          </a:p>
        </p:txBody>
      </p:sp>
      <p:sp>
        <p:nvSpPr>
          <p:cNvPr id="3" name="Date Placeholder 2">
            <a:extLst>
              <a:ext uri="{FF2B5EF4-FFF2-40B4-BE49-F238E27FC236}">
                <a16:creationId xmlns:a16="http://schemas.microsoft.com/office/drawing/2014/main" id="{1EB1A4F4-EFC9-088C-5DA4-BFD359E81EAE}"/>
              </a:ext>
            </a:extLst>
          </p:cNvPr>
          <p:cNvSpPr>
            <a:spLocks noGrp="1"/>
          </p:cNvSpPr>
          <p:nvPr>
            <p:ph type="dt" sz="half" idx="10"/>
          </p:nvPr>
        </p:nvSpPr>
        <p:spPr/>
        <p:txBody>
          <a:bodyPr/>
          <a:lstStyle/>
          <a:p>
            <a:fld id="{1E300BD0-E5C2-4A74-9E3E-BB244319C3D5}" type="datetime1">
              <a:rPr lang="en-US" smtClean="0"/>
              <a:t>10-Jul-26</a:t>
            </a:fld>
            <a:endParaRPr lang="en-US"/>
          </a:p>
        </p:txBody>
      </p:sp>
      <p:sp>
        <p:nvSpPr>
          <p:cNvPr id="4" name="Slide Number Placeholder 3">
            <a:extLst>
              <a:ext uri="{FF2B5EF4-FFF2-40B4-BE49-F238E27FC236}">
                <a16:creationId xmlns:a16="http://schemas.microsoft.com/office/drawing/2014/main" id="{D4EF9121-AC73-C1EF-4BF1-EFCE2DCB4354}"/>
              </a:ext>
            </a:extLst>
          </p:cNvPr>
          <p:cNvSpPr>
            <a:spLocks noGrp="1"/>
          </p:cNvSpPr>
          <p:nvPr>
            <p:ph type="sldNum" sz="quarter" idx="12"/>
          </p:nvPr>
        </p:nvSpPr>
        <p:spPr/>
        <p:txBody>
          <a:bodyPr/>
          <a:lstStyle/>
          <a:p>
            <a:fld id="{7A1EA063-F1A0-4337-9BB4-F912B647AF2A}" type="slidenum">
              <a:rPr lang="en-US" smtClean="0"/>
              <a:t>16</a:t>
            </a:fld>
            <a:endParaRPr lang="en-US"/>
          </a:p>
        </p:txBody>
      </p:sp>
      <p:graphicFrame>
        <p:nvGraphicFramePr>
          <p:cNvPr id="6" name="Table 5">
            <a:extLst>
              <a:ext uri="{FF2B5EF4-FFF2-40B4-BE49-F238E27FC236}">
                <a16:creationId xmlns:a16="http://schemas.microsoft.com/office/drawing/2014/main" id="{6E67B3FF-2AC2-6DE4-9294-7C41B568EC76}"/>
              </a:ext>
            </a:extLst>
          </p:cNvPr>
          <p:cNvGraphicFramePr>
            <a:graphicFrameLocks noGrp="1"/>
          </p:cNvGraphicFramePr>
          <p:nvPr>
            <p:extLst>
              <p:ext uri="{D42A27DB-BD31-4B8C-83A1-F6EECF244321}">
                <p14:modId xmlns:p14="http://schemas.microsoft.com/office/powerpoint/2010/main" val="4131646052"/>
              </p:ext>
            </p:extLst>
          </p:nvPr>
        </p:nvGraphicFramePr>
        <p:xfrm>
          <a:off x="1236201" y="1731057"/>
          <a:ext cx="9719598" cy="4359822"/>
        </p:xfrm>
        <a:graphic>
          <a:graphicData uri="http://schemas.openxmlformats.org/drawingml/2006/table">
            <a:tbl>
              <a:tblPr firstRow="1" bandRow="1">
                <a:tableStyleId>{5C22544A-7EE6-4342-B048-85BDC9FD1C3A}</a:tableStyleId>
              </a:tblPr>
              <a:tblGrid>
                <a:gridCol w="3239866">
                  <a:extLst>
                    <a:ext uri="{9D8B030D-6E8A-4147-A177-3AD203B41FA5}">
                      <a16:colId xmlns:a16="http://schemas.microsoft.com/office/drawing/2014/main" val="498338860"/>
                    </a:ext>
                  </a:extLst>
                </a:gridCol>
                <a:gridCol w="3239866">
                  <a:extLst>
                    <a:ext uri="{9D8B030D-6E8A-4147-A177-3AD203B41FA5}">
                      <a16:colId xmlns:a16="http://schemas.microsoft.com/office/drawing/2014/main" val="483367852"/>
                    </a:ext>
                  </a:extLst>
                </a:gridCol>
                <a:gridCol w="3239866">
                  <a:extLst>
                    <a:ext uri="{9D8B030D-6E8A-4147-A177-3AD203B41FA5}">
                      <a16:colId xmlns:a16="http://schemas.microsoft.com/office/drawing/2014/main" val="4267260728"/>
                    </a:ext>
                  </a:extLst>
                </a:gridCol>
              </a:tblGrid>
              <a:tr h="574875">
                <a:tc>
                  <a:txBody>
                    <a:bodyPr/>
                    <a:lstStyle/>
                    <a:p>
                      <a:pPr algn="ctr"/>
                      <a:r>
                        <a:rPr lang="en-US" sz="1800" b="1" i="0" kern="1200" dirty="0">
                          <a:solidFill>
                            <a:schemeClr val="lt1"/>
                          </a:solidFill>
                          <a:effectLst/>
                          <a:latin typeface="Calibri" panose="020F0502020204030204" pitchFamily="34" charset="0"/>
                          <a:ea typeface="Calibri" panose="020F0502020204030204" pitchFamily="34" charset="0"/>
                          <a:cs typeface="Calibri" panose="020F0502020204030204" pitchFamily="34" charset="0"/>
                        </a:rPr>
                        <a:t>Hyperparameter</a:t>
                      </a:r>
                      <a:endParaRPr lang="en-US"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a:r>
                        <a:rPr lang="en-US" sz="1800" b="1" i="0" kern="1200" dirty="0">
                          <a:solidFill>
                            <a:schemeClr val="lt1"/>
                          </a:solidFill>
                          <a:effectLst/>
                          <a:latin typeface="Calibri" panose="020F0502020204030204" pitchFamily="34" charset="0"/>
                          <a:ea typeface="Calibri" panose="020F0502020204030204" pitchFamily="34" charset="0"/>
                          <a:cs typeface="Calibri" panose="020F0502020204030204" pitchFamily="34" charset="0"/>
                        </a:rPr>
                        <a:t>Value</a:t>
                      </a:r>
                      <a:endParaRPr lang="en-US"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a:r>
                        <a:rPr lang="en-US" sz="1800" b="1" i="0" kern="1200" dirty="0">
                          <a:solidFill>
                            <a:schemeClr val="lt1"/>
                          </a:solidFill>
                          <a:effectLst/>
                          <a:latin typeface="Calibri" panose="020F0502020204030204" pitchFamily="34" charset="0"/>
                          <a:ea typeface="Calibri" panose="020F0502020204030204" pitchFamily="34" charset="0"/>
                          <a:cs typeface="Calibri" panose="020F0502020204030204" pitchFamily="34" charset="0"/>
                        </a:rPr>
                        <a:t>Justification</a:t>
                      </a:r>
                      <a:endParaRPr lang="en-US"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61268303"/>
                  </a:ext>
                </a:extLst>
              </a:tr>
              <a:tr h="972749">
                <a:tc>
                  <a:txBody>
                    <a:bodyPr/>
                    <a:lstStyle/>
                    <a:p>
                      <a:pPr algn="ctr"/>
                      <a:r>
                        <a:rPr lang="en-US" sz="1800" b="0" i="0" kern="1200" dirty="0" err="1">
                          <a:solidFill>
                            <a:schemeClr val="dk1"/>
                          </a:solidFill>
                          <a:effectLst/>
                          <a:latin typeface="Calibri" panose="020F0502020204030204" pitchFamily="34" charset="0"/>
                          <a:ea typeface="Calibri" panose="020F0502020204030204" pitchFamily="34" charset="0"/>
                          <a:cs typeface="Calibri" panose="020F0502020204030204" pitchFamily="34" charset="0"/>
                        </a:rPr>
                        <a:t>n_estimators</a:t>
                      </a:r>
                      <a:r>
                        <a:rPr lang="en-US" sz="1800" b="0" i="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 (T)</a:t>
                      </a:r>
                      <a:endParaRPr lang="en-US"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75</a:t>
                      </a:r>
                    </a:p>
                  </a:txBody>
                  <a:tcPr/>
                </a:tc>
                <a:tc>
                  <a:txBody>
                    <a:bodyPr/>
                    <a:lstStyle/>
                    <a:p>
                      <a:r>
                        <a:rPr lang="en-US" sz="1800" b="0" i="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Accuracy saturates at ~75 trees; more only inflates artifact size</a:t>
                      </a:r>
                      <a:endParaRPr lang="en-US"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789010186"/>
                  </a:ext>
                </a:extLst>
              </a:tr>
              <a:tr h="1264574">
                <a:tc>
                  <a:txBody>
                    <a:bodyPr/>
                    <a:lstStyle/>
                    <a:p>
                      <a:pPr algn="ctr"/>
                      <a:r>
                        <a:rPr lang="en-US" sz="1800" b="0" i="0" kern="1200" dirty="0" err="1">
                          <a:solidFill>
                            <a:schemeClr val="dk1"/>
                          </a:solidFill>
                          <a:effectLst/>
                          <a:latin typeface="Calibri" panose="020F0502020204030204" pitchFamily="34" charset="0"/>
                          <a:ea typeface="Calibri" panose="020F0502020204030204" pitchFamily="34" charset="0"/>
                          <a:cs typeface="Calibri" panose="020F0502020204030204" pitchFamily="34" charset="0"/>
                        </a:rPr>
                        <a:t>max_depth</a:t>
                      </a:r>
                      <a:r>
                        <a:rPr lang="en-US" sz="1800" b="0" i="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 (d)</a:t>
                      </a:r>
                      <a:endParaRPr lang="en-US"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12</a:t>
                      </a:r>
                    </a:p>
                  </a:txBody>
                  <a:tcPr/>
                </a:tc>
                <a:tc>
                  <a:txBody>
                    <a:bodyPr/>
                    <a:lstStyle/>
                    <a:p>
                      <a:r>
                        <a:rPr lang="en-US" sz="1800" b="0" i="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Captures deepest 4-antecedent rules; unlimited depth overfits noise, bloats code (~15 MB)</a:t>
                      </a:r>
                      <a:endParaRPr lang="en-US"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161186788"/>
                  </a:ext>
                </a:extLst>
              </a:tr>
              <a:tr h="972749">
                <a:tc>
                  <a:txBody>
                    <a:bodyPr/>
                    <a:lstStyle/>
                    <a:p>
                      <a:pPr algn="ctr"/>
                      <a:r>
                        <a:rPr lang="en-US" sz="1800" b="0" i="0" kern="1200" dirty="0" err="1">
                          <a:solidFill>
                            <a:schemeClr val="dk1"/>
                          </a:solidFill>
                          <a:effectLst/>
                          <a:latin typeface="Calibri" panose="020F0502020204030204" pitchFamily="34" charset="0"/>
                          <a:ea typeface="Calibri" panose="020F0502020204030204" pitchFamily="34" charset="0"/>
                          <a:cs typeface="Calibri" panose="020F0502020204030204" pitchFamily="34" charset="0"/>
                        </a:rPr>
                        <a:t>class_weight</a:t>
                      </a:r>
                      <a:endParaRPr lang="en-US"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Balanced</a:t>
                      </a:r>
                    </a:p>
                  </a:txBody>
                  <a:tcPr/>
                </a:tc>
                <a:tc>
                  <a:txBody>
                    <a:bodyPr/>
                    <a:lstStyle/>
                    <a:p>
                      <a:r>
                        <a:rPr lang="en-US" sz="1800" b="0" i="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Inverse-frequency weighting protects minority-class recall (MEDIUM ≈ 6%, HIGH ≈ 9%)</a:t>
                      </a:r>
                      <a:endParaRPr lang="en-US"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651167595"/>
                  </a:ext>
                </a:extLst>
              </a:tr>
              <a:tr h="574875">
                <a:tc>
                  <a:txBody>
                    <a:bodyPr/>
                    <a:lstStyle/>
                    <a:p>
                      <a:pPr algn="ctr"/>
                      <a:r>
                        <a:rPr lang="en-US" sz="1800" b="0" i="0" kern="1200" dirty="0" err="1">
                          <a:solidFill>
                            <a:schemeClr val="dk1"/>
                          </a:solidFill>
                          <a:effectLst/>
                          <a:latin typeface="Calibri" panose="020F0502020204030204" pitchFamily="34" charset="0"/>
                          <a:ea typeface="Calibri" panose="020F0502020204030204" pitchFamily="34" charset="0"/>
                          <a:cs typeface="Calibri" panose="020F0502020204030204" pitchFamily="34" charset="0"/>
                        </a:rPr>
                        <a:t>random_state</a:t>
                      </a:r>
                      <a:endParaRPr lang="en-US"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42</a:t>
                      </a:r>
                    </a:p>
                  </a:txBody>
                  <a:tcPr/>
                </a:tc>
                <a:tc>
                  <a:txBody>
                    <a:bodyPr/>
                    <a:lstStyle/>
                    <a:p>
                      <a:r>
                        <a:rPr lang="en-US" sz="1800" b="0" i="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Reproducibility</a:t>
                      </a:r>
                      <a:endParaRPr lang="en-US"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991626311"/>
                  </a:ext>
                </a:extLst>
              </a:tr>
            </a:tbl>
          </a:graphicData>
        </a:graphic>
      </p:graphicFrame>
    </p:spTree>
    <p:extLst>
      <p:ext uri="{BB962C8B-B14F-4D97-AF65-F5344CB8AC3E}">
        <p14:creationId xmlns:p14="http://schemas.microsoft.com/office/powerpoint/2010/main" val="30171626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122D3-7250-F05E-B76C-9DA88DDB98A4}"/>
              </a:ext>
            </a:extLst>
          </p:cNvPr>
          <p:cNvSpPr>
            <a:spLocks noGrp="1"/>
          </p:cNvSpPr>
          <p:nvPr>
            <p:ph type="title"/>
          </p:nvPr>
        </p:nvSpPr>
        <p:spPr>
          <a:xfrm>
            <a:off x="1236201" y="136525"/>
            <a:ext cx="9719598" cy="716915"/>
          </a:xfrm>
          <a:solidFill>
            <a:schemeClr val="bg2"/>
          </a:solidFill>
        </p:spPr>
        <p:txBody>
          <a:bodyPr>
            <a:normAutofit/>
          </a:bodyPr>
          <a:lstStyle/>
          <a:p>
            <a:r>
              <a:rPr lang="en-US" dirty="0">
                <a:solidFill>
                  <a:schemeClr val="accent4">
                    <a:lumMod val="50000"/>
                  </a:schemeClr>
                </a:solidFill>
                <a:latin typeface="Calibri" panose="020F0502020204030204" pitchFamily="34" charset="0"/>
                <a:ea typeface="Calibri" panose="020F0502020204030204" pitchFamily="34" charset="0"/>
                <a:cs typeface="Calibri" panose="020F0502020204030204" pitchFamily="34" charset="0"/>
              </a:rPr>
              <a:t>In-Process </a:t>
            </a:r>
            <a:r>
              <a:rPr lang="en-US" dirty="0" err="1">
                <a:solidFill>
                  <a:schemeClr val="accent4">
                    <a:lumMod val="50000"/>
                  </a:schemeClr>
                </a:solidFill>
                <a:latin typeface="Calibri" panose="020F0502020204030204" pitchFamily="34" charset="0"/>
                <a:ea typeface="Calibri" panose="020F0502020204030204" pitchFamily="34" charset="0"/>
                <a:cs typeface="Calibri" panose="020F0502020204030204" pitchFamily="34" charset="0"/>
              </a:rPr>
              <a:t>Transpilation</a:t>
            </a:r>
            <a:endParaRPr lang="en-US" dirty="0">
              <a:solidFill>
                <a:schemeClr val="accent4">
                  <a:lumMod val="50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3" name="Date Placeholder 2">
            <a:extLst>
              <a:ext uri="{FF2B5EF4-FFF2-40B4-BE49-F238E27FC236}">
                <a16:creationId xmlns:a16="http://schemas.microsoft.com/office/drawing/2014/main" id="{1EB1A4F4-EFC9-088C-5DA4-BFD359E81EAE}"/>
              </a:ext>
            </a:extLst>
          </p:cNvPr>
          <p:cNvSpPr>
            <a:spLocks noGrp="1"/>
          </p:cNvSpPr>
          <p:nvPr>
            <p:ph type="dt" sz="half" idx="10"/>
          </p:nvPr>
        </p:nvSpPr>
        <p:spPr/>
        <p:txBody>
          <a:bodyPr/>
          <a:lstStyle/>
          <a:p>
            <a:fld id="{1E300BD0-E5C2-4A74-9E3E-BB244319C3D5}" type="datetime1">
              <a:rPr lang="en-US" smtClean="0"/>
              <a:t>10-Jul-26</a:t>
            </a:fld>
            <a:endParaRPr lang="en-US"/>
          </a:p>
        </p:txBody>
      </p:sp>
      <p:sp>
        <p:nvSpPr>
          <p:cNvPr id="4" name="Slide Number Placeholder 3">
            <a:extLst>
              <a:ext uri="{FF2B5EF4-FFF2-40B4-BE49-F238E27FC236}">
                <a16:creationId xmlns:a16="http://schemas.microsoft.com/office/drawing/2014/main" id="{D4EF9121-AC73-C1EF-4BF1-EFCE2DCB4354}"/>
              </a:ext>
            </a:extLst>
          </p:cNvPr>
          <p:cNvSpPr>
            <a:spLocks noGrp="1"/>
          </p:cNvSpPr>
          <p:nvPr>
            <p:ph type="sldNum" sz="quarter" idx="12"/>
          </p:nvPr>
        </p:nvSpPr>
        <p:spPr/>
        <p:txBody>
          <a:bodyPr/>
          <a:lstStyle/>
          <a:p>
            <a:fld id="{7A1EA063-F1A0-4337-9BB4-F912B647AF2A}" type="slidenum">
              <a:rPr lang="en-US" smtClean="0"/>
              <a:t>17</a:t>
            </a:fld>
            <a:endParaRPr lang="en-US"/>
          </a:p>
        </p:txBody>
      </p:sp>
      <p:pic>
        <p:nvPicPr>
          <p:cNvPr id="7" name="Picture 6">
            <a:extLst>
              <a:ext uri="{FF2B5EF4-FFF2-40B4-BE49-F238E27FC236}">
                <a16:creationId xmlns:a16="http://schemas.microsoft.com/office/drawing/2014/main" id="{63D6D54C-35F0-3EBA-EACE-C82CB292E7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8800" y="1143923"/>
            <a:ext cx="8534399" cy="5109394"/>
          </a:xfrm>
          <a:prstGeom prst="rect">
            <a:avLst/>
          </a:prstGeom>
        </p:spPr>
      </p:pic>
    </p:spTree>
    <p:extLst>
      <p:ext uri="{BB962C8B-B14F-4D97-AF65-F5344CB8AC3E}">
        <p14:creationId xmlns:p14="http://schemas.microsoft.com/office/powerpoint/2010/main" val="33693467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122D3-7250-F05E-B76C-9DA88DDB98A4}"/>
              </a:ext>
            </a:extLst>
          </p:cNvPr>
          <p:cNvSpPr>
            <a:spLocks noGrp="1"/>
          </p:cNvSpPr>
          <p:nvPr>
            <p:ph type="title"/>
          </p:nvPr>
        </p:nvSpPr>
        <p:spPr>
          <a:xfrm>
            <a:off x="1236201" y="136525"/>
            <a:ext cx="9719598" cy="716915"/>
          </a:xfrm>
          <a:solidFill>
            <a:schemeClr val="bg2"/>
          </a:solidFill>
        </p:spPr>
        <p:txBody>
          <a:bodyPr>
            <a:normAutofit/>
          </a:bodyPr>
          <a:lstStyle/>
          <a:p>
            <a:r>
              <a:rPr lang="en-US" dirty="0">
                <a:solidFill>
                  <a:schemeClr val="accent4">
                    <a:lumMod val="50000"/>
                  </a:schemeClr>
                </a:solidFill>
                <a:latin typeface="Calibri" panose="020F0502020204030204" pitchFamily="34" charset="0"/>
                <a:ea typeface="Calibri" panose="020F0502020204030204" pitchFamily="34" charset="0"/>
                <a:cs typeface="Calibri" panose="020F0502020204030204" pitchFamily="34" charset="0"/>
              </a:rPr>
              <a:t>Late-binding cryptographic redesign</a:t>
            </a:r>
          </a:p>
        </p:txBody>
      </p:sp>
      <p:sp>
        <p:nvSpPr>
          <p:cNvPr id="3" name="Date Placeholder 2">
            <a:extLst>
              <a:ext uri="{FF2B5EF4-FFF2-40B4-BE49-F238E27FC236}">
                <a16:creationId xmlns:a16="http://schemas.microsoft.com/office/drawing/2014/main" id="{1EB1A4F4-EFC9-088C-5DA4-BFD359E81EAE}"/>
              </a:ext>
            </a:extLst>
          </p:cNvPr>
          <p:cNvSpPr>
            <a:spLocks noGrp="1"/>
          </p:cNvSpPr>
          <p:nvPr>
            <p:ph type="dt" sz="half" idx="10"/>
          </p:nvPr>
        </p:nvSpPr>
        <p:spPr/>
        <p:txBody>
          <a:bodyPr/>
          <a:lstStyle/>
          <a:p>
            <a:fld id="{1E300BD0-E5C2-4A74-9E3E-BB244319C3D5}" type="datetime1">
              <a:rPr lang="en-US" smtClean="0"/>
              <a:t>10-Jul-26</a:t>
            </a:fld>
            <a:endParaRPr lang="en-US"/>
          </a:p>
        </p:txBody>
      </p:sp>
      <p:sp>
        <p:nvSpPr>
          <p:cNvPr id="4" name="Slide Number Placeholder 3">
            <a:extLst>
              <a:ext uri="{FF2B5EF4-FFF2-40B4-BE49-F238E27FC236}">
                <a16:creationId xmlns:a16="http://schemas.microsoft.com/office/drawing/2014/main" id="{D4EF9121-AC73-C1EF-4BF1-EFCE2DCB4354}"/>
              </a:ext>
            </a:extLst>
          </p:cNvPr>
          <p:cNvSpPr>
            <a:spLocks noGrp="1"/>
          </p:cNvSpPr>
          <p:nvPr>
            <p:ph type="sldNum" sz="quarter" idx="12"/>
          </p:nvPr>
        </p:nvSpPr>
        <p:spPr/>
        <p:txBody>
          <a:bodyPr/>
          <a:lstStyle/>
          <a:p>
            <a:fld id="{7A1EA063-F1A0-4337-9BB4-F912B647AF2A}" type="slidenum">
              <a:rPr lang="en-US" smtClean="0"/>
              <a:t>18</a:t>
            </a:fld>
            <a:endParaRPr lang="en-US"/>
          </a:p>
        </p:txBody>
      </p:sp>
      <p:pic>
        <p:nvPicPr>
          <p:cNvPr id="6" name="Picture 5">
            <a:extLst>
              <a:ext uri="{FF2B5EF4-FFF2-40B4-BE49-F238E27FC236}">
                <a16:creationId xmlns:a16="http://schemas.microsoft.com/office/drawing/2014/main" id="{8B3D2799-DD5E-632E-9253-DE8E9B2CF4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8642" y="1282722"/>
            <a:ext cx="11554716" cy="4292556"/>
          </a:xfrm>
          <a:prstGeom prst="rect">
            <a:avLst/>
          </a:prstGeom>
        </p:spPr>
      </p:pic>
    </p:spTree>
    <p:extLst>
      <p:ext uri="{BB962C8B-B14F-4D97-AF65-F5344CB8AC3E}">
        <p14:creationId xmlns:p14="http://schemas.microsoft.com/office/powerpoint/2010/main" val="9590260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122D3-7250-F05E-B76C-9DA88DDB98A4}"/>
              </a:ext>
            </a:extLst>
          </p:cNvPr>
          <p:cNvSpPr>
            <a:spLocks noGrp="1"/>
          </p:cNvSpPr>
          <p:nvPr>
            <p:ph type="title"/>
          </p:nvPr>
        </p:nvSpPr>
        <p:spPr>
          <a:xfrm>
            <a:off x="1236201" y="136525"/>
            <a:ext cx="9719598" cy="716915"/>
          </a:xfrm>
          <a:solidFill>
            <a:schemeClr val="bg2"/>
          </a:solidFill>
        </p:spPr>
        <p:txBody>
          <a:bodyPr>
            <a:normAutofit/>
          </a:bodyPr>
          <a:lstStyle/>
          <a:p>
            <a:r>
              <a:rPr lang="en-US" dirty="0">
                <a:solidFill>
                  <a:schemeClr val="accent4">
                    <a:lumMod val="50000"/>
                  </a:schemeClr>
                </a:solidFill>
                <a:latin typeface="Calibri" panose="020F0502020204030204" pitchFamily="34" charset="0"/>
                <a:ea typeface="Calibri" panose="020F0502020204030204" pitchFamily="34" charset="0"/>
                <a:cs typeface="Calibri" panose="020F0502020204030204" pitchFamily="34" charset="0"/>
              </a:rPr>
              <a:t>Sensitive table in database</a:t>
            </a:r>
          </a:p>
        </p:txBody>
      </p:sp>
      <p:sp>
        <p:nvSpPr>
          <p:cNvPr id="3" name="Date Placeholder 2">
            <a:extLst>
              <a:ext uri="{FF2B5EF4-FFF2-40B4-BE49-F238E27FC236}">
                <a16:creationId xmlns:a16="http://schemas.microsoft.com/office/drawing/2014/main" id="{1EB1A4F4-EFC9-088C-5DA4-BFD359E81EAE}"/>
              </a:ext>
            </a:extLst>
          </p:cNvPr>
          <p:cNvSpPr>
            <a:spLocks noGrp="1"/>
          </p:cNvSpPr>
          <p:nvPr>
            <p:ph type="dt" sz="half" idx="10"/>
          </p:nvPr>
        </p:nvSpPr>
        <p:spPr/>
        <p:txBody>
          <a:bodyPr/>
          <a:lstStyle/>
          <a:p>
            <a:fld id="{1E300BD0-E5C2-4A74-9E3E-BB244319C3D5}" type="datetime1">
              <a:rPr lang="en-US" smtClean="0"/>
              <a:t>10-Jul-26</a:t>
            </a:fld>
            <a:endParaRPr lang="en-US"/>
          </a:p>
        </p:txBody>
      </p:sp>
      <p:sp>
        <p:nvSpPr>
          <p:cNvPr id="4" name="Slide Number Placeholder 3">
            <a:extLst>
              <a:ext uri="{FF2B5EF4-FFF2-40B4-BE49-F238E27FC236}">
                <a16:creationId xmlns:a16="http://schemas.microsoft.com/office/drawing/2014/main" id="{D4EF9121-AC73-C1EF-4BF1-EFCE2DCB4354}"/>
              </a:ext>
            </a:extLst>
          </p:cNvPr>
          <p:cNvSpPr>
            <a:spLocks noGrp="1"/>
          </p:cNvSpPr>
          <p:nvPr>
            <p:ph type="sldNum" sz="quarter" idx="12"/>
          </p:nvPr>
        </p:nvSpPr>
        <p:spPr/>
        <p:txBody>
          <a:bodyPr/>
          <a:lstStyle/>
          <a:p>
            <a:fld id="{7A1EA063-F1A0-4337-9BB4-F912B647AF2A}" type="slidenum">
              <a:rPr lang="en-US" smtClean="0"/>
              <a:t>19</a:t>
            </a:fld>
            <a:endParaRPr lang="en-US"/>
          </a:p>
        </p:txBody>
      </p:sp>
      <p:graphicFrame>
        <p:nvGraphicFramePr>
          <p:cNvPr id="5" name="Table 4">
            <a:extLst>
              <a:ext uri="{FF2B5EF4-FFF2-40B4-BE49-F238E27FC236}">
                <a16:creationId xmlns:a16="http://schemas.microsoft.com/office/drawing/2014/main" id="{4673137A-5148-1752-A568-606F57482D2A}"/>
              </a:ext>
            </a:extLst>
          </p:cNvPr>
          <p:cNvGraphicFramePr>
            <a:graphicFrameLocks noGrp="1"/>
          </p:cNvGraphicFramePr>
          <p:nvPr>
            <p:extLst>
              <p:ext uri="{D42A27DB-BD31-4B8C-83A1-F6EECF244321}">
                <p14:modId xmlns:p14="http://schemas.microsoft.com/office/powerpoint/2010/main" val="1927891277"/>
              </p:ext>
            </p:extLst>
          </p:nvPr>
        </p:nvGraphicFramePr>
        <p:xfrm>
          <a:off x="1994310" y="1048838"/>
          <a:ext cx="8203380" cy="5307512"/>
        </p:xfrm>
        <a:graphic>
          <a:graphicData uri="http://schemas.openxmlformats.org/drawingml/2006/table">
            <a:tbl>
              <a:tblPr firstRow="1" bandRow="1">
                <a:tableStyleId>{5C22544A-7EE6-4342-B048-85BDC9FD1C3A}</a:tableStyleId>
              </a:tblPr>
              <a:tblGrid>
                <a:gridCol w="2734460">
                  <a:extLst>
                    <a:ext uri="{9D8B030D-6E8A-4147-A177-3AD203B41FA5}">
                      <a16:colId xmlns:a16="http://schemas.microsoft.com/office/drawing/2014/main" val="525082301"/>
                    </a:ext>
                  </a:extLst>
                </a:gridCol>
                <a:gridCol w="2734460">
                  <a:extLst>
                    <a:ext uri="{9D8B030D-6E8A-4147-A177-3AD203B41FA5}">
                      <a16:colId xmlns:a16="http://schemas.microsoft.com/office/drawing/2014/main" val="2775620939"/>
                    </a:ext>
                  </a:extLst>
                </a:gridCol>
                <a:gridCol w="2734460">
                  <a:extLst>
                    <a:ext uri="{9D8B030D-6E8A-4147-A177-3AD203B41FA5}">
                      <a16:colId xmlns:a16="http://schemas.microsoft.com/office/drawing/2014/main" val="639958432"/>
                    </a:ext>
                  </a:extLst>
                </a:gridCol>
              </a:tblGrid>
              <a:tr h="379108">
                <a:tc>
                  <a:txBody>
                    <a:bodyPr/>
                    <a:lstStyle/>
                    <a:p>
                      <a:pPr algn="ctr"/>
                      <a:r>
                        <a:rPr lang="en-US" dirty="0"/>
                        <a:t>DB column</a:t>
                      </a:r>
                    </a:p>
                  </a:txBody>
                  <a:tcPr/>
                </a:tc>
                <a:tc>
                  <a:txBody>
                    <a:bodyPr/>
                    <a:lstStyle/>
                    <a:p>
                      <a:pPr algn="ctr"/>
                      <a:r>
                        <a:rPr lang="en-US" dirty="0"/>
                        <a:t>Type</a:t>
                      </a:r>
                    </a:p>
                  </a:txBody>
                  <a:tcPr/>
                </a:tc>
                <a:tc>
                  <a:txBody>
                    <a:bodyPr/>
                    <a:lstStyle/>
                    <a:p>
                      <a:pPr algn="ctr"/>
                      <a:r>
                        <a:rPr lang="en-US" dirty="0"/>
                        <a:t>ALE-encrypted</a:t>
                      </a:r>
                    </a:p>
                  </a:txBody>
                  <a:tcPr/>
                </a:tc>
                <a:extLst>
                  <a:ext uri="{0D108BD9-81ED-4DB2-BD59-A6C34878D82A}">
                    <a16:rowId xmlns:a16="http://schemas.microsoft.com/office/drawing/2014/main" val="1059521725"/>
                  </a:ext>
                </a:extLst>
              </a:tr>
              <a:tr h="379108">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Id</a:t>
                      </a:r>
                    </a:p>
                  </a:txBody>
                  <a:tcPr/>
                </a:tc>
                <a:tc>
                  <a:txBody>
                    <a:bodyPr/>
                    <a:lstStyle/>
                    <a:p>
                      <a:pPr algn="ctr"/>
                      <a:r>
                        <a:rPr lang="en-US" dirty="0" err="1">
                          <a:latin typeface="Calibri" panose="020F0502020204030204" pitchFamily="34" charset="0"/>
                          <a:ea typeface="Calibri" panose="020F0502020204030204" pitchFamily="34" charset="0"/>
                          <a:cs typeface="Calibri" panose="020F0502020204030204" pitchFamily="34" charset="0"/>
                        </a:rPr>
                        <a:t>Uuid</a:t>
                      </a:r>
                      <a:endParaRPr lang="en-US"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a:r>
                        <a:rPr lang="en-US" dirty="0">
                          <a:solidFill>
                            <a:srgbClr val="FF0000"/>
                          </a:solidFill>
                          <a:latin typeface="Calibri" panose="020F0502020204030204" pitchFamily="34" charset="0"/>
                          <a:ea typeface="Calibri" panose="020F0502020204030204" pitchFamily="34" charset="0"/>
                          <a:cs typeface="Calibri" panose="020F0502020204030204" pitchFamily="34" charset="0"/>
                        </a:rPr>
                        <a:t>NO</a:t>
                      </a:r>
                    </a:p>
                  </a:txBody>
                  <a:tcPr/>
                </a:tc>
                <a:extLst>
                  <a:ext uri="{0D108BD9-81ED-4DB2-BD59-A6C34878D82A}">
                    <a16:rowId xmlns:a16="http://schemas.microsoft.com/office/drawing/2014/main" val="797343394"/>
                  </a:ext>
                </a:extLst>
              </a:tr>
              <a:tr h="379108">
                <a:tc>
                  <a:txBody>
                    <a:bodyPr/>
                    <a:lstStyle/>
                    <a:p>
                      <a:pPr algn="ctr"/>
                      <a:r>
                        <a:rPr lang="en-US" dirty="0" err="1">
                          <a:latin typeface="Calibri" panose="020F0502020204030204" pitchFamily="34" charset="0"/>
                          <a:ea typeface="Calibri" panose="020F0502020204030204" pitchFamily="34" charset="0"/>
                          <a:cs typeface="Calibri" panose="020F0502020204030204" pitchFamily="34" charset="0"/>
                        </a:rPr>
                        <a:t>User_id</a:t>
                      </a:r>
                      <a:endParaRPr lang="en-US"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a:r>
                        <a:rPr lang="en-US" dirty="0" err="1">
                          <a:latin typeface="Calibri" panose="020F0502020204030204" pitchFamily="34" charset="0"/>
                          <a:ea typeface="Calibri" panose="020F0502020204030204" pitchFamily="34" charset="0"/>
                          <a:cs typeface="Calibri" panose="020F0502020204030204" pitchFamily="34" charset="0"/>
                        </a:rPr>
                        <a:t>Uuid</a:t>
                      </a:r>
                      <a:endParaRPr lang="en-US"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a:r>
                        <a:rPr lang="en-US" dirty="0">
                          <a:solidFill>
                            <a:srgbClr val="FF0000"/>
                          </a:solidFill>
                          <a:latin typeface="Calibri" panose="020F0502020204030204" pitchFamily="34" charset="0"/>
                          <a:ea typeface="Calibri" panose="020F0502020204030204" pitchFamily="34" charset="0"/>
                          <a:cs typeface="Calibri" panose="020F0502020204030204" pitchFamily="34" charset="0"/>
                        </a:rPr>
                        <a:t>NO</a:t>
                      </a:r>
                    </a:p>
                  </a:txBody>
                  <a:tcPr/>
                </a:tc>
                <a:extLst>
                  <a:ext uri="{0D108BD9-81ED-4DB2-BD59-A6C34878D82A}">
                    <a16:rowId xmlns:a16="http://schemas.microsoft.com/office/drawing/2014/main" val="226204610"/>
                  </a:ext>
                </a:extLst>
              </a:tr>
              <a:tr h="379108">
                <a:tc>
                  <a:txBody>
                    <a:bodyPr/>
                    <a:lstStyle/>
                    <a:p>
                      <a:pPr algn="ctr"/>
                      <a:r>
                        <a:rPr lang="en-US" dirty="0" err="1">
                          <a:latin typeface="Calibri" panose="020F0502020204030204" pitchFamily="34" charset="0"/>
                          <a:ea typeface="Calibri" panose="020F0502020204030204" pitchFamily="34" charset="0"/>
                          <a:cs typeface="Calibri" panose="020F0502020204030204" pitchFamily="34" charset="0"/>
                        </a:rPr>
                        <a:t>Branch_name</a:t>
                      </a:r>
                      <a:endParaRPr lang="en-US"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Varchar(120)</a:t>
                      </a:r>
                    </a:p>
                  </a:txBody>
                  <a:tcPr/>
                </a:tc>
                <a:tc>
                  <a:txBody>
                    <a:bodyPr/>
                    <a:lstStyle/>
                    <a:p>
                      <a:pPr algn="ctr"/>
                      <a:r>
                        <a:rPr lang="en-US" b="1" i="1"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YES</a:t>
                      </a:r>
                    </a:p>
                  </a:txBody>
                  <a:tcPr/>
                </a:tc>
                <a:extLst>
                  <a:ext uri="{0D108BD9-81ED-4DB2-BD59-A6C34878D82A}">
                    <a16:rowId xmlns:a16="http://schemas.microsoft.com/office/drawing/2014/main" val="4047985576"/>
                  </a:ext>
                </a:extLst>
              </a:tr>
              <a:tr h="379108">
                <a:tc>
                  <a:txBody>
                    <a:bodyPr/>
                    <a:lstStyle/>
                    <a:p>
                      <a:pPr algn="ctr"/>
                      <a:r>
                        <a:rPr lang="en-US" dirty="0" err="1">
                          <a:latin typeface="Calibri" panose="020F0502020204030204" pitchFamily="34" charset="0"/>
                          <a:ea typeface="Calibri" panose="020F0502020204030204" pitchFamily="34" charset="0"/>
                          <a:cs typeface="Calibri" panose="020F0502020204030204" pitchFamily="34" charset="0"/>
                        </a:rPr>
                        <a:t>Account_type</a:t>
                      </a:r>
                      <a:endParaRPr lang="en-US"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Enum</a:t>
                      </a:r>
                    </a:p>
                  </a:txBody>
                  <a:tcPr/>
                </a:tc>
                <a:tc>
                  <a:txBody>
                    <a:bodyPr/>
                    <a:lstStyle/>
                    <a:p>
                      <a:pPr algn="ctr"/>
                      <a:r>
                        <a:rPr lang="en-US" dirty="0">
                          <a:solidFill>
                            <a:srgbClr val="FF0000"/>
                          </a:solidFill>
                          <a:latin typeface="Calibri" panose="020F0502020204030204" pitchFamily="34" charset="0"/>
                          <a:ea typeface="Calibri" panose="020F0502020204030204" pitchFamily="34" charset="0"/>
                          <a:cs typeface="Calibri" panose="020F0502020204030204" pitchFamily="34" charset="0"/>
                        </a:rPr>
                        <a:t>NO</a:t>
                      </a:r>
                    </a:p>
                  </a:txBody>
                  <a:tcPr/>
                </a:tc>
                <a:extLst>
                  <a:ext uri="{0D108BD9-81ED-4DB2-BD59-A6C34878D82A}">
                    <a16:rowId xmlns:a16="http://schemas.microsoft.com/office/drawing/2014/main" val="2785248721"/>
                  </a:ext>
                </a:extLst>
              </a:tr>
              <a:tr h="379108">
                <a:tc>
                  <a:txBody>
                    <a:bodyPr/>
                    <a:lstStyle/>
                    <a:p>
                      <a:pPr algn="ctr"/>
                      <a:r>
                        <a:rPr lang="en-US" dirty="0" err="1">
                          <a:latin typeface="Calibri" panose="020F0502020204030204" pitchFamily="34" charset="0"/>
                          <a:ea typeface="Calibri" panose="020F0502020204030204" pitchFamily="34" charset="0"/>
                          <a:cs typeface="Calibri" panose="020F0502020204030204" pitchFamily="34" charset="0"/>
                        </a:rPr>
                        <a:t>Account_holder_name</a:t>
                      </a:r>
                      <a:endParaRPr lang="en-US"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Text</a:t>
                      </a:r>
                    </a:p>
                  </a:txBody>
                  <a:tcPr/>
                </a:tc>
                <a:tc>
                  <a:txBody>
                    <a:bodyPr/>
                    <a:lstStyle/>
                    <a:p>
                      <a:pPr algn="ctr"/>
                      <a:r>
                        <a:rPr lang="en-US" b="1" i="1"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YES</a:t>
                      </a:r>
                    </a:p>
                  </a:txBody>
                  <a:tcPr/>
                </a:tc>
                <a:extLst>
                  <a:ext uri="{0D108BD9-81ED-4DB2-BD59-A6C34878D82A}">
                    <a16:rowId xmlns:a16="http://schemas.microsoft.com/office/drawing/2014/main" val="3118674949"/>
                  </a:ext>
                </a:extLst>
              </a:tr>
              <a:tr h="379108">
                <a:tc>
                  <a:txBody>
                    <a:bodyPr/>
                    <a:lstStyle/>
                    <a:p>
                      <a:pPr algn="ctr"/>
                      <a:r>
                        <a:rPr lang="en-US" dirty="0" err="1">
                          <a:latin typeface="Calibri" panose="020F0502020204030204" pitchFamily="34" charset="0"/>
                          <a:ea typeface="Calibri" panose="020F0502020204030204" pitchFamily="34" charset="0"/>
                          <a:cs typeface="Calibri" panose="020F0502020204030204" pitchFamily="34" charset="0"/>
                        </a:rPr>
                        <a:t>Account_number</a:t>
                      </a:r>
                      <a:endParaRPr lang="en-US"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Text</a:t>
                      </a:r>
                    </a:p>
                  </a:txBody>
                  <a:tcPr/>
                </a:tc>
                <a:tc>
                  <a:txBody>
                    <a:bodyPr/>
                    <a:lstStyle/>
                    <a:p>
                      <a:pPr algn="ctr"/>
                      <a:r>
                        <a:rPr lang="en-US" b="1" i="1"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YES</a:t>
                      </a:r>
                    </a:p>
                  </a:txBody>
                  <a:tcPr/>
                </a:tc>
                <a:extLst>
                  <a:ext uri="{0D108BD9-81ED-4DB2-BD59-A6C34878D82A}">
                    <a16:rowId xmlns:a16="http://schemas.microsoft.com/office/drawing/2014/main" val="456595167"/>
                  </a:ext>
                </a:extLst>
              </a:tr>
              <a:tr h="379108">
                <a:tc>
                  <a:txBody>
                    <a:bodyPr/>
                    <a:lstStyle/>
                    <a:p>
                      <a:pPr algn="ctr"/>
                      <a:r>
                        <a:rPr lang="en-US" dirty="0" err="1">
                          <a:latin typeface="Calibri" panose="020F0502020204030204" pitchFamily="34" charset="0"/>
                          <a:ea typeface="Calibri" panose="020F0502020204030204" pitchFamily="34" charset="0"/>
                          <a:cs typeface="Calibri" panose="020F0502020204030204" pitchFamily="34" charset="0"/>
                        </a:rPr>
                        <a:t>Account_last_four</a:t>
                      </a:r>
                      <a:endParaRPr lang="en-US"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Varchar(4)</a:t>
                      </a:r>
                    </a:p>
                  </a:txBody>
                  <a:tcPr/>
                </a:tc>
                <a:tc>
                  <a:txBody>
                    <a:bodyPr/>
                    <a:lstStyle/>
                    <a:p>
                      <a:pPr algn="ctr"/>
                      <a:r>
                        <a:rPr lang="en-US" dirty="0">
                          <a:solidFill>
                            <a:srgbClr val="FF0000"/>
                          </a:solidFill>
                          <a:latin typeface="Calibri" panose="020F0502020204030204" pitchFamily="34" charset="0"/>
                          <a:ea typeface="Calibri" panose="020F0502020204030204" pitchFamily="34" charset="0"/>
                          <a:cs typeface="Calibri" panose="020F0502020204030204" pitchFamily="34" charset="0"/>
                        </a:rPr>
                        <a:t>NO</a:t>
                      </a:r>
                    </a:p>
                  </a:txBody>
                  <a:tcPr/>
                </a:tc>
                <a:extLst>
                  <a:ext uri="{0D108BD9-81ED-4DB2-BD59-A6C34878D82A}">
                    <a16:rowId xmlns:a16="http://schemas.microsoft.com/office/drawing/2014/main" val="1227173700"/>
                  </a:ext>
                </a:extLst>
              </a:tr>
              <a:tr h="379108">
                <a:tc>
                  <a:txBody>
                    <a:bodyPr/>
                    <a:lstStyle/>
                    <a:p>
                      <a:pPr algn="ctr"/>
                      <a:r>
                        <a:rPr lang="en-US" dirty="0" err="1">
                          <a:latin typeface="Calibri" panose="020F0502020204030204" pitchFamily="34" charset="0"/>
                          <a:ea typeface="Calibri" panose="020F0502020204030204" pitchFamily="34" charset="0"/>
                          <a:cs typeface="Calibri" panose="020F0502020204030204" pitchFamily="34" charset="0"/>
                        </a:rPr>
                        <a:t>Routing_number</a:t>
                      </a:r>
                      <a:endParaRPr lang="en-US"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Text</a:t>
                      </a:r>
                    </a:p>
                  </a:txBody>
                  <a:tcPr/>
                </a:tc>
                <a:tc>
                  <a:txBody>
                    <a:bodyPr/>
                    <a:lstStyle/>
                    <a:p>
                      <a:pPr algn="ctr"/>
                      <a:r>
                        <a:rPr lang="en-US" b="1" i="1"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YES</a:t>
                      </a:r>
                    </a:p>
                  </a:txBody>
                  <a:tcPr/>
                </a:tc>
                <a:extLst>
                  <a:ext uri="{0D108BD9-81ED-4DB2-BD59-A6C34878D82A}">
                    <a16:rowId xmlns:a16="http://schemas.microsoft.com/office/drawing/2014/main" val="1605714916"/>
                  </a:ext>
                </a:extLst>
              </a:tr>
              <a:tr h="379108">
                <a:tc>
                  <a:txBody>
                    <a:bodyPr/>
                    <a:lstStyle/>
                    <a:p>
                      <a:pPr algn="ctr"/>
                      <a:r>
                        <a:rPr lang="en-US" dirty="0" err="1">
                          <a:latin typeface="Calibri" panose="020F0502020204030204" pitchFamily="34" charset="0"/>
                          <a:ea typeface="Calibri" panose="020F0502020204030204" pitchFamily="34" charset="0"/>
                          <a:cs typeface="Calibri" panose="020F0502020204030204" pitchFamily="34" charset="0"/>
                        </a:rPr>
                        <a:t>Swift_code</a:t>
                      </a:r>
                      <a:endParaRPr lang="en-US"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Text</a:t>
                      </a:r>
                    </a:p>
                  </a:txBody>
                  <a:tcPr/>
                </a:tc>
                <a:tc>
                  <a:txBody>
                    <a:bodyPr/>
                    <a:lstStyle/>
                    <a:p>
                      <a:pPr algn="ctr"/>
                      <a:r>
                        <a:rPr lang="en-US" b="1" i="1"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YES</a:t>
                      </a:r>
                    </a:p>
                  </a:txBody>
                  <a:tcPr/>
                </a:tc>
                <a:extLst>
                  <a:ext uri="{0D108BD9-81ED-4DB2-BD59-A6C34878D82A}">
                    <a16:rowId xmlns:a16="http://schemas.microsoft.com/office/drawing/2014/main" val="357396912"/>
                  </a:ext>
                </a:extLst>
              </a:tr>
              <a:tr h="379108">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Iban</a:t>
                      </a: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Text</a:t>
                      </a:r>
                    </a:p>
                  </a:txBody>
                  <a:tcPr/>
                </a:tc>
                <a:tc>
                  <a:txBody>
                    <a:bodyPr/>
                    <a:lstStyle/>
                    <a:p>
                      <a:pPr algn="ctr"/>
                      <a:r>
                        <a:rPr lang="en-US" b="1" i="1"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YES</a:t>
                      </a:r>
                    </a:p>
                  </a:txBody>
                  <a:tcPr/>
                </a:tc>
                <a:extLst>
                  <a:ext uri="{0D108BD9-81ED-4DB2-BD59-A6C34878D82A}">
                    <a16:rowId xmlns:a16="http://schemas.microsoft.com/office/drawing/2014/main" val="3557808626"/>
                  </a:ext>
                </a:extLst>
              </a:tr>
              <a:tr h="379108">
                <a:tc>
                  <a:txBody>
                    <a:bodyPr/>
                    <a:lstStyle/>
                    <a:p>
                      <a:pPr algn="ctr"/>
                      <a:r>
                        <a:rPr lang="en-US" dirty="0" err="1">
                          <a:latin typeface="Calibri" panose="020F0502020204030204" pitchFamily="34" charset="0"/>
                          <a:ea typeface="Calibri" panose="020F0502020204030204" pitchFamily="34" charset="0"/>
                          <a:cs typeface="Calibri" panose="020F0502020204030204" pitchFamily="34" charset="0"/>
                        </a:rPr>
                        <a:t>Nid</a:t>
                      </a:r>
                      <a:endParaRPr lang="en-US"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Text</a:t>
                      </a:r>
                    </a:p>
                  </a:txBody>
                  <a:tcPr/>
                </a:tc>
                <a:tc>
                  <a:txBody>
                    <a:bodyPr/>
                    <a:lstStyle/>
                    <a:p>
                      <a:pPr algn="ctr"/>
                      <a:r>
                        <a:rPr lang="en-US" b="1" i="1"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YES</a:t>
                      </a:r>
                    </a:p>
                  </a:txBody>
                  <a:tcPr/>
                </a:tc>
                <a:extLst>
                  <a:ext uri="{0D108BD9-81ED-4DB2-BD59-A6C34878D82A}">
                    <a16:rowId xmlns:a16="http://schemas.microsoft.com/office/drawing/2014/main" val="429328220"/>
                  </a:ext>
                </a:extLst>
              </a:tr>
              <a:tr h="379108">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status</a:t>
                      </a: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Enum</a:t>
                      </a:r>
                    </a:p>
                  </a:txBody>
                  <a:tcPr/>
                </a:tc>
                <a:tc>
                  <a:txBody>
                    <a:bodyPr/>
                    <a:lstStyle/>
                    <a:p>
                      <a:pPr algn="ctr"/>
                      <a:r>
                        <a:rPr lang="en-US" dirty="0">
                          <a:solidFill>
                            <a:srgbClr val="FF0000"/>
                          </a:solidFill>
                          <a:latin typeface="Calibri" panose="020F0502020204030204" pitchFamily="34" charset="0"/>
                          <a:ea typeface="Calibri" panose="020F0502020204030204" pitchFamily="34" charset="0"/>
                          <a:cs typeface="Calibri" panose="020F0502020204030204" pitchFamily="34" charset="0"/>
                        </a:rPr>
                        <a:t>NO</a:t>
                      </a:r>
                    </a:p>
                  </a:txBody>
                  <a:tcPr/>
                </a:tc>
                <a:extLst>
                  <a:ext uri="{0D108BD9-81ED-4DB2-BD59-A6C34878D82A}">
                    <a16:rowId xmlns:a16="http://schemas.microsoft.com/office/drawing/2014/main" val="3449814561"/>
                  </a:ext>
                </a:extLst>
              </a:tr>
              <a:tr h="379108">
                <a:tc>
                  <a:txBody>
                    <a:bodyPr/>
                    <a:lstStyle/>
                    <a:p>
                      <a:pPr algn="ctr"/>
                      <a:r>
                        <a:rPr lang="en-US" dirty="0" err="1">
                          <a:latin typeface="Calibri" panose="020F0502020204030204" pitchFamily="34" charset="0"/>
                          <a:ea typeface="Calibri" panose="020F0502020204030204" pitchFamily="34" charset="0"/>
                          <a:cs typeface="Calibri" panose="020F0502020204030204" pitchFamily="34" charset="0"/>
                        </a:rPr>
                        <a:t>Created_at</a:t>
                      </a:r>
                      <a:r>
                        <a:rPr lang="en-US" dirty="0">
                          <a:latin typeface="Calibri" panose="020F0502020204030204" pitchFamily="34" charset="0"/>
                          <a:ea typeface="Calibri" panose="020F0502020204030204" pitchFamily="34" charset="0"/>
                          <a:cs typeface="Calibri" panose="020F0502020204030204" pitchFamily="34" charset="0"/>
                        </a:rPr>
                        <a:t>/</a:t>
                      </a:r>
                      <a:r>
                        <a:rPr lang="en-US" dirty="0" err="1">
                          <a:latin typeface="Calibri" panose="020F0502020204030204" pitchFamily="34" charset="0"/>
                          <a:ea typeface="Calibri" panose="020F0502020204030204" pitchFamily="34" charset="0"/>
                          <a:cs typeface="Calibri" panose="020F0502020204030204" pitchFamily="34" charset="0"/>
                        </a:rPr>
                        <a:t>updated_at</a:t>
                      </a:r>
                      <a:endParaRPr lang="en-US"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a:r>
                        <a:rPr lang="en-US" dirty="0" err="1">
                          <a:latin typeface="Calibri" panose="020F0502020204030204" pitchFamily="34" charset="0"/>
                          <a:ea typeface="Calibri" panose="020F0502020204030204" pitchFamily="34" charset="0"/>
                          <a:cs typeface="Calibri" panose="020F0502020204030204" pitchFamily="34" charset="0"/>
                        </a:rPr>
                        <a:t>timestampz</a:t>
                      </a:r>
                      <a:endParaRPr lang="en-US"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a:r>
                        <a:rPr lang="en-US" dirty="0">
                          <a:solidFill>
                            <a:srgbClr val="FF0000"/>
                          </a:solidFill>
                          <a:latin typeface="Calibri" panose="020F0502020204030204" pitchFamily="34" charset="0"/>
                          <a:ea typeface="Calibri" panose="020F0502020204030204" pitchFamily="34" charset="0"/>
                          <a:cs typeface="Calibri" panose="020F0502020204030204" pitchFamily="34" charset="0"/>
                        </a:rPr>
                        <a:t>NO</a:t>
                      </a:r>
                    </a:p>
                  </a:txBody>
                  <a:tcPr/>
                </a:tc>
                <a:extLst>
                  <a:ext uri="{0D108BD9-81ED-4DB2-BD59-A6C34878D82A}">
                    <a16:rowId xmlns:a16="http://schemas.microsoft.com/office/drawing/2014/main" val="3246391440"/>
                  </a:ext>
                </a:extLst>
              </a:tr>
            </a:tbl>
          </a:graphicData>
        </a:graphic>
      </p:graphicFrame>
    </p:spTree>
    <p:extLst>
      <p:ext uri="{BB962C8B-B14F-4D97-AF65-F5344CB8AC3E}">
        <p14:creationId xmlns:p14="http://schemas.microsoft.com/office/powerpoint/2010/main" val="32582390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122D3-7250-F05E-B76C-9DA88DDB98A4}"/>
              </a:ext>
            </a:extLst>
          </p:cNvPr>
          <p:cNvSpPr>
            <a:spLocks noGrp="1"/>
          </p:cNvSpPr>
          <p:nvPr>
            <p:ph type="title"/>
          </p:nvPr>
        </p:nvSpPr>
        <p:spPr>
          <a:xfrm>
            <a:off x="1236201" y="136525"/>
            <a:ext cx="9719598" cy="716915"/>
          </a:xfrm>
          <a:solidFill>
            <a:schemeClr val="bg2"/>
          </a:solidFill>
        </p:spPr>
        <p:txBody>
          <a:bodyPr>
            <a:normAutofit/>
          </a:bodyPr>
          <a:lstStyle/>
          <a:p>
            <a:r>
              <a:rPr lang="en-US" dirty="0">
                <a:solidFill>
                  <a:schemeClr val="accent4">
                    <a:lumMod val="50000"/>
                  </a:schemeClr>
                </a:solidFill>
                <a:latin typeface="Calibri" panose="020F0502020204030204" pitchFamily="34" charset="0"/>
                <a:ea typeface="Calibri" panose="020F0502020204030204" pitchFamily="34" charset="0"/>
                <a:cs typeface="Calibri" panose="020F0502020204030204" pitchFamily="34" charset="0"/>
              </a:rPr>
              <a:t>Risk-to-policy decision</a:t>
            </a:r>
          </a:p>
        </p:txBody>
      </p:sp>
      <p:sp>
        <p:nvSpPr>
          <p:cNvPr id="3" name="Date Placeholder 2">
            <a:extLst>
              <a:ext uri="{FF2B5EF4-FFF2-40B4-BE49-F238E27FC236}">
                <a16:creationId xmlns:a16="http://schemas.microsoft.com/office/drawing/2014/main" id="{1EB1A4F4-EFC9-088C-5DA4-BFD359E81EAE}"/>
              </a:ext>
            </a:extLst>
          </p:cNvPr>
          <p:cNvSpPr>
            <a:spLocks noGrp="1"/>
          </p:cNvSpPr>
          <p:nvPr>
            <p:ph type="dt" sz="half" idx="10"/>
          </p:nvPr>
        </p:nvSpPr>
        <p:spPr/>
        <p:txBody>
          <a:bodyPr/>
          <a:lstStyle/>
          <a:p>
            <a:fld id="{1E300BD0-E5C2-4A74-9E3E-BB244319C3D5}" type="datetime1">
              <a:rPr lang="en-US" smtClean="0"/>
              <a:t>10-Jul-26</a:t>
            </a:fld>
            <a:endParaRPr lang="en-US"/>
          </a:p>
        </p:txBody>
      </p:sp>
      <p:sp>
        <p:nvSpPr>
          <p:cNvPr id="4" name="Slide Number Placeholder 3">
            <a:extLst>
              <a:ext uri="{FF2B5EF4-FFF2-40B4-BE49-F238E27FC236}">
                <a16:creationId xmlns:a16="http://schemas.microsoft.com/office/drawing/2014/main" id="{D4EF9121-AC73-C1EF-4BF1-EFCE2DCB4354}"/>
              </a:ext>
            </a:extLst>
          </p:cNvPr>
          <p:cNvSpPr>
            <a:spLocks noGrp="1"/>
          </p:cNvSpPr>
          <p:nvPr>
            <p:ph type="sldNum" sz="quarter" idx="12"/>
          </p:nvPr>
        </p:nvSpPr>
        <p:spPr/>
        <p:txBody>
          <a:bodyPr/>
          <a:lstStyle/>
          <a:p>
            <a:fld id="{7A1EA063-F1A0-4337-9BB4-F912B647AF2A}" type="slidenum">
              <a:rPr lang="en-US" smtClean="0"/>
              <a:t>20</a:t>
            </a:fld>
            <a:endParaRPr lang="en-US"/>
          </a:p>
        </p:txBody>
      </p:sp>
      <p:pic>
        <p:nvPicPr>
          <p:cNvPr id="7" name="Picture 6">
            <a:extLst>
              <a:ext uri="{FF2B5EF4-FFF2-40B4-BE49-F238E27FC236}">
                <a16:creationId xmlns:a16="http://schemas.microsoft.com/office/drawing/2014/main" id="{7FC0B901-1588-1585-36CD-9AED1E2B24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5783" y="1063842"/>
            <a:ext cx="8320433" cy="5292508"/>
          </a:xfrm>
          <a:prstGeom prst="rect">
            <a:avLst/>
          </a:prstGeom>
        </p:spPr>
      </p:pic>
    </p:spTree>
    <p:extLst>
      <p:ext uri="{BB962C8B-B14F-4D97-AF65-F5344CB8AC3E}">
        <p14:creationId xmlns:p14="http://schemas.microsoft.com/office/powerpoint/2010/main" val="16386570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122D3-7250-F05E-B76C-9DA88DDB98A4}"/>
              </a:ext>
            </a:extLst>
          </p:cNvPr>
          <p:cNvSpPr>
            <a:spLocks noGrp="1"/>
          </p:cNvSpPr>
          <p:nvPr>
            <p:ph type="title"/>
          </p:nvPr>
        </p:nvSpPr>
        <p:spPr>
          <a:xfrm>
            <a:off x="838200" y="365125"/>
            <a:ext cx="10515600" cy="637765"/>
          </a:xfrm>
          <a:solidFill>
            <a:schemeClr val="tx2">
              <a:lumMod val="10000"/>
              <a:lumOff val="90000"/>
            </a:schemeClr>
          </a:solidFill>
        </p:spPr>
        <p:txBody>
          <a:bodyPr>
            <a:normAutofit fontScale="90000"/>
          </a:bodyPr>
          <a:lstStyle/>
          <a:p>
            <a:r>
              <a:rPr lang="en-US" dirty="0">
                <a:solidFill>
                  <a:schemeClr val="accent4">
                    <a:lumMod val="50000"/>
                  </a:schemeClr>
                </a:solidFill>
                <a:latin typeface="Calibri" panose="020F0502020204030204" pitchFamily="34" charset="0"/>
                <a:ea typeface="Calibri" panose="020F0502020204030204" pitchFamily="34" charset="0"/>
                <a:cs typeface="Calibri" panose="020F0502020204030204" pitchFamily="34" charset="0"/>
              </a:rPr>
              <a:t>Result Analysis</a:t>
            </a:r>
          </a:p>
        </p:txBody>
      </p:sp>
      <p:sp>
        <p:nvSpPr>
          <p:cNvPr id="3" name="Date Placeholder 2">
            <a:extLst>
              <a:ext uri="{FF2B5EF4-FFF2-40B4-BE49-F238E27FC236}">
                <a16:creationId xmlns:a16="http://schemas.microsoft.com/office/drawing/2014/main" id="{1EB1A4F4-EFC9-088C-5DA4-BFD359E81EAE}"/>
              </a:ext>
            </a:extLst>
          </p:cNvPr>
          <p:cNvSpPr>
            <a:spLocks noGrp="1"/>
          </p:cNvSpPr>
          <p:nvPr>
            <p:ph type="dt" sz="half" idx="10"/>
          </p:nvPr>
        </p:nvSpPr>
        <p:spPr/>
        <p:txBody>
          <a:bodyPr/>
          <a:lstStyle/>
          <a:p>
            <a:fld id="{1E300BD0-E5C2-4A74-9E3E-BB244319C3D5}" type="datetime1">
              <a:rPr lang="en-US" smtClean="0"/>
              <a:t>10-Jul-26</a:t>
            </a:fld>
            <a:endParaRPr lang="en-US"/>
          </a:p>
        </p:txBody>
      </p:sp>
      <p:sp>
        <p:nvSpPr>
          <p:cNvPr id="4" name="Slide Number Placeholder 3">
            <a:extLst>
              <a:ext uri="{FF2B5EF4-FFF2-40B4-BE49-F238E27FC236}">
                <a16:creationId xmlns:a16="http://schemas.microsoft.com/office/drawing/2014/main" id="{D4EF9121-AC73-C1EF-4BF1-EFCE2DCB4354}"/>
              </a:ext>
            </a:extLst>
          </p:cNvPr>
          <p:cNvSpPr>
            <a:spLocks noGrp="1"/>
          </p:cNvSpPr>
          <p:nvPr>
            <p:ph type="sldNum" sz="quarter" idx="12"/>
          </p:nvPr>
        </p:nvSpPr>
        <p:spPr/>
        <p:txBody>
          <a:bodyPr/>
          <a:lstStyle/>
          <a:p>
            <a:fld id="{7A1EA063-F1A0-4337-9BB4-F912B647AF2A}" type="slidenum">
              <a:rPr lang="en-US" smtClean="0"/>
              <a:t>21</a:t>
            </a:fld>
            <a:endParaRPr lang="en-US"/>
          </a:p>
        </p:txBody>
      </p:sp>
      <p:pic>
        <p:nvPicPr>
          <p:cNvPr id="7" name="Picture 6">
            <a:extLst>
              <a:ext uri="{FF2B5EF4-FFF2-40B4-BE49-F238E27FC236}">
                <a16:creationId xmlns:a16="http://schemas.microsoft.com/office/drawing/2014/main" id="{0E72EDD6-488A-A3EB-57F7-EB9217242D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9297" y="1572173"/>
            <a:ext cx="11073406" cy="4480569"/>
          </a:xfrm>
          <a:prstGeom prst="rect">
            <a:avLst/>
          </a:prstGeom>
        </p:spPr>
      </p:pic>
    </p:spTree>
    <p:extLst>
      <p:ext uri="{BB962C8B-B14F-4D97-AF65-F5344CB8AC3E}">
        <p14:creationId xmlns:p14="http://schemas.microsoft.com/office/powerpoint/2010/main" val="40669118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122D3-7250-F05E-B76C-9DA88DDB98A4}"/>
              </a:ext>
            </a:extLst>
          </p:cNvPr>
          <p:cNvSpPr>
            <a:spLocks noGrp="1"/>
          </p:cNvSpPr>
          <p:nvPr>
            <p:ph type="title"/>
          </p:nvPr>
        </p:nvSpPr>
        <p:spPr>
          <a:xfrm>
            <a:off x="1236201" y="136525"/>
            <a:ext cx="9719598" cy="716915"/>
          </a:xfrm>
          <a:solidFill>
            <a:schemeClr val="bg2"/>
          </a:solidFill>
        </p:spPr>
        <p:txBody>
          <a:bodyPr>
            <a:normAutofit/>
          </a:bodyPr>
          <a:lstStyle/>
          <a:p>
            <a:r>
              <a:rPr lang="en-US" dirty="0">
                <a:solidFill>
                  <a:schemeClr val="accent4">
                    <a:lumMod val="50000"/>
                  </a:schemeClr>
                </a:solidFill>
                <a:latin typeface="Calibri" panose="020F0502020204030204" pitchFamily="34" charset="0"/>
                <a:ea typeface="Calibri" panose="020F0502020204030204" pitchFamily="34" charset="0"/>
                <a:cs typeface="Calibri" panose="020F0502020204030204" pitchFamily="34" charset="0"/>
              </a:rPr>
              <a:t>Baseline Comparison</a:t>
            </a:r>
          </a:p>
        </p:txBody>
      </p:sp>
      <p:sp>
        <p:nvSpPr>
          <p:cNvPr id="3" name="Date Placeholder 2">
            <a:extLst>
              <a:ext uri="{FF2B5EF4-FFF2-40B4-BE49-F238E27FC236}">
                <a16:creationId xmlns:a16="http://schemas.microsoft.com/office/drawing/2014/main" id="{1EB1A4F4-EFC9-088C-5DA4-BFD359E81EAE}"/>
              </a:ext>
            </a:extLst>
          </p:cNvPr>
          <p:cNvSpPr>
            <a:spLocks noGrp="1"/>
          </p:cNvSpPr>
          <p:nvPr>
            <p:ph type="dt" sz="half" idx="10"/>
          </p:nvPr>
        </p:nvSpPr>
        <p:spPr/>
        <p:txBody>
          <a:bodyPr/>
          <a:lstStyle/>
          <a:p>
            <a:fld id="{1E300BD0-E5C2-4A74-9E3E-BB244319C3D5}" type="datetime1">
              <a:rPr lang="en-US" smtClean="0"/>
              <a:t>10-Jul-26</a:t>
            </a:fld>
            <a:endParaRPr lang="en-US"/>
          </a:p>
        </p:txBody>
      </p:sp>
      <p:sp>
        <p:nvSpPr>
          <p:cNvPr id="4" name="Slide Number Placeholder 3">
            <a:extLst>
              <a:ext uri="{FF2B5EF4-FFF2-40B4-BE49-F238E27FC236}">
                <a16:creationId xmlns:a16="http://schemas.microsoft.com/office/drawing/2014/main" id="{D4EF9121-AC73-C1EF-4BF1-EFCE2DCB4354}"/>
              </a:ext>
            </a:extLst>
          </p:cNvPr>
          <p:cNvSpPr>
            <a:spLocks noGrp="1"/>
          </p:cNvSpPr>
          <p:nvPr>
            <p:ph type="sldNum" sz="quarter" idx="12"/>
          </p:nvPr>
        </p:nvSpPr>
        <p:spPr/>
        <p:txBody>
          <a:bodyPr/>
          <a:lstStyle/>
          <a:p>
            <a:fld id="{7A1EA063-F1A0-4337-9BB4-F912B647AF2A}" type="slidenum">
              <a:rPr lang="en-US" smtClean="0"/>
              <a:t>22</a:t>
            </a:fld>
            <a:endParaRPr lang="en-US"/>
          </a:p>
        </p:txBody>
      </p:sp>
      <p:pic>
        <p:nvPicPr>
          <p:cNvPr id="6" name="Picture 5">
            <a:extLst>
              <a:ext uri="{FF2B5EF4-FFF2-40B4-BE49-F238E27FC236}">
                <a16:creationId xmlns:a16="http://schemas.microsoft.com/office/drawing/2014/main" id="{8E330F62-4DE8-FD38-DAFC-5527E4C4EF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5819" y="1290189"/>
            <a:ext cx="10680362" cy="3341643"/>
          </a:xfrm>
          <a:prstGeom prst="rect">
            <a:avLst/>
          </a:prstGeom>
        </p:spPr>
      </p:pic>
      <p:sp>
        <p:nvSpPr>
          <p:cNvPr id="8" name="TextBox 7">
            <a:extLst>
              <a:ext uri="{FF2B5EF4-FFF2-40B4-BE49-F238E27FC236}">
                <a16:creationId xmlns:a16="http://schemas.microsoft.com/office/drawing/2014/main" id="{8CEED8C4-575D-E4E2-7A3F-B0C20267A537}"/>
              </a:ext>
            </a:extLst>
          </p:cNvPr>
          <p:cNvSpPr txBox="1"/>
          <p:nvPr/>
        </p:nvSpPr>
        <p:spPr>
          <a:xfrm>
            <a:off x="1939413" y="4860640"/>
            <a:ext cx="8042787" cy="1200329"/>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A linear hyperplane cannot represent the conjunction-shaped security rules (role ∧ownership ∧ sensitivity ∧ velocity)</a:t>
            </a: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Rule conjunctions are represented natively as root-to leaf paths; ≈17-point absolute improvement</a:t>
            </a:r>
          </a:p>
        </p:txBody>
      </p:sp>
    </p:spTree>
    <p:extLst>
      <p:ext uri="{BB962C8B-B14F-4D97-AF65-F5344CB8AC3E}">
        <p14:creationId xmlns:p14="http://schemas.microsoft.com/office/powerpoint/2010/main" val="21198526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122D3-7250-F05E-B76C-9DA88DDB98A4}"/>
              </a:ext>
            </a:extLst>
          </p:cNvPr>
          <p:cNvSpPr>
            <a:spLocks noGrp="1"/>
          </p:cNvSpPr>
          <p:nvPr>
            <p:ph type="title"/>
          </p:nvPr>
        </p:nvSpPr>
        <p:spPr>
          <a:xfrm>
            <a:off x="1236201" y="136525"/>
            <a:ext cx="9719598" cy="716915"/>
          </a:xfrm>
          <a:solidFill>
            <a:schemeClr val="bg2"/>
          </a:solidFill>
        </p:spPr>
        <p:txBody>
          <a:bodyPr>
            <a:normAutofit/>
          </a:bodyPr>
          <a:lstStyle/>
          <a:p>
            <a:r>
              <a:rPr lang="en-US" dirty="0">
                <a:solidFill>
                  <a:schemeClr val="accent4">
                    <a:lumMod val="50000"/>
                  </a:schemeClr>
                </a:solidFill>
                <a:latin typeface="Calibri" panose="020F0502020204030204" pitchFamily="34" charset="0"/>
                <a:ea typeface="Calibri" panose="020F0502020204030204" pitchFamily="34" charset="0"/>
                <a:cs typeface="Calibri" panose="020F0502020204030204" pitchFamily="34" charset="0"/>
              </a:rPr>
              <a:t>Feature Importance</a:t>
            </a:r>
          </a:p>
        </p:txBody>
      </p:sp>
      <p:sp>
        <p:nvSpPr>
          <p:cNvPr id="3" name="Date Placeholder 2">
            <a:extLst>
              <a:ext uri="{FF2B5EF4-FFF2-40B4-BE49-F238E27FC236}">
                <a16:creationId xmlns:a16="http://schemas.microsoft.com/office/drawing/2014/main" id="{1EB1A4F4-EFC9-088C-5DA4-BFD359E81EAE}"/>
              </a:ext>
            </a:extLst>
          </p:cNvPr>
          <p:cNvSpPr>
            <a:spLocks noGrp="1"/>
          </p:cNvSpPr>
          <p:nvPr>
            <p:ph type="dt" sz="half" idx="10"/>
          </p:nvPr>
        </p:nvSpPr>
        <p:spPr/>
        <p:txBody>
          <a:bodyPr/>
          <a:lstStyle/>
          <a:p>
            <a:fld id="{1E300BD0-E5C2-4A74-9E3E-BB244319C3D5}" type="datetime1">
              <a:rPr lang="en-US" smtClean="0"/>
              <a:t>10-Jul-26</a:t>
            </a:fld>
            <a:endParaRPr lang="en-US"/>
          </a:p>
        </p:txBody>
      </p:sp>
      <p:sp>
        <p:nvSpPr>
          <p:cNvPr id="4" name="Slide Number Placeholder 3">
            <a:extLst>
              <a:ext uri="{FF2B5EF4-FFF2-40B4-BE49-F238E27FC236}">
                <a16:creationId xmlns:a16="http://schemas.microsoft.com/office/drawing/2014/main" id="{D4EF9121-AC73-C1EF-4BF1-EFCE2DCB4354}"/>
              </a:ext>
            </a:extLst>
          </p:cNvPr>
          <p:cNvSpPr>
            <a:spLocks noGrp="1"/>
          </p:cNvSpPr>
          <p:nvPr>
            <p:ph type="sldNum" sz="quarter" idx="12"/>
          </p:nvPr>
        </p:nvSpPr>
        <p:spPr/>
        <p:txBody>
          <a:bodyPr/>
          <a:lstStyle/>
          <a:p>
            <a:fld id="{7A1EA063-F1A0-4337-9BB4-F912B647AF2A}" type="slidenum">
              <a:rPr lang="en-US" smtClean="0"/>
              <a:t>23</a:t>
            </a:fld>
            <a:endParaRPr lang="en-US"/>
          </a:p>
        </p:txBody>
      </p:sp>
      <p:pic>
        <p:nvPicPr>
          <p:cNvPr id="7" name="Picture 6">
            <a:extLst>
              <a:ext uri="{FF2B5EF4-FFF2-40B4-BE49-F238E27FC236}">
                <a16:creationId xmlns:a16="http://schemas.microsoft.com/office/drawing/2014/main" id="{FA1CE7F2-F468-1CC3-7727-13118264D4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68060" y="1188715"/>
            <a:ext cx="8055880" cy="4480569"/>
          </a:xfrm>
          <a:prstGeom prst="rect">
            <a:avLst/>
          </a:prstGeom>
        </p:spPr>
      </p:pic>
    </p:spTree>
    <p:extLst>
      <p:ext uri="{BB962C8B-B14F-4D97-AF65-F5344CB8AC3E}">
        <p14:creationId xmlns:p14="http://schemas.microsoft.com/office/powerpoint/2010/main" val="37375672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BC0B5-7661-E991-A72F-D516297BD0EE}"/>
              </a:ext>
            </a:extLst>
          </p:cNvPr>
          <p:cNvSpPr>
            <a:spLocks noGrp="1"/>
          </p:cNvSpPr>
          <p:nvPr>
            <p:ph type="title"/>
          </p:nvPr>
        </p:nvSpPr>
        <p:spPr>
          <a:solidFill>
            <a:schemeClr val="bg2"/>
          </a:solidFill>
        </p:spPr>
        <p:txBody>
          <a:bodyPr/>
          <a:lstStyle/>
          <a:p>
            <a:r>
              <a:rPr lang="en-US" dirty="0" err="1">
                <a:solidFill>
                  <a:schemeClr val="accent4">
                    <a:lumMod val="50000"/>
                  </a:schemeClr>
                </a:solidFill>
                <a:latin typeface="Calibri" panose="020F0502020204030204" pitchFamily="34" charset="0"/>
                <a:ea typeface="Calibri" panose="020F0502020204030204" pitchFamily="34" charset="0"/>
                <a:cs typeface="Calibri" panose="020F0502020204030204" pitchFamily="34" charset="0"/>
              </a:rPr>
              <a:t>Transpiled</a:t>
            </a:r>
            <a:r>
              <a:rPr lang="en-US" dirty="0">
                <a:solidFill>
                  <a:schemeClr val="accent4">
                    <a:lumMod val="50000"/>
                  </a:schemeClr>
                </a:solidFill>
                <a:latin typeface="Calibri" panose="020F0502020204030204" pitchFamily="34" charset="0"/>
                <a:ea typeface="Calibri" panose="020F0502020204030204" pitchFamily="34" charset="0"/>
                <a:cs typeface="Calibri" panose="020F0502020204030204" pitchFamily="34" charset="0"/>
              </a:rPr>
              <a:t> Artifact Latency</a:t>
            </a:r>
          </a:p>
        </p:txBody>
      </p:sp>
      <p:sp>
        <p:nvSpPr>
          <p:cNvPr id="3" name="Content Placeholder 2">
            <a:extLst>
              <a:ext uri="{FF2B5EF4-FFF2-40B4-BE49-F238E27FC236}">
                <a16:creationId xmlns:a16="http://schemas.microsoft.com/office/drawing/2014/main" id="{B2568E2F-CB16-72BE-E1F9-66B507B41E0D}"/>
              </a:ext>
            </a:extLst>
          </p:cNvPr>
          <p:cNvSpPr>
            <a:spLocks noGrp="1"/>
          </p:cNvSpPr>
          <p:nvPr>
            <p:ph idx="1"/>
          </p:nvPr>
        </p:nvSpPr>
        <p:spPr>
          <a:xfrm>
            <a:off x="838200" y="2141537"/>
            <a:ext cx="5582265" cy="4351338"/>
          </a:xfrm>
        </p:spPr>
        <p:txBody>
          <a:bodyPr/>
          <a:lstStyle/>
          <a:p>
            <a:r>
              <a:rPr lang="en-US" dirty="0">
                <a:latin typeface="Calibri" panose="020F0502020204030204" pitchFamily="34" charset="0"/>
                <a:ea typeface="Calibri" panose="020F0502020204030204" pitchFamily="34" charset="0"/>
                <a:cs typeface="Calibri" panose="020F0502020204030204" pitchFamily="34" charset="0"/>
              </a:rPr>
              <a:t>~3 MB JavaScript · loaded once (~50 </a:t>
            </a:r>
            <a:r>
              <a:rPr lang="en-US" dirty="0" err="1">
                <a:latin typeface="Calibri" panose="020F0502020204030204" pitchFamily="34" charset="0"/>
                <a:ea typeface="Calibri" panose="020F0502020204030204" pitchFamily="34" charset="0"/>
                <a:cs typeface="Calibri" panose="020F0502020204030204" pitchFamily="34" charset="0"/>
              </a:rPr>
              <a:t>ms</a:t>
            </a:r>
            <a:r>
              <a:rPr lang="en-US" dirty="0">
                <a:latin typeface="Calibri" panose="020F0502020204030204" pitchFamily="34" charset="0"/>
                <a:ea typeface="Calibri" panose="020F0502020204030204" pitchFamily="34" charset="0"/>
                <a:cs typeface="Calibri" panose="020F0502020204030204" pitchFamily="34" charset="0"/>
              </a:rPr>
              <a:t>)</a:t>
            </a:r>
          </a:p>
          <a:p>
            <a:r>
              <a:rPr lang="en-US" dirty="0">
                <a:latin typeface="Calibri" panose="020F0502020204030204" pitchFamily="34" charset="0"/>
                <a:ea typeface="Calibri" panose="020F0502020204030204" pitchFamily="34" charset="0"/>
                <a:cs typeface="Calibri" panose="020F0502020204030204" pitchFamily="34" charset="0"/>
              </a:rPr>
              <a:t>Warm inference: ≈ 50 µs per call</a:t>
            </a:r>
          </a:p>
          <a:p>
            <a:r>
              <a:rPr lang="en-US" dirty="0">
                <a:latin typeface="Calibri" panose="020F0502020204030204" pitchFamily="34" charset="0"/>
                <a:ea typeface="Calibri" panose="020F0502020204030204" pitchFamily="34" charset="0"/>
                <a:cs typeface="Calibri" panose="020F0502020204030204" pitchFamily="34" charset="0"/>
              </a:rPr>
              <a:t>Feature extraction: ≈ 1–2 </a:t>
            </a:r>
            <a:r>
              <a:rPr lang="en-US" dirty="0" err="1">
                <a:latin typeface="Calibri" panose="020F0502020204030204" pitchFamily="34" charset="0"/>
                <a:ea typeface="Calibri" panose="020F0502020204030204" pitchFamily="34" charset="0"/>
                <a:cs typeface="Calibri" panose="020F0502020204030204" pitchFamily="34" charset="0"/>
              </a:rPr>
              <a:t>ms</a:t>
            </a:r>
            <a:r>
              <a:rPr lang="en-US" dirty="0">
                <a:latin typeface="Calibri" panose="020F0502020204030204" pitchFamily="34" charset="0"/>
                <a:ea typeface="Calibri" panose="020F0502020204030204" pitchFamily="34" charset="0"/>
                <a:cs typeface="Calibri" panose="020F0502020204030204" pitchFamily="34" charset="0"/>
              </a:rPr>
              <a:t> · total overhead ≈ 2 </a:t>
            </a:r>
            <a:r>
              <a:rPr lang="en-US" dirty="0" err="1">
                <a:latin typeface="Calibri" panose="020F0502020204030204" pitchFamily="34" charset="0"/>
                <a:ea typeface="Calibri" panose="020F0502020204030204" pitchFamily="34" charset="0"/>
                <a:cs typeface="Calibri" panose="020F0502020204030204" pitchFamily="34" charset="0"/>
              </a:rPr>
              <a:t>ms</a:t>
            </a:r>
            <a:endParaRPr lang="en-US" dirty="0">
              <a:latin typeface="Calibri" panose="020F0502020204030204" pitchFamily="34" charset="0"/>
              <a:ea typeface="Calibri" panose="020F0502020204030204" pitchFamily="34" charset="0"/>
              <a:cs typeface="Calibri" panose="020F0502020204030204" pitchFamily="34" charset="0"/>
            </a:endParaRPr>
          </a:p>
          <a:p>
            <a:r>
              <a:rPr lang="en-US" dirty="0">
                <a:latin typeface="Calibri" panose="020F0502020204030204" pitchFamily="34" charset="0"/>
                <a:ea typeface="Calibri" panose="020F0502020204030204" pitchFamily="34" charset="0"/>
                <a:cs typeface="Calibri" panose="020F0502020204030204" pitchFamily="34" charset="0"/>
              </a:rPr>
              <a:t>Learned decision bands: LOW ≤ 8 → MEDIUM 9–13 → HIGH ≥ 15 req/min</a:t>
            </a:r>
          </a:p>
        </p:txBody>
      </p:sp>
      <p:sp>
        <p:nvSpPr>
          <p:cNvPr id="4" name="Date Placeholder 3">
            <a:extLst>
              <a:ext uri="{FF2B5EF4-FFF2-40B4-BE49-F238E27FC236}">
                <a16:creationId xmlns:a16="http://schemas.microsoft.com/office/drawing/2014/main" id="{7C6C66DA-59D6-1607-A262-37E22A8FBD49}"/>
              </a:ext>
            </a:extLst>
          </p:cNvPr>
          <p:cNvSpPr>
            <a:spLocks noGrp="1"/>
          </p:cNvSpPr>
          <p:nvPr>
            <p:ph type="dt" sz="half" idx="10"/>
          </p:nvPr>
        </p:nvSpPr>
        <p:spPr/>
        <p:txBody>
          <a:bodyPr/>
          <a:lstStyle/>
          <a:p>
            <a:fld id="{7A201E91-4DAB-4F48-8C1A-6F69EDFC4872}" type="datetime1">
              <a:rPr lang="en-US" smtClean="0"/>
              <a:t>10-Jul-26</a:t>
            </a:fld>
            <a:endParaRPr lang="en-US"/>
          </a:p>
        </p:txBody>
      </p:sp>
      <p:sp>
        <p:nvSpPr>
          <p:cNvPr id="5" name="Slide Number Placeholder 4">
            <a:extLst>
              <a:ext uri="{FF2B5EF4-FFF2-40B4-BE49-F238E27FC236}">
                <a16:creationId xmlns:a16="http://schemas.microsoft.com/office/drawing/2014/main" id="{5FAC08BD-F8E3-5F72-B0D6-EB5E1097F879}"/>
              </a:ext>
            </a:extLst>
          </p:cNvPr>
          <p:cNvSpPr>
            <a:spLocks noGrp="1"/>
          </p:cNvSpPr>
          <p:nvPr>
            <p:ph type="sldNum" sz="quarter" idx="12"/>
          </p:nvPr>
        </p:nvSpPr>
        <p:spPr/>
        <p:txBody>
          <a:bodyPr/>
          <a:lstStyle/>
          <a:p>
            <a:fld id="{7A1EA063-F1A0-4337-9BB4-F912B647AF2A}" type="slidenum">
              <a:rPr lang="en-US" smtClean="0"/>
              <a:t>24</a:t>
            </a:fld>
            <a:endParaRPr lang="en-US"/>
          </a:p>
        </p:txBody>
      </p:sp>
      <p:pic>
        <p:nvPicPr>
          <p:cNvPr id="7" name="Picture 6">
            <a:extLst>
              <a:ext uri="{FF2B5EF4-FFF2-40B4-BE49-F238E27FC236}">
                <a16:creationId xmlns:a16="http://schemas.microsoft.com/office/drawing/2014/main" id="{8E021359-9E9D-D27B-CAE4-138AA5A140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88233" y="2079838"/>
            <a:ext cx="5065567" cy="4413037"/>
          </a:xfrm>
          <a:prstGeom prst="rect">
            <a:avLst/>
          </a:prstGeom>
        </p:spPr>
      </p:pic>
    </p:spTree>
    <p:extLst>
      <p:ext uri="{BB962C8B-B14F-4D97-AF65-F5344CB8AC3E}">
        <p14:creationId xmlns:p14="http://schemas.microsoft.com/office/powerpoint/2010/main" val="18383371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122D3-7250-F05E-B76C-9DA88DDB98A4}"/>
              </a:ext>
            </a:extLst>
          </p:cNvPr>
          <p:cNvSpPr>
            <a:spLocks noGrp="1"/>
          </p:cNvSpPr>
          <p:nvPr>
            <p:ph type="title"/>
          </p:nvPr>
        </p:nvSpPr>
        <p:spPr>
          <a:xfrm>
            <a:off x="1236201" y="136525"/>
            <a:ext cx="9719598" cy="716915"/>
          </a:xfrm>
          <a:solidFill>
            <a:schemeClr val="bg2"/>
          </a:solidFill>
        </p:spPr>
        <p:txBody>
          <a:bodyPr>
            <a:normAutofit/>
          </a:bodyPr>
          <a:lstStyle/>
          <a:p>
            <a:r>
              <a:rPr lang="en-US" dirty="0">
                <a:solidFill>
                  <a:schemeClr val="accent4">
                    <a:lumMod val="50000"/>
                  </a:schemeClr>
                </a:solidFill>
                <a:latin typeface="Calibri" panose="020F0502020204030204" pitchFamily="34" charset="0"/>
                <a:ea typeface="Calibri" panose="020F0502020204030204" pitchFamily="34" charset="0"/>
                <a:cs typeface="Calibri" panose="020F0502020204030204" pitchFamily="34" charset="0"/>
              </a:rPr>
              <a:t>Comparison with static pipeline</a:t>
            </a:r>
          </a:p>
        </p:txBody>
      </p:sp>
      <p:sp>
        <p:nvSpPr>
          <p:cNvPr id="3" name="Date Placeholder 2">
            <a:extLst>
              <a:ext uri="{FF2B5EF4-FFF2-40B4-BE49-F238E27FC236}">
                <a16:creationId xmlns:a16="http://schemas.microsoft.com/office/drawing/2014/main" id="{1EB1A4F4-EFC9-088C-5DA4-BFD359E81EAE}"/>
              </a:ext>
            </a:extLst>
          </p:cNvPr>
          <p:cNvSpPr>
            <a:spLocks noGrp="1"/>
          </p:cNvSpPr>
          <p:nvPr>
            <p:ph type="dt" sz="half" idx="10"/>
          </p:nvPr>
        </p:nvSpPr>
        <p:spPr/>
        <p:txBody>
          <a:bodyPr/>
          <a:lstStyle/>
          <a:p>
            <a:fld id="{1E300BD0-E5C2-4A74-9E3E-BB244319C3D5}" type="datetime1">
              <a:rPr lang="en-US" smtClean="0"/>
              <a:t>10-Jul-26</a:t>
            </a:fld>
            <a:endParaRPr lang="en-US"/>
          </a:p>
        </p:txBody>
      </p:sp>
      <p:sp>
        <p:nvSpPr>
          <p:cNvPr id="4" name="Slide Number Placeholder 3">
            <a:extLst>
              <a:ext uri="{FF2B5EF4-FFF2-40B4-BE49-F238E27FC236}">
                <a16:creationId xmlns:a16="http://schemas.microsoft.com/office/drawing/2014/main" id="{D4EF9121-AC73-C1EF-4BF1-EFCE2DCB4354}"/>
              </a:ext>
            </a:extLst>
          </p:cNvPr>
          <p:cNvSpPr>
            <a:spLocks noGrp="1"/>
          </p:cNvSpPr>
          <p:nvPr>
            <p:ph type="sldNum" sz="quarter" idx="12"/>
          </p:nvPr>
        </p:nvSpPr>
        <p:spPr/>
        <p:txBody>
          <a:bodyPr/>
          <a:lstStyle/>
          <a:p>
            <a:fld id="{7A1EA063-F1A0-4337-9BB4-F912B647AF2A}" type="slidenum">
              <a:rPr lang="en-US" smtClean="0"/>
              <a:t>25</a:t>
            </a:fld>
            <a:endParaRPr lang="en-US"/>
          </a:p>
        </p:txBody>
      </p:sp>
      <p:graphicFrame>
        <p:nvGraphicFramePr>
          <p:cNvPr id="5" name="Table 4">
            <a:extLst>
              <a:ext uri="{FF2B5EF4-FFF2-40B4-BE49-F238E27FC236}">
                <a16:creationId xmlns:a16="http://schemas.microsoft.com/office/drawing/2014/main" id="{B6D3B963-2F40-4BDA-6ABF-C82AD9B83AE8}"/>
              </a:ext>
            </a:extLst>
          </p:cNvPr>
          <p:cNvGraphicFramePr>
            <a:graphicFrameLocks noGrp="1"/>
          </p:cNvGraphicFramePr>
          <p:nvPr>
            <p:extLst>
              <p:ext uri="{D42A27DB-BD31-4B8C-83A1-F6EECF244321}">
                <p14:modId xmlns:p14="http://schemas.microsoft.com/office/powerpoint/2010/main" val="1923997016"/>
              </p:ext>
            </p:extLst>
          </p:nvPr>
        </p:nvGraphicFramePr>
        <p:xfrm>
          <a:off x="2032000" y="1227455"/>
          <a:ext cx="8127999" cy="475488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13875744"/>
                    </a:ext>
                  </a:extLst>
                </a:gridCol>
                <a:gridCol w="2709333">
                  <a:extLst>
                    <a:ext uri="{9D8B030D-6E8A-4147-A177-3AD203B41FA5}">
                      <a16:colId xmlns:a16="http://schemas.microsoft.com/office/drawing/2014/main" val="1282773199"/>
                    </a:ext>
                  </a:extLst>
                </a:gridCol>
                <a:gridCol w="2709333">
                  <a:extLst>
                    <a:ext uri="{9D8B030D-6E8A-4147-A177-3AD203B41FA5}">
                      <a16:colId xmlns:a16="http://schemas.microsoft.com/office/drawing/2014/main" val="300448011"/>
                    </a:ext>
                  </a:extLst>
                </a:gridCol>
              </a:tblGrid>
              <a:tr h="370840">
                <a:tc>
                  <a:txBody>
                    <a:bodyPr/>
                    <a:lstStyle/>
                    <a:p>
                      <a:r>
                        <a:rPr lang="en-US" dirty="0"/>
                        <a:t>Threat scenario</a:t>
                      </a:r>
                    </a:p>
                  </a:txBody>
                  <a:tcPr/>
                </a:tc>
                <a:tc>
                  <a:txBody>
                    <a:bodyPr/>
                    <a:lstStyle/>
                    <a:p>
                      <a:r>
                        <a:rPr lang="en-US" dirty="0"/>
                        <a:t>Static pipeline (ORM+RBAC)</a:t>
                      </a:r>
                    </a:p>
                  </a:txBody>
                  <a:tcPr/>
                </a:tc>
                <a:tc>
                  <a:txBody>
                    <a:bodyPr/>
                    <a:lstStyle/>
                    <a:p>
                      <a:r>
                        <a:rPr lang="en-US" dirty="0"/>
                        <a:t>Proposed adaptive </a:t>
                      </a:r>
                      <a:r>
                        <a:rPr lang="en-US" dirty="0" err="1"/>
                        <a:t>framwork</a:t>
                      </a:r>
                      <a:endParaRPr lang="en-US" dirty="0"/>
                    </a:p>
                  </a:txBody>
                  <a:tcPr/>
                </a:tc>
                <a:extLst>
                  <a:ext uri="{0D108BD9-81ED-4DB2-BD59-A6C34878D82A}">
                    <a16:rowId xmlns:a16="http://schemas.microsoft.com/office/drawing/2014/main" val="3969324932"/>
                  </a:ext>
                </a:extLst>
              </a:tr>
              <a:tr h="370840">
                <a:tc>
                  <a:txBody>
                    <a:bodyPr/>
                    <a:lstStyle/>
                    <a:p>
                      <a:r>
                        <a:rPr lang="en-US" dirty="0"/>
                        <a:t>Legitimate self-access </a:t>
                      </a:r>
                    </a:p>
                  </a:txBody>
                  <a:tcPr/>
                </a:tc>
                <a:tc>
                  <a:txBody>
                    <a:bodyPr/>
                    <a:lstStyle/>
                    <a:p>
                      <a:r>
                        <a:rPr lang="en-US" dirty="0"/>
                        <a:t>Full plaintext </a:t>
                      </a:r>
                    </a:p>
                  </a:txBody>
                  <a:tcPr/>
                </a:tc>
                <a:tc>
                  <a:txBody>
                    <a:bodyPr/>
                    <a:lstStyle/>
                    <a:p>
                      <a:r>
                        <a:rPr lang="en-US" dirty="0"/>
                        <a:t>Full plaintext (99.14% pass rate) + audit trail</a:t>
                      </a:r>
                    </a:p>
                  </a:txBody>
                  <a:tcPr/>
                </a:tc>
                <a:extLst>
                  <a:ext uri="{0D108BD9-81ED-4DB2-BD59-A6C34878D82A}">
                    <a16:rowId xmlns:a16="http://schemas.microsoft.com/office/drawing/2014/main" val="3813138286"/>
                  </a:ext>
                </a:extLst>
              </a:tr>
              <a:tr h="370840">
                <a:tc>
                  <a:txBody>
                    <a:bodyPr/>
                    <a:lstStyle/>
                    <a:p>
                      <a:r>
                        <a:rPr lang="en-US" dirty="0"/>
                        <a:t>Moderate over-querying (9–13 req/min)</a:t>
                      </a:r>
                    </a:p>
                  </a:txBody>
                  <a:tcPr/>
                </a:tc>
                <a:tc>
                  <a:txBody>
                    <a:bodyPr/>
                    <a:lstStyle/>
                    <a:p>
                      <a:r>
                        <a:rPr lang="en-US" dirty="0"/>
                        <a:t>Full plaintext </a:t>
                      </a:r>
                    </a:p>
                  </a:txBody>
                  <a:tcPr/>
                </a:tc>
                <a:tc>
                  <a:txBody>
                    <a:bodyPr/>
                    <a:lstStyle/>
                    <a:p>
                      <a:r>
                        <a:rPr lang="en-US" dirty="0"/>
                        <a:t>Masked view; workflow continues </a:t>
                      </a:r>
                    </a:p>
                  </a:txBody>
                  <a:tcPr/>
                </a:tc>
                <a:extLst>
                  <a:ext uri="{0D108BD9-81ED-4DB2-BD59-A6C34878D82A}">
                    <a16:rowId xmlns:a16="http://schemas.microsoft.com/office/drawing/2014/main" val="2551050154"/>
                  </a:ext>
                </a:extLst>
              </a:tr>
              <a:tr h="370840">
                <a:tc>
                  <a:txBody>
                    <a:bodyPr/>
                    <a:lstStyle/>
                    <a:p>
                      <a:r>
                        <a:rPr lang="en-US" dirty="0"/>
                        <a:t>Scraping (40 req/min)</a:t>
                      </a:r>
                    </a:p>
                  </a:txBody>
                  <a:tcPr/>
                </a:tc>
                <a:tc>
                  <a:txBody>
                    <a:bodyPr/>
                    <a:lstStyle/>
                    <a:p>
                      <a:r>
                        <a:rPr lang="en-US" dirty="0"/>
                        <a:t>Full plaintext on every request </a:t>
                      </a:r>
                    </a:p>
                  </a:txBody>
                  <a:tcPr/>
                </a:tc>
                <a:tc>
                  <a:txBody>
                    <a:bodyPr/>
                    <a:lstStyle/>
                    <a:p>
                      <a:r>
                        <a:rPr lang="en-US" dirty="0"/>
                        <a:t>Denied at P(HIGH) = 1.000; zero decryption</a:t>
                      </a:r>
                    </a:p>
                  </a:txBody>
                  <a:tcPr/>
                </a:tc>
                <a:extLst>
                  <a:ext uri="{0D108BD9-81ED-4DB2-BD59-A6C34878D82A}">
                    <a16:rowId xmlns:a16="http://schemas.microsoft.com/office/drawing/2014/main" val="1739790149"/>
                  </a:ext>
                </a:extLst>
              </a:tr>
              <a:tr h="370840">
                <a:tc>
                  <a:txBody>
                    <a:bodyPr/>
                    <a:lstStyle/>
                    <a:p>
                      <a:r>
                        <a:rPr lang="en-US" dirty="0"/>
                        <a:t>IDOR cross-record read</a:t>
                      </a:r>
                    </a:p>
                  </a:txBody>
                  <a:tcPr/>
                </a:tc>
                <a:tc>
                  <a:txBody>
                    <a:bodyPr/>
                    <a:lstStyle/>
                    <a:p>
                      <a:r>
                        <a:rPr lang="en-US" dirty="0"/>
                        <a:t>Full plaintext if role-authorized</a:t>
                      </a:r>
                    </a:p>
                  </a:txBody>
                  <a:tcPr/>
                </a:tc>
                <a:tc>
                  <a:txBody>
                    <a:bodyPr/>
                    <a:lstStyle/>
                    <a:p>
                      <a:r>
                        <a:rPr lang="en-US" dirty="0"/>
                        <a:t>Denied at P(HIGH) = 0.990; zero decryption </a:t>
                      </a:r>
                    </a:p>
                  </a:txBody>
                  <a:tcPr/>
                </a:tc>
                <a:extLst>
                  <a:ext uri="{0D108BD9-81ED-4DB2-BD59-A6C34878D82A}">
                    <a16:rowId xmlns:a16="http://schemas.microsoft.com/office/drawing/2014/main" val="874024075"/>
                  </a:ext>
                </a:extLst>
              </a:tr>
              <a:tr h="370840">
                <a:tc>
                  <a:txBody>
                    <a:bodyPr/>
                    <a:lstStyle/>
                    <a:p>
                      <a:r>
                        <a:rPr lang="en-US" dirty="0"/>
                        <a:t>Post-credential-stuffing access</a:t>
                      </a:r>
                    </a:p>
                  </a:txBody>
                  <a:tcPr/>
                </a:tc>
                <a:tc>
                  <a:txBody>
                    <a:bodyPr/>
                    <a:lstStyle/>
                    <a:p>
                      <a:r>
                        <a:rPr lang="en-US" dirty="0"/>
                        <a:t>Full plaintext</a:t>
                      </a:r>
                    </a:p>
                  </a:txBody>
                  <a:tcPr/>
                </a:tc>
                <a:tc>
                  <a:txBody>
                    <a:bodyPr/>
                    <a:lstStyle/>
                    <a:p>
                      <a:r>
                        <a:rPr lang="en-US" dirty="0"/>
                        <a:t>Denied at P(HIGH) = 0.720; zero</a:t>
                      </a:r>
                    </a:p>
                  </a:txBody>
                  <a:tcPr/>
                </a:tc>
                <a:extLst>
                  <a:ext uri="{0D108BD9-81ED-4DB2-BD59-A6C34878D82A}">
                    <a16:rowId xmlns:a16="http://schemas.microsoft.com/office/drawing/2014/main" val="1794588459"/>
                  </a:ext>
                </a:extLst>
              </a:tr>
              <a:tr h="370840">
                <a:tc>
                  <a:txBody>
                    <a:bodyPr/>
                    <a:lstStyle/>
                    <a:p>
                      <a:r>
                        <a:rPr lang="en-US" dirty="0"/>
                        <a:t>Added latency per request</a:t>
                      </a:r>
                    </a:p>
                  </a:txBody>
                  <a:tcPr/>
                </a:tc>
                <a:tc>
                  <a:txBody>
                    <a:bodyPr/>
                    <a:lstStyle/>
                    <a:p>
                      <a:r>
                        <a:rPr lang="en-US" dirty="0"/>
                        <a:t>Usual system latency</a:t>
                      </a:r>
                    </a:p>
                  </a:txBody>
                  <a:tcPr/>
                </a:tc>
                <a:tc>
                  <a:txBody>
                    <a:bodyPr/>
                    <a:lstStyle/>
                    <a:p>
                      <a:r>
                        <a:rPr lang="en-US" dirty="0"/>
                        <a:t>≈ 2 </a:t>
                      </a:r>
                      <a:r>
                        <a:rPr lang="en-US" dirty="0" err="1"/>
                        <a:t>ms</a:t>
                      </a:r>
                      <a:r>
                        <a:rPr lang="en-US" dirty="0"/>
                        <a:t> total (audit insert + feature counts); inference ≈ 50 µs </a:t>
                      </a:r>
                    </a:p>
                  </a:txBody>
                  <a:tcPr/>
                </a:tc>
                <a:extLst>
                  <a:ext uri="{0D108BD9-81ED-4DB2-BD59-A6C34878D82A}">
                    <a16:rowId xmlns:a16="http://schemas.microsoft.com/office/drawing/2014/main" val="930896817"/>
                  </a:ext>
                </a:extLst>
              </a:tr>
            </a:tbl>
          </a:graphicData>
        </a:graphic>
      </p:graphicFrame>
    </p:spTree>
    <p:extLst>
      <p:ext uri="{BB962C8B-B14F-4D97-AF65-F5344CB8AC3E}">
        <p14:creationId xmlns:p14="http://schemas.microsoft.com/office/powerpoint/2010/main" val="11447705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122D3-7250-F05E-B76C-9DA88DDB98A4}"/>
              </a:ext>
            </a:extLst>
          </p:cNvPr>
          <p:cNvSpPr>
            <a:spLocks noGrp="1"/>
          </p:cNvSpPr>
          <p:nvPr>
            <p:ph type="title"/>
          </p:nvPr>
        </p:nvSpPr>
        <p:spPr>
          <a:xfrm>
            <a:off x="1236201" y="136525"/>
            <a:ext cx="9719598" cy="716915"/>
          </a:xfrm>
          <a:solidFill>
            <a:schemeClr val="bg2"/>
          </a:solidFill>
        </p:spPr>
        <p:txBody>
          <a:bodyPr>
            <a:normAutofit/>
          </a:bodyPr>
          <a:lstStyle/>
          <a:p>
            <a:r>
              <a:rPr lang="en-US" dirty="0">
                <a:solidFill>
                  <a:schemeClr val="accent4">
                    <a:lumMod val="50000"/>
                  </a:schemeClr>
                </a:solidFill>
                <a:latin typeface="Calibri" panose="020F0502020204030204" pitchFamily="34" charset="0"/>
                <a:ea typeface="Calibri" panose="020F0502020204030204" pitchFamily="34" charset="0"/>
                <a:cs typeface="Calibri" panose="020F0502020204030204" pitchFamily="34" charset="0"/>
              </a:rPr>
              <a:t>System Demonstration: Low-risk</a:t>
            </a:r>
          </a:p>
        </p:txBody>
      </p:sp>
      <p:sp>
        <p:nvSpPr>
          <p:cNvPr id="3" name="Date Placeholder 2">
            <a:extLst>
              <a:ext uri="{FF2B5EF4-FFF2-40B4-BE49-F238E27FC236}">
                <a16:creationId xmlns:a16="http://schemas.microsoft.com/office/drawing/2014/main" id="{1EB1A4F4-EFC9-088C-5DA4-BFD359E81EAE}"/>
              </a:ext>
            </a:extLst>
          </p:cNvPr>
          <p:cNvSpPr>
            <a:spLocks noGrp="1"/>
          </p:cNvSpPr>
          <p:nvPr>
            <p:ph type="dt" sz="half" idx="10"/>
          </p:nvPr>
        </p:nvSpPr>
        <p:spPr/>
        <p:txBody>
          <a:bodyPr/>
          <a:lstStyle/>
          <a:p>
            <a:fld id="{1E300BD0-E5C2-4A74-9E3E-BB244319C3D5}" type="datetime1">
              <a:rPr lang="en-US" smtClean="0"/>
              <a:t>10-Jul-26</a:t>
            </a:fld>
            <a:endParaRPr lang="en-US"/>
          </a:p>
        </p:txBody>
      </p:sp>
      <p:sp>
        <p:nvSpPr>
          <p:cNvPr id="4" name="Slide Number Placeholder 3">
            <a:extLst>
              <a:ext uri="{FF2B5EF4-FFF2-40B4-BE49-F238E27FC236}">
                <a16:creationId xmlns:a16="http://schemas.microsoft.com/office/drawing/2014/main" id="{D4EF9121-AC73-C1EF-4BF1-EFCE2DCB4354}"/>
              </a:ext>
            </a:extLst>
          </p:cNvPr>
          <p:cNvSpPr>
            <a:spLocks noGrp="1"/>
          </p:cNvSpPr>
          <p:nvPr>
            <p:ph type="sldNum" sz="quarter" idx="12"/>
          </p:nvPr>
        </p:nvSpPr>
        <p:spPr/>
        <p:txBody>
          <a:bodyPr/>
          <a:lstStyle/>
          <a:p>
            <a:fld id="{7A1EA063-F1A0-4337-9BB4-F912B647AF2A}" type="slidenum">
              <a:rPr lang="en-US" smtClean="0"/>
              <a:t>26</a:t>
            </a:fld>
            <a:endParaRPr lang="en-US"/>
          </a:p>
        </p:txBody>
      </p:sp>
      <p:pic>
        <p:nvPicPr>
          <p:cNvPr id="7" name="Picture 6">
            <a:extLst>
              <a:ext uri="{FF2B5EF4-FFF2-40B4-BE49-F238E27FC236}">
                <a16:creationId xmlns:a16="http://schemas.microsoft.com/office/drawing/2014/main" id="{26C9594A-DEB5-F91E-9558-9588A70E8F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16696" y="1066945"/>
            <a:ext cx="5387807" cy="5654530"/>
          </a:xfrm>
          <a:prstGeom prst="rect">
            <a:avLst/>
          </a:prstGeom>
        </p:spPr>
      </p:pic>
      <p:sp>
        <p:nvSpPr>
          <p:cNvPr id="8" name="TextBox 7">
            <a:extLst>
              <a:ext uri="{FF2B5EF4-FFF2-40B4-BE49-F238E27FC236}">
                <a16:creationId xmlns:a16="http://schemas.microsoft.com/office/drawing/2014/main" id="{A34192D6-6A33-593F-1DB1-6B4E4FF53889}"/>
              </a:ext>
            </a:extLst>
          </p:cNvPr>
          <p:cNvSpPr txBox="1"/>
          <p:nvPr/>
        </p:nvSpPr>
        <p:spPr>
          <a:xfrm>
            <a:off x="223818" y="1922388"/>
            <a:ext cx="5387807" cy="1200329"/>
          </a:xfrm>
          <a:prstGeom prst="rect">
            <a:avLst/>
          </a:prstGeom>
          <a:noFill/>
        </p:spPr>
        <p:txBody>
          <a:bodyPr wrap="square" rtlCol="0">
            <a:spAutoFit/>
          </a:bodyPr>
          <a:lstStyle/>
          <a:p>
            <a:r>
              <a:rPr lang="en-US" dirty="0" err="1"/>
              <a:t>User_id</a:t>
            </a:r>
            <a:r>
              <a:rPr lang="en-US" dirty="0"/>
              <a:t>: </a:t>
            </a:r>
          </a:p>
          <a:p>
            <a:r>
              <a:rPr lang="en-US" dirty="0"/>
              <a:t>"26e1dfea-b697-4b1b-8f57-6c81420da04f“</a:t>
            </a:r>
          </a:p>
          <a:p>
            <a:r>
              <a:rPr lang="en-US" dirty="0"/>
              <a:t>API endpoint: http://localhost:3000/api/v1/bank/details</a:t>
            </a:r>
          </a:p>
        </p:txBody>
      </p:sp>
    </p:spTree>
    <p:extLst>
      <p:ext uri="{BB962C8B-B14F-4D97-AF65-F5344CB8AC3E}">
        <p14:creationId xmlns:p14="http://schemas.microsoft.com/office/powerpoint/2010/main" val="5826148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122D3-7250-F05E-B76C-9DA88DDB98A4}"/>
              </a:ext>
            </a:extLst>
          </p:cNvPr>
          <p:cNvSpPr>
            <a:spLocks noGrp="1"/>
          </p:cNvSpPr>
          <p:nvPr>
            <p:ph type="title"/>
          </p:nvPr>
        </p:nvSpPr>
        <p:spPr>
          <a:xfrm>
            <a:off x="1236201" y="136525"/>
            <a:ext cx="9719598" cy="716915"/>
          </a:xfrm>
          <a:solidFill>
            <a:schemeClr val="bg2"/>
          </a:solidFill>
        </p:spPr>
        <p:txBody>
          <a:bodyPr>
            <a:normAutofit/>
          </a:bodyPr>
          <a:lstStyle/>
          <a:p>
            <a:r>
              <a:rPr lang="en-US" dirty="0">
                <a:solidFill>
                  <a:schemeClr val="accent4">
                    <a:lumMod val="50000"/>
                  </a:schemeClr>
                </a:solidFill>
                <a:latin typeface="Calibri" panose="020F0502020204030204" pitchFamily="34" charset="0"/>
                <a:ea typeface="Calibri" panose="020F0502020204030204" pitchFamily="34" charset="0"/>
                <a:cs typeface="Calibri" panose="020F0502020204030204" pitchFamily="34" charset="0"/>
              </a:rPr>
              <a:t>System Demonstration: Medium-risk</a:t>
            </a:r>
          </a:p>
        </p:txBody>
      </p:sp>
      <p:sp>
        <p:nvSpPr>
          <p:cNvPr id="3" name="Date Placeholder 2">
            <a:extLst>
              <a:ext uri="{FF2B5EF4-FFF2-40B4-BE49-F238E27FC236}">
                <a16:creationId xmlns:a16="http://schemas.microsoft.com/office/drawing/2014/main" id="{1EB1A4F4-EFC9-088C-5DA4-BFD359E81EAE}"/>
              </a:ext>
            </a:extLst>
          </p:cNvPr>
          <p:cNvSpPr>
            <a:spLocks noGrp="1"/>
          </p:cNvSpPr>
          <p:nvPr>
            <p:ph type="dt" sz="half" idx="10"/>
          </p:nvPr>
        </p:nvSpPr>
        <p:spPr/>
        <p:txBody>
          <a:bodyPr/>
          <a:lstStyle/>
          <a:p>
            <a:fld id="{1E300BD0-E5C2-4A74-9E3E-BB244319C3D5}" type="datetime1">
              <a:rPr lang="en-US" smtClean="0"/>
              <a:t>10-Jul-26</a:t>
            </a:fld>
            <a:endParaRPr lang="en-US"/>
          </a:p>
        </p:txBody>
      </p:sp>
      <p:sp>
        <p:nvSpPr>
          <p:cNvPr id="4" name="Slide Number Placeholder 3">
            <a:extLst>
              <a:ext uri="{FF2B5EF4-FFF2-40B4-BE49-F238E27FC236}">
                <a16:creationId xmlns:a16="http://schemas.microsoft.com/office/drawing/2014/main" id="{D4EF9121-AC73-C1EF-4BF1-EFCE2DCB4354}"/>
              </a:ext>
            </a:extLst>
          </p:cNvPr>
          <p:cNvSpPr>
            <a:spLocks noGrp="1"/>
          </p:cNvSpPr>
          <p:nvPr>
            <p:ph type="sldNum" sz="quarter" idx="12"/>
          </p:nvPr>
        </p:nvSpPr>
        <p:spPr/>
        <p:txBody>
          <a:bodyPr/>
          <a:lstStyle/>
          <a:p>
            <a:fld id="{7A1EA063-F1A0-4337-9BB4-F912B647AF2A}" type="slidenum">
              <a:rPr lang="en-US" smtClean="0"/>
              <a:t>27</a:t>
            </a:fld>
            <a:endParaRPr lang="en-US"/>
          </a:p>
        </p:txBody>
      </p:sp>
      <p:sp>
        <p:nvSpPr>
          <p:cNvPr id="8" name="TextBox 7">
            <a:extLst>
              <a:ext uri="{FF2B5EF4-FFF2-40B4-BE49-F238E27FC236}">
                <a16:creationId xmlns:a16="http://schemas.microsoft.com/office/drawing/2014/main" id="{A34192D6-6A33-593F-1DB1-6B4E4FF53889}"/>
              </a:ext>
            </a:extLst>
          </p:cNvPr>
          <p:cNvSpPr txBox="1"/>
          <p:nvPr/>
        </p:nvSpPr>
        <p:spPr>
          <a:xfrm>
            <a:off x="223818" y="1922388"/>
            <a:ext cx="5387807" cy="1200329"/>
          </a:xfrm>
          <a:prstGeom prst="rect">
            <a:avLst/>
          </a:prstGeom>
          <a:noFill/>
        </p:spPr>
        <p:txBody>
          <a:bodyPr wrap="square" rtlCol="0">
            <a:spAutoFit/>
          </a:bodyPr>
          <a:lstStyle/>
          <a:p>
            <a:r>
              <a:rPr lang="en-US" dirty="0" err="1"/>
              <a:t>User_id</a:t>
            </a:r>
            <a:r>
              <a:rPr lang="en-US" dirty="0"/>
              <a:t>: </a:t>
            </a:r>
          </a:p>
          <a:p>
            <a:r>
              <a:rPr lang="en-US" dirty="0"/>
              <a:t>"26e1dfea-b697-4b1b-8f57-6c81420da04f“</a:t>
            </a:r>
          </a:p>
          <a:p>
            <a:r>
              <a:rPr lang="en-US" dirty="0"/>
              <a:t>API endpoint: http://localhost:3000/api/v1/bank/details</a:t>
            </a:r>
          </a:p>
        </p:txBody>
      </p:sp>
      <p:pic>
        <p:nvPicPr>
          <p:cNvPr id="6" name="Picture 5">
            <a:extLst>
              <a:ext uri="{FF2B5EF4-FFF2-40B4-BE49-F238E27FC236}">
                <a16:creationId xmlns:a16="http://schemas.microsoft.com/office/drawing/2014/main" id="{B73F7A38-CE4D-DA47-B756-DA553D9F78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98426" y="1023909"/>
            <a:ext cx="5425910" cy="5616427"/>
          </a:xfrm>
          <a:prstGeom prst="rect">
            <a:avLst/>
          </a:prstGeom>
        </p:spPr>
      </p:pic>
    </p:spTree>
    <p:extLst>
      <p:ext uri="{BB962C8B-B14F-4D97-AF65-F5344CB8AC3E}">
        <p14:creationId xmlns:p14="http://schemas.microsoft.com/office/powerpoint/2010/main" val="4422855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122D3-7250-F05E-B76C-9DA88DDB98A4}"/>
              </a:ext>
            </a:extLst>
          </p:cNvPr>
          <p:cNvSpPr>
            <a:spLocks noGrp="1"/>
          </p:cNvSpPr>
          <p:nvPr>
            <p:ph type="title"/>
          </p:nvPr>
        </p:nvSpPr>
        <p:spPr>
          <a:xfrm>
            <a:off x="1236201" y="136525"/>
            <a:ext cx="9719598" cy="716915"/>
          </a:xfrm>
          <a:solidFill>
            <a:schemeClr val="bg2"/>
          </a:solidFill>
        </p:spPr>
        <p:txBody>
          <a:bodyPr>
            <a:normAutofit/>
          </a:bodyPr>
          <a:lstStyle/>
          <a:p>
            <a:r>
              <a:rPr lang="en-US" dirty="0">
                <a:solidFill>
                  <a:schemeClr val="accent4">
                    <a:lumMod val="50000"/>
                  </a:schemeClr>
                </a:solidFill>
                <a:latin typeface="Calibri" panose="020F0502020204030204" pitchFamily="34" charset="0"/>
                <a:ea typeface="Calibri" panose="020F0502020204030204" pitchFamily="34" charset="0"/>
                <a:cs typeface="Calibri" panose="020F0502020204030204" pitchFamily="34" charset="0"/>
              </a:rPr>
              <a:t>System Demonstration: High-risk</a:t>
            </a:r>
          </a:p>
        </p:txBody>
      </p:sp>
      <p:sp>
        <p:nvSpPr>
          <p:cNvPr id="3" name="Date Placeholder 2">
            <a:extLst>
              <a:ext uri="{FF2B5EF4-FFF2-40B4-BE49-F238E27FC236}">
                <a16:creationId xmlns:a16="http://schemas.microsoft.com/office/drawing/2014/main" id="{1EB1A4F4-EFC9-088C-5DA4-BFD359E81EAE}"/>
              </a:ext>
            </a:extLst>
          </p:cNvPr>
          <p:cNvSpPr>
            <a:spLocks noGrp="1"/>
          </p:cNvSpPr>
          <p:nvPr>
            <p:ph type="dt" sz="half" idx="10"/>
          </p:nvPr>
        </p:nvSpPr>
        <p:spPr/>
        <p:txBody>
          <a:bodyPr/>
          <a:lstStyle/>
          <a:p>
            <a:fld id="{1E300BD0-E5C2-4A74-9E3E-BB244319C3D5}" type="datetime1">
              <a:rPr lang="en-US" smtClean="0"/>
              <a:t>10-Jul-26</a:t>
            </a:fld>
            <a:endParaRPr lang="en-US"/>
          </a:p>
        </p:txBody>
      </p:sp>
      <p:sp>
        <p:nvSpPr>
          <p:cNvPr id="4" name="Slide Number Placeholder 3">
            <a:extLst>
              <a:ext uri="{FF2B5EF4-FFF2-40B4-BE49-F238E27FC236}">
                <a16:creationId xmlns:a16="http://schemas.microsoft.com/office/drawing/2014/main" id="{D4EF9121-AC73-C1EF-4BF1-EFCE2DCB4354}"/>
              </a:ext>
            </a:extLst>
          </p:cNvPr>
          <p:cNvSpPr>
            <a:spLocks noGrp="1"/>
          </p:cNvSpPr>
          <p:nvPr>
            <p:ph type="sldNum" sz="quarter" idx="12"/>
          </p:nvPr>
        </p:nvSpPr>
        <p:spPr/>
        <p:txBody>
          <a:bodyPr/>
          <a:lstStyle/>
          <a:p>
            <a:fld id="{7A1EA063-F1A0-4337-9BB4-F912B647AF2A}" type="slidenum">
              <a:rPr lang="en-US" smtClean="0"/>
              <a:t>28</a:t>
            </a:fld>
            <a:endParaRPr lang="en-US"/>
          </a:p>
        </p:txBody>
      </p:sp>
      <p:sp>
        <p:nvSpPr>
          <p:cNvPr id="8" name="TextBox 7">
            <a:extLst>
              <a:ext uri="{FF2B5EF4-FFF2-40B4-BE49-F238E27FC236}">
                <a16:creationId xmlns:a16="http://schemas.microsoft.com/office/drawing/2014/main" id="{A34192D6-6A33-593F-1DB1-6B4E4FF53889}"/>
              </a:ext>
            </a:extLst>
          </p:cNvPr>
          <p:cNvSpPr txBox="1"/>
          <p:nvPr/>
        </p:nvSpPr>
        <p:spPr>
          <a:xfrm>
            <a:off x="223818" y="1922388"/>
            <a:ext cx="5387807" cy="1200329"/>
          </a:xfrm>
          <a:prstGeom prst="rect">
            <a:avLst/>
          </a:prstGeom>
          <a:noFill/>
        </p:spPr>
        <p:txBody>
          <a:bodyPr wrap="square" rtlCol="0">
            <a:spAutoFit/>
          </a:bodyPr>
          <a:lstStyle/>
          <a:p>
            <a:r>
              <a:rPr lang="en-US" dirty="0" err="1"/>
              <a:t>User_id</a:t>
            </a:r>
            <a:r>
              <a:rPr lang="en-US" dirty="0"/>
              <a:t>: </a:t>
            </a:r>
          </a:p>
          <a:p>
            <a:r>
              <a:rPr lang="en-US" dirty="0"/>
              <a:t>"26e1dfea-b697-4b1b-8f57-6c81420da04f“</a:t>
            </a:r>
          </a:p>
          <a:p>
            <a:r>
              <a:rPr lang="en-US" dirty="0"/>
              <a:t>API endpoint: http://localhost:3000/api/v1/bank/details</a:t>
            </a:r>
          </a:p>
        </p:txBody>
      </p:sp>
      <p:pic>
        <p:nvPicPr>
          <p:cNvPr id="7" name="Picture 6">
            <a:extLst>
              <a:ext uri="{FF2B5EF4-FFF2-40B4-BE49-F238E27FC236}">
                <a16:creationId xmlns:a16="http://schemas.microsoft.com/office/drawing/2014/main" id="{237AD2E9-3CEB-C53E-1FDA-26624418CB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92323" y="3735284"/>
            <a:ext cx="8771380" cy="1638442"/>
          </a:xfrm>
          <a:prstGeom prst="rect">
            <a:avLst/>
          </a:prstGeom>
        </p:spPr>
      </p:pic>
    </p:spTree>
    <p:extLst>
      <p:ext uri="{BB962C8B-B14F-4D97-AF65-F5344CB8AC3E}">
        <p14:creationId xmlns:p14="http://schemas.microsoft.com/office/powerpoint/2010/main" val="7364368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122D3-7250-F05E-B76C-9DA88DDB98A4}"/>
              </a:ext>
            </a:extLst>
          </p:cNvPr>
          <p:cNvSpPr>
            <a:spLocks noGrp="1"/>
          </p:cNvSpPr>
          <p:nvPr>
            <p:ph type="title"/>
          </p:nvPr>
        </p:nvSpPr>
        <p:spPr>
          <a:xfrm>
            <a:off x="838200" y="365125"/>
            <a:ext cx="10515600" cy="637765"/>
          </a:xfrm>
          <a:solidFill>
            <a:schemeClr val="tx2">
              <a:lumMod val="10000"/>
              <a:lumOff val="90000"/>
            </a:schemeClr>
          </a:solidFill>
        </p:spPr>
        <p:txBody>
          <a:bodyPr>
            <a:normAutofit fontScale="90000"/>
          </a:bodyPr>
          <a:lstStyle/>
          <a:p>
            <a:r>
              <a:rPr lang="en-US" dirty="0">
                <a:solidFill>
                  <a:schemeClr val="accent4">
                    <a:lumMod val="50000"/>
                  </a:schemeClr>
                </a:solidFill>
                <a:latin typeface="Calibri" panose="020F0502020204030204" pitchFamily="34" charset="0"/>
                <a:ea typeface="Calibri" panose="020F0502020204030204" pitchFamily="34" charset="0"/>
                <a:cs typeface="Calibri" panose="020F0502020204030204" pitchFamily="34" charset="0"/>
              </a:rPr>
              <a:t>Experimental Environment</a:t>
            </a:r>
          </a:p>
        </p:txBody>
      </p:sp>
      <p:sp>
        <p:nvSpPr>
          <p:cNvPr id="3" name="Date Placeholder 2">
            <a:extLst>
              <a:ext uri="{FF2B5EF4-FFF2-40B4-BE49-F238E27FC236}">
                <a16:creationId xmlns:a16="http://schemas.microsoft.com/office/drawing/2014/main" id="{1EB1A4F4-EFC9-088C-5DA4-BFD359E81EAE}"/>
              </a:ext>
            </a:extLst>
          </p:cNvPr>
          <p:cNvSpPr>
            <a:spLocks noGrp="1"/>
          </p:cNvSpPr>
          <p:nvPr>
            <p:ph type="dt" sz="half" idx="10"/>
          </p:nvPr>
        </p:nvSpPr>
        <p:spPr/>
        <p:txBody>
          <a:bodyPr/>
          <a:lstStyle/>
          <a:p>
            <a:fld id="{1E300BD0-E5C2-4A74-9E3E-BB244319C3D5}" type="datetime1">
              <a:rPr lang="en-US" smtClean="0"/>
              <a:t>10-Jul-26</a:t>
            </a:fld>
            <a:endParaRPr lang="en-US"/>
          </a:p>
        </p:txBody>
      </p:sp>
      <p:sp>
        <p:nvSpPr>
          <p:cNvPr id="4" name="Slide Number Placeholder 3">
            <a:extLst>
              <a:ext uri="{FF2B5EF4-FFF2-40B4-BE49-F238E27FC236}">
                <a16:creationId xmlns:a16="http://schemas.microsoft.com/office/drawing/2014/main" id="{D4EF9121-AC73-C1EF-4BF1-EFCE2DCB4354}"/>
              </a:ext>
            </a:extLst>
          </p:cNvPr>
          <p:cNvSpPr>
            <a:spLocks noGrp="1"/>
          </p:cNvSpPr>
          <p:nvPr>
            <p:ph type="sldNum" sz="quarter" idx="12"/>
          </p:nvPr>
        </p:nvSpPr>
        <p:spPr/>
        <p:txBody>
          <a:bodyPr/>
          <a:lstStyle/>
          <a:p>
            <a:fld id="{7A1EA063-F1A0-4337-9BB4-F912B647AF2A}" type="slidenum">
              <a:rPr lang="en-US" smtClean="0"/>
              <a:t>29</a:t>
            </a:fld>
            <a:endParaRPr lang="en-US"/>
          </a:p>
        </p:txBody>
      </p:sp>
      <p:graphicFrame>
        <p:nvGraphicFramePr>
          <p:cNvPr id="5" name="Table 4">
            <a:extLst>
              <a:ext uri="{FF2B5EF4-FFF2-40B4-BE49-F238E27FC236}">
                <a16:creationId xmlns:a16="http://schemas.microsoft.com/office/drawing/2014/main" id="{0B72B653-8F29-D482-32A4-68E0187A79D4}"/>
              </a:ext>
            </a:extLst>
          </p:cNvPr>
          <p:cNvGraphicFramePr>
            <a:graphicFrameLocks noGrp="1"/>
          </p:cNvGraphicFramePr>
          <p:nvPr>
            <p:extLst>
              <p:ext uri="{D42A27DB-BD31-4B8C-83A1-F6EECF244321}">
                <p14:modId xmlns:p14="http://schemas.microsoft.com/office/powerpoint/2010/main" val="409722440"/>
              </p:ext>
            </p:extLst>
          </p:nvPr>
        </p:nvGraphicFramePr>
        <p:xfrm>
          <a:off x="1479107" y="1139710"/>
          <a:ext cx="9233786" cy="5216640"/>
        </p:xfrm>
        <a:graphic>
          <a:graphicData uri="http://schemas.openxmlformats.org/drawingml/2006/table">
            <a:tbl>
              <a:tblPr firstRow="1" bandRow="1">
                <a:tableStyleId>{5C22544A-7EE6-4342-B048-85BDC9FD1C3A}</a:tableStyleId>
              </a:tblPr>
              <a:tblGrid>
                <a:gridCol w="4616893">
                  <a:extLst>
                    <a:ext uri="{9D8B030D-6E8A-4147-A177-3AD203B41FA5}">
                      <a16:colId xmlns:a16="http://schemas.microsoft.com/office/drawing/2014/main" val="1159753666"/>
                    </a:ext>
                  </a:extLst>
                </a:gridCol>
                <a:gridCol w="4616893">
                  <a:extLst>
                    <a:ext uri="{9D8B030D-6E8A-4147-A177-3AD203B41FA5}">
                      <a16:colId xmlns:a16="http://schemas.microsoft.com/office/drawing/2014/main" val="2892978137"/>
                    </a:ext>
                  </a:extLst>
                </a:gridCol>
              </a:tblGrid>
              <a:tr h="346397">
                <a:tc>
                  <a:txBody>
                    <a:bodyPr/>
                    <a:lstStyle/>
                    <a:p>
                      <a:r>
                        <a:rPr lang="en-US" dirty="0"/>
                        <a:t>Component</a:t>
                      </a:r>
                    </a:p>
                  </a:txBody>
                  <a:tcPr/>
                </a:tc>
                <a:tc>
                  <a:txBody>
                    <a:bodyPr/>
                    <a:lstStyle/>
                    <a:p>
                      <a:r>
                        <a:rPr lang="en-US" dirty="0"/>
                        <a:t>Detail</a:t>
                      </a:r>
                    </a:p>
                  </a:txBody>
                  <a:tcPr/>
                </a:tc>
                <a:extLst>
                  <a:ext uri="{0D108BD9-81ED-4DB2-BD59-A6C34878D82A}">
                    <a16:rowId xmlns:a16="http://schemas.microsoft.com/office/drawing/2014/main" val="2829838651"/>
                  </a:ext>
                </a:extLst>
              </a:tr>
              <a:tr h="475983">
                <a:tc>
                  <a:txBody>
                    <a:bodyPr/>
                    <a:lstStyle/>
                    <a:p>
                      <a:r>
                        <a:rPr lang="en-US" dirty="0"/>
                        <a:t>Backend framework </a:t>
                      </a:r>
                    </a:p>
                  </a:txBody>
                  <a:tcPr/>
                </a:tc>
                <a:tc>
                  <a:txBody>
                    <a:bodyPr/>
                    <a:lstStyle/>
                    <a:p>
                      <a:r>
                        <a:rPr lang="en-US" dirty="0" err="1"/>
                        <a:t>NestJS</a:t>
                      </a:r>
                      <a:r>
                        <a:rPr lang="en-US" dirty="0"/>
                        <a:t> 11 (TypeScript) modular monolith </a:t>
                      </a:r>
                    </a:p>
                  </a:txBody>
                  <a:tcPr/>
                </a:tc>
                <a:extLst>
                  <a:ext uri="{0D108BD9-81ED-4DB2-BD59-A6C34878D82A}">
                    <a16:rowId xmlns:a16="http://schemas.microsoft.com/office/drawing/2014/main" val="2548547162"/>
                  </a:ext>
                </a:extLst>
              </a:tr>
              <a:tr h="346397">
                <a:tc>
                  <a:txBody>
                    <a:bodyPr/>
                    <a:lstStyle/>
                    <a:p>
                      <a:r>
                        <a:rPr lang="en-US" dirty="0"/>
                        <a:t>Runtime </a:t>
                      </a:r>
                    </a:p>
                  </a:txBody>
                  <a:tcPr/>
                </a:tc>
                <a:tc>
                  <a:txBody>
                    <a:bodyPr/>
                    <a:lstStyle/>
                    <a:p>
                      <a:r>
                        <a:rPr lang="nl-NL" dirty="0"/>
                        <a:t>Node.js v22.12.0 (V8 engine) </a:t>
                      </a:r>
                      <a:endParaRPr lang="en-US" dirty="0"/>
                    </a:p>
                  </a:txBody>
                  <a:tcPr/>
                </a:tc>
                <a:extLst>
                  <a:ext uri="{0D108BD9-81ED-4DB2-BD59-A6C34878D82A}">
                    <a16:rowId xmlns:a16="http://schemas.microsoft.com/office/drawing/2014/main" val="195154355"/>
                  </a:ext>
                </a:extLst>
              </a:tr>
              <a:tr h="403081">
                <a:tc>
                  <a:txBody>
                    <a:bodyPr/>
                    <a:lstStyle/>
                    <a:p>
                      <a:r>
                        <a:rPr lang="en-US" dirty="0"/>
                        <a:t>Database / ORM </a:t>
                      </a:r>
                    </a:p>
                  </a:txBody>
                  <a:tcPr/>
                </a:tc>
                <a:tc>
                  <a:txBody>
                    <a:bodyPr/>
                    <a:lstStyle/>
                    <a:p>
                      <a:r>
                        <a:rPr lang="en-US" dirty="0"/>
                        <a:t>PostgreSQL with </a:t>
                      </a:r>
                      <a:r>
                        <a:rPr lang="en-US" dirty="0" err="1"/>
                        <a:t>TypeORM</a:t>
                      </a:r>
                      <a:r>
                        <a:rPr lang="en-US" dirty="0"/>
                        <a:t> 0.3.x</a:t>
                      </a:r>
                    </a:p>
                  </a:txBody>
                  <a:tcPr/>
                </a:tc>
                <a:extLst>
                  <a:ext uri="{0D108BD9-81ED-4DB2-BD59-A6C34878D82A}">
                    <a16:rowId xmlns:a16="http://schemas.microsoft.com/office/drawing/2014/main" val="3392293811"/>
                  </a:ext>
                </a:extLst>
              </a:tr>
              <a:tr h="679976">
                <a:tc>
                  <a:txBody>
                    <a:bodyPr/>
                    <a:lstStyle/>
                    <a:p>
                      <a:r>
                        <a:rPr lang="en-US" dirty="0"/>
                        <a:t>Cryptography</a:t>
                      </a:r>
                    </a:p>
                  </a:txBody>
                  <a:tcPr/>
                </a:tc>
                <a:tc>
                  <a:txBody>
                    <a:bodyPr/>
                    <a:lstStyle/>
                    <a:p>
                      <a:r>
                        <a:rPr lang="en-US" dirty="0"/>
                        <a:t>AES-256-GCM (Node.js crypto), 96-bit random IV, versioned ciphertext envelope</a:t>
                      </a:r>
                    </a:p>
                  </a:txBody>
                  <a:tcPr/>
                </a:tc>
                <a:extLst>
                  <a:ext uri="{0D108BD9-81ED-4DB2-BD59-A6C34878D82A}">
                    <a16:rowId xmlns:a16="http://schemas.microsoft.com/office/drawing/2014/main" val="1144432979"/>
                  </a:ext>
                </a:extLst>
              </a:tr>
              <a:tr h="865993">
                <a:tc>
                  <a:txBody>
                    <a:bodyPr/>
                    <a:lstStyle/>
                    <a:p>
                      <a:r>
                        <a:rPr lang="en-US" dirty="0"/>
                        <a:t>ML training</a:t>
                      </a:r>
                    </a:p>
                  </a:txBody>
                  <a:tcPr/>
                </a:tc>
                <a:tc>
                  <a:txBody>
                    <a:bodyPr/>
                    <a:lstStyle/>
                    <a:p>
                      <a:r>
                        <a:rPr lang="en-US" dirty="0"/>
                        <a:t>Python 3, scikit-learn (</a:t>
                      </a:r>
                      <a:r>
                        <a:rPr lang="en-US" dirty="0" err="1"/>
                        <a:t>RandomForestClassifier</a:t>
                      </a:r>
                      <a:r>
                        <a:rPr lang="en-US" dirty="0"/>
                        <a:t>, </a:t>
                      </a:r>
                      <a:r>
                        <a:rPr lang="en-US" dirty="0" err="1"/>
                        <a:t>LogisticRegression</a:t>
                      </a:r>
                      <a:r>
                        <a:rPr lang="en-US" dirty="0"/>
                        <a:t>) </a:t>
                      </a:r>
                    </a:p>
                  </a:txBody>
                  <a:tcPr/>
                </a:tc>
                <a:extLst>
                  <a:ext uri="{0D108BD9-81ED-4DB2-BD59-A6C34878D82A}">
                    <a16:rowId xmlns:a16="http://schemas.microsoft.com/office/drawing/2014/main" val="735910803"/>
                  </a:ext>
                </a:extLst>
              </a:tr>
              <a:tr h="606195">
                <a:tc>
                  <a:txBody>
                    <a:bodyPr/>
                    <a:lstStyle/>
                    <a:p>
                      <a:r>
                        <a:rPr lang="en-US" dirty="0" err="1"/>
                        <a:t>Transpilation</a:t>
                      </a:r>
                      <a:endParaRPr lang="en-US" dirty="0"/>
                    </a:p>
                  </a:txBody>
                  <a:tcPr/>
                </a:tc>
                <a:tc>
                  <a:txBody>
                    <a:bodyPr/>
                    <a:lstStyle/>
                    <a:p>
                      <a:r>
                        <a:rPr lang="it-IT" dirty="0"/>
                        <a:t>m2cgen (model-to-code generator) → pure JavaScript </a:t>
                      </a:r>
                      <a:endParaRPr lang="en-US" dirty="0"/>
                    </a:p>
                  </a:txBody>
                  <a:tcPr/>
                </a:tc>
                <a:extLst>
                  <a:ext uri="{0D108BD9-81ED-4DB2-BD59-A6C34878D82A}">
                    <a16:rowId xmlns:a16="http://schemas.microsoft.com/office/drawing/2014/main" val="3392095863"/>
                  </a:ext>
                </a:extLst>
              </a:tr>
              <a:tr h="346397">
                <a:tc>
                  <a:txBody>
                    <a:bodyPr/>
                    <a:lstStyle/>
                    <a:p>
                      <a:r>
                        <a:rPr lang="en-US" dirty="0"/>
                        <a:t>Operating system</a:t>
                      </a:r>
                    </a:p>
                  </a:txBody>
                  <a:tcPr/>
                </a:tc>
                <a:tc>
                  <a:txBody>
                    <a:bodyPr/>
                    <a:lstStyle/>
                    <a:p>
                      <a:r>
                        <a:rPr lang="en-US" dirty="0"/>
                        <a:t>Microsoft Windows 11 (x64) </a:t>
                      </a:r>
                    </a:p>
                  </a:txBody>
                  <a:tcPr/>
                </a:tc>
                <a:extLst>
                  <a:ext uri="{0D108BD9-81ED-4DB2-BD59-A6C34878D82A}">
                    <a16:rowId xmlns:a16="http://schemas.microsoft.com/office/drawing/2014/main" val="2653630863"/>
                  </a:ext>
                </a:extLst>
              </a:tr>
              <a:tr h="606195">
                <a:tc>
                  <a:txBody>
                    <a:bodyPr/>
                    <a:lstStyle/>
                    <a:p>
                      <a:r>
                        <a:rPr lang="en-US" dirty="0"/>
                        <a:t>Hardware </a:t>
                      </a:r>
                    </a:p>
                  </a:txBody>
                  <a:tcPr/>
                </a:tc>
                <a:tc>
                  <a:txBody>
                    <a:bodyPr/>
                    <a:lstStyle/>
                    <a:p>
                      <a:r>
                        <a:rPr lang="en-US" dirty="0"/>
                        <a:t>Intel Core i5-1135G7 (11th Gen, 2.40 GHz), 8 GB RAM </a:t>
                      </a:r>
                    </a:p>
                  </a:txBody>
                  <a:tcPr/>
                </a:tc>
                <a:extLst>
                  <a:ext uri="{0D108BD9-81ED-4DB2-BD59-A6C34878D82A}">
                    <a16:rowId xmlns:a16="http://schemas.microsoft.com/office/drawing/2014/main" val="517883760"/>
                  </a:ext>
                </a:extLst>
              </a:tr>
              <a:tr h="346397">
                <a:tc>
                  <a:txBody>
                    <a:bodyPr/>
                    <a:lstStyle/>
                    <a:p>
                      <a:r>
                        <a:rPr lang="en-US" dirty="0"/>
                        <a:t>Input / output format</a:t>
                      </a:r>
                    </a:p>
                  </a:txBody>
                  <a:tcPr/>
                </a:tc>
                <a:tc>
                  <a:txBody>
                    <a:bodyPr/>
                    <a:lstStyle/>
                    <a:p>
                      <a:r>
                        <a:rPr lang="nb-NO" dirty="0"/>
                        <a:t>CSV (dataset), JSON (API responses) </a:t>
                      </a:r>
                      <a:endParaRPr lang="en-US" dirty="0"/>
                    </a:p>
                  </a:txBody>
                  <a:tcPr/>
                </a:tc>
                <a:extLst>
                  <a:ext uri="{0D108BD9-81ED-4DB2-BD59-A6C34878D82A}">
                    <a16:rowId xmlns:a16="http://schemas.microsoft.com/office/drawing/2014/main" val="316885664"/>
                  </a:ext>
                </a:extLst>
              </a:tr>
            </a:tbl>
          </a:graphicData>
        </a:graphic>
      </p:graphicFrame>
    </p:spTree>
    <p:extLst>
      <p:ext uri="{BB962C8B-B14F-4D97-AF65-F5344CB8AC3E}">
        <p14:creationId xmlns:p14="http://schemas.microsoft.com/office/powerpoint/2010/main" val="40770851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2EE26F-787B-6ABC-F67A-9617934CB535}"/>
              </a:ext>
            </a:extLst>
          </p:cNvPr>
          <p:cNvSpPr>
            <a:spLocks noGrp="1"/>
          </p:cNvSpPr>
          <p:nvPr>
            <p:ph idx="1"/>
          </p:nvPr>
        </p:nvSpPr>
        <p:spPr>
          <a:xfrm>
            <a:off x="838200" y="1376516"/>
            <a:ext cx="10515600" cy="4800447"/>
          </a:xfrm>
        </p:spPr>
        <p:txBody>
          <a:bodyPr/>
          <a:lstStyle/>
          <a:p>
            <a:pPr>
              <a:buFont typeface="Wingdings" panose="05000000000000000000" pitchFamily="2" charset="2"/>
              <a:buChar char="q"/>
            </a:pPr>
            <a:r>
              <a:rPr lang="en-US" b="1" dirty="0">
                <a:solidFill>
                  <a:schemeClr val="accent4">
                    <a:lumMod val="50000"/>
                  </a:schemeClr>
                </a:solidFill>
              </a:rPr>
              <a:t>Novelty &amp; Significance</a:t>
            </a:r>
          </a:p>
          <a:p>
            <a:pPr>
              <a:buFont typeface="Wingdings" panose="05000000000000000000" pitchFamily="2" charset="2"/>
              <a:buChar char="§"/>
            </a:pPr>
            <a:r>
              <a:rPr lang="en-US" b="1" dirty="0"/>
              <a:t>Late-binding cryptography:</a:t>
            </a:r>
            <a:r>
              <a:rPr lang="en-US" dirty="0"/>
              <a:t> ciphertext survives retrieval; decryption becomes a policy decision</a:t>
            </a:r>
          </a:p>
          <a:p>
            <a:pPr>
              <a:buFont typeface="Wingdings" panose="05000000000000000000" pitchFamily="2" charset="2"/>
              <a:buChar char="§"/>
            </a:pPr>
            <a:r>
              <a:rPr lang="en-US" b="1" dirty="0"/>
              <a:t>Learned per-request risk:</a:t>
            </a:r>
            <a:r>
              <a:rPr lang="en-US" dirty="0"/>
              <a:t> from unforgeable, server-controlled behavior</a:t>
            </a:r>
          </a:p>
          <a:p>
            <a:pPr>
              <a:buFont typeface="Wingdings" panose="05000000000000000000" pitchFamily="2" charset="2"/>
              <a:buChar char="§"/>
            </a:pPr>
            <a:r>
              <a:rPr lang="en-US" b="1" dirty="0"/>
              <a:t>Graduated three-tier policy:</a:t>
            </a:r>
            <a:r>
              <a:rPr lang="en-US" dirty="0"/>
              <a:t> decrypt / mask / deny; primary identifier masked with zero decryption</a:t>
            </a:r>
          </a:p>
          <a:p>
            <a:pPr>
              <a:buFont typeface="Wingdings" panose="05000000000000000000" pitchFamily="2" charset="2"/>
              <a:buChar char="§"/>
            </a:pPr>
            <a:r>
              <a:rPr lang="en-US" b="1" dirty="0"/>
              <a:t>In-process </a:t>
            </a:r>
            <a:r>
              <a:rPr lang="en-US" b="1" dirty="0" err="1"/>
              <a:t>transpiled</a:t>
            </a:r>
            <a:r>
              <a:rPr lang="en-US" b="1" dirty="0"/>
              <a:t> inference:</a:t>
            </a:r>
            <a:r>
              <a:rPr lang="en-US" dirty="0"/>
              <a:t> microsecond-scale, no serving infrastructure</a:t>
            </a:r>
          </a:p>
        </p:txBody>
      </p:sp>
      <p:sp>
        <p:nvSpPr>
          <p:cNvPr id="4" name="Date Placeholder 3">
            <a:extLst>
              <a:ext uri="{FF2B5EF4-FFF2-40B4-BE49-F238E27FC236}">
                <a16:creationId xmlns:a16="http://schemas.microsoft.com/office/drawing/2014/main" id="{3DD9D9AA-AE40-C677-232D-A2E3C2A93B32}"/>
              </a:ext>
            </a:extLst>
          </p:cNvPr>
          <p:cNvSpPr>
            <a:spLocks noGrp="1"/>
          </p:cNvSpPr>
          <p:nvPr>
            <p:ph type="dt" sz="half" idx="10"/>
          </p:nvPr>
        </p:nvSpPr>
        <p:spPr/>
        <p:txBody>
          <a:bodyPr/>
          <a:lstStyle/>
          <a:p>
            <a:fld id="{7A201E91-4DAB-4F48-8C1A-6F69EDFC4872}" type="datetime1">
              <a:rPr lang="en-US" smtClean="0"/>
              <a:t>10-Jul-26</a:t>
            </a:fld>
            <a:endParaRPr lang="en-US"/>
          </a:p>
        </p:txBody>
      </p:sp>
      <p:sp>
        <p:nvSpPr>
          <p:cNvPr id="5" name="Slide Number Placeholder 4">
            <a:extLst>
              <a:ext uri="{FF2B5EF4-FFF2-40B4-BE49-F238E27FC236}">
                <a16:creationId xmlns:a16="http://schemas.microsoft.com/office/drawing/2014/main" id="{2D4A9EDA-2CB1-7A2F-0144-C9020535C7E6}"/>
              </a:ext>
            </a:extLst>
          </p:cNvPr>
          <p:cNvSpPr>
            <a:spLocks noGrp="1"/>
          </p:cNvSpPr>
          <p:nvPr>
            <p:ph type="sldNum" sz="quarter" idx="12"/>
          </p:nvPr>
        </p:nvSpPr>
        <p:spPr/>
        <p:txBody>
          <a:bodyPr/>
          <a:lstStyle/>
          <a:p>
            <a:fld id="{7A1EA063-F1A0-4337-9BB4-F912B647AF2A}" type="slidenum">
              <a:rPr lang="en-US" smtClean="0"/>
              <a:t>30</a:t>
            </a:fld>
            <a:endParaRPr lang="en-US"/>
          </a:p>
        </p:txBody>
      </p:sp>
      <p:sp>
        <p:nvSpPr>
          <p:cNvPr id="6" name="Title 1">
            <a:extLst>
              <a:ext uri="{FF2B5EF4-FFF2-40B4-BE49-F238E27FC236}">
                <a16:creationId xmlns:a16="http://schemas.microsoft.com/office/drawing/2014/main" id="{F43122D3-7250-F05E-B76C-9DA88DDB98A4}"/>
              </a:ext>
            </a:extLst>
          </p:cNvPr>
          <p:cNvSpPr>
            <a:spLocks noGrp="1"/>
          </p:cNvSpPr>
          <p:nvPr>
            <p:ph type="title"/>
          </p:nvPr>
        </p:nvSpPr>
        <p:spPr>
          <a:xfrm>
            <a:off x="838200" y="365125"/>
            <a:ext cx="10515600" cy="637765"/>
          </a:xfrm>
          <a:solidFill>
            <a:schemeClr val="tx2">
              <a:lumMod val="10000"/>
              <a:lumOff val="90000"/>
            </a:schemeClr>
          </a:solidFill>
        </p:spPr>
        <p:txBody>
          <a:bodyPr>
            <a:normAutofit fontScale="90000"/>
          </a:bodyPr>
          <a:lstStyle/>
          <a:p>
            <a:r>
              <a:rPr lang="en-US" dirty="0">
                <a:solidFill>
                  <a:schemeClr val="accent4">
                    <a:lumMod val="50000"/>
                  </a:schemeClr>
                </a:solidFill>
                <a:latin typeface="Calibri" panose="020F0502020204030204" pitchFamily="34" charset="0"/>
                <a:ea typeface="Calibri" panose="020F0502020204030204" pitchFamily="34" charset="0"/>
                <a:cs typeface="Calibri" panose="020F0502020204030204" pitchFamily="34" charset="0"/>
              </a:rPr>
              <a:t>Conclusion</a:t>
            </a:r>
          </a:p>
        </p:txBody>
      </p:sp>
    </p:spTree>
    <p:extLst>
      <p:ext uri="{BB962C8B-B14F-4D97-AF65-F5344CB8AC3E}">
        <p14:creationId xmlns:p14="http://schemas.microsoft.com/office/powerpoint/2010/main" val="1400112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6C256-2FD3-168A-9AAC-8A7CD938BFC4}"/>
              </a:ext>
            </a:extLst>
          </p:cNvPr>
          <p:cNvSpPr>
            <a:spLocks noGrp="1"/>
          </p:cNvSpPr>
          <p:nvPr>
            <p:ph type="title"/>
          </p:nvPr>
        </p:nvSpPr>
        <p:spPr/>
        <p:txBody>
          <a:bodyPr/>
          <a:lstStyle/>
          <a:p>
            <a:r>
              <a:rPr lang="en-US" dirty="0"/>
              <a:t>Limitations</a:t>
            </a:r>
          </a:p>
        </p:txBody>
      </p:sp>
      <p:sp>
        <p:nvSpPr>
          <p:cNvPr id="3" name="Content Placeholder 2">
            <a:extLst>
              <a:ext uri="{FF2B5EF4-FFF2-40B4-BE49-F238E27FC236}">
                <a16:creationId xmlns:a16="http://schemas.microsoft.com/office/drawing/2014/main" id="{4943609A-73D2-765E-5722-48F397ADE437}"/>
              </a:ext>
            </a:extLst>
          </p:cNvPr>
          <p:cNvSpPr>
            <a:spLocks noGrp="1"/>
          </p:cNvSpPr>
          <p:nvPr>
            <p:ph idx="1"/>
          </p:nvPr>
        </p:nvSpPr>
        <p:spPr/>
        <p:txBody>
          <a:bodyPr>
            <a:normAutofit/>
          </a:bodyPr>
          <a:lstStyle/>
          <a:p>
            <a:pPr>
              <a:buFont typeface="Wingdings" panose="05000000000000000000" pitchFamily="2" charset="2"/>
              <a:buChar char="§"/>
            </a:pPr>
            <a:r>
              <a:rPr lang="en-US" sz="3200" dirty="0"/>
              <a:t>Synthetic, rule-labeled corpus → proof-of-concept validation (rule-learning bias)</a:t>
            </a:r>
          </a:p>
          <a:p>
            <a:pPr>
              <a:buFont typeface="Wingdings" panose="05000000000000000000" pitchFamily="2" charset="2"/>
              <a:buChar char="§"/>
            </a:pPr>
            <a:r>
              <a:rPr lang="en-US" sz="3200" dirty="0"/>
              <a:t>Low-and-slow attackers below velocity thresholds: 9/139 missed</a:t>
            </a:r>
          </a:p>
          <a:p>
            <a:pPr>
              <a:buFont typeface="Wingdings" panose="05000000000000000000" pitchFamily="2" charset="2"/>
              <a:buChar char="§"/>
            </a:pPr>
            <a:r>
              <a:rPr lang="en-US" sz="3200" dirty="0"/>
              <a:t>Single-node prototype; fixed 60-s / 24-h windows</a:t>
            </a:r>
          </a:p>
          <a:p>
            <a:pPr>
              <a:buFont typeface="Wingdings" panose="05000000000000000000" pitchFamily="2" charset="2"/>
              <a:buChar char="§"/>
            </a:pPr>
            <a:r>
              <a:rPr lang="en-US" sz="3200" dirty="0"/>
              <a:t>One demonstrated domain (banking); offline evaluation only</a:t>
            </a:r>
          </a:p>
        </p:txBody>
      </p:sp>
      <p:sp>
        <p:nvSpPr>
          <p:cNvPr id="4" name="Date Placeholder 3">
            <a:extLst>
              <a:ext uri="{FF2B5EF4-FFF2-40B4-BE49-F238E27FC236}">
                <a16:creationId xmlns:a16="http://schemas.microsoft.com/office/drawing/2014/main" id="{DF38906F-D24A-ED74-CF7B-2F0ABE0A3B67}"/>
              </a:ext>
            </a:extLst>
          </p:cNvPr>
          <p:cNvSpPr>
            <a:spLocks noGrp="1"/>
          </p:cNvSpPr>
          <p:nvPr>
            <p:ph type="dt" sz="half" idx="10"/>
          </p:nvPr>
        </p:nvSpPr>
        <p:spPr/>
        <p:txBody>
          <a:bodyPr/>
          <a:lstStyle/>
          <a:p>
            <a:fld id="{7A201E91-4DAB-4F48-8C1A-6F69EDFC4872}" type="datetime1">
              <a:rPr lang="en-US" smtClean="0"/>
              <a:t>10-Jul-26</a:t>
            </a:fld>
            <a:endParaRPr lang="en-US"/>
          </a:p>
        </p:txBody>
      </p:sp>
      <p:sp>
        <p:nvSpPr>
          <p:cNvPr id="5" name="Slide Number Placeholder 4">
            <a:extLst>
              <a:ext uri="{FF2B5EF4-FFF2-40B4-BE49-F238E27FC236}">
                <a16:creationId xmlns:a16="http://schemas.microsoft.com/office/drawing/2014/main" id="{A2809C21-6B10-4AB5-9BF1-B1CD5E03D117}"/>
              </a:ext>
            </a:extLst>
          </p:cNvPr>
          <p:cNvSpPr>
            <a:spLocks noGrp="1"/>
          </p:cNvSpPr>
          <p:nvPr>
            <p:ph type="sldNum" sz="quarter" idx="12"/>
          </p:nvPr>
        </p:nvSpPr>
        <p:spPr/>
        <p:txBody>
          <a:bodyPr/>
          <a:lstStyle/>
          <a:p>
            <a:fld id="{7A1EA063-F1A0-4337-9BB4-F912B647AF2A}" type="slidenum">
              <a:rPr lang="en-US" smtClean="0"/>
              <a:t>31</a:t>
            </a:fld>
            <a:endParaRPr lang="en-US"/>
          </a:p>
        </p:txBody>
      </p:sp>
    </p:spTree>
    <p:extLst>
      <p:ext uri="{BB962C8B-B14F-4D97-AF65-F5344CB8AC3E}">
        <p14:creationId xmlns:p14="http://schemas.microsoft.com/office/powerpoint/2010/main" val="8930437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3FC8A-C5CB-D337-DB01-6224C7D26355}"/>
              </a:ext>
            </a:extLst>
          </p:cNvPr>
          <p:cNvSpPr>
            <a:spLocks noGrp="1"/>
          </p:cNvSpPr>
          <p:nvPr>
            <p:ph type="title"/>
          </p:nvPr>
        </p:nvSpPr>
        <p:spPr/>
        <p:txBody>
          <a:bodyPr/>
          <a:lstStyle/>
          <a:p>
            <a:r>
              <a:rPr lang="en-US" dirty="0"/>
              <a:t>Future Work</a:t>
            </a:r>
          </a:p>
        </p:txBody>
      </p:sp>
      <p:sp>
        <p:nvSpPr>
          <p:cNvPr id="3" name="Content Placeholder 2">
            <a:extLst>
              <a:ext uri="{FF2B5EF4-FFF2-40B4-BE49-F238E27FC236}">
                <a16:creationId xmlns:a16="http://schemas.microsoft.com/office/drawing/2014/main" id="{A6AFE2A8-334D-4DAA-EF31-C9F7C402EEDE}"/>
              </a:ext>
            </a:extLst>
          </p:cNvPr>
          <p:cNvSpPr>
            <a:spLocks noGrp="1"/>
          </p:cNvSpPr>
          <p:nvPr>
            <p:ph idx="1"/>
          </p:nvPr>
        </p:nvSpPr>
        <p:spPr/>
        <p:txBody>
          <a:bodyPr>
            <a:normAutofit/>
          </a:bodyPr>
          <a:lstStyle/>
          <a:p>
            <a:pPr>
              <a:buFont typeface="Wingdings" panose="05000000000000000000" pitchFamily="2" charset="2"/>
              <a:buChar char="§"/>
            </a:pPr>
            <a:r>
              <a:rPr lang="en-US" sz="3200" dirty="0"/>
              <a:t>Retrain on real audit telemetry (Layer 8 already collects it)</a:t>
            </a:r>
          </a:p>
          <a:p>
            <a:pPr>
              <a:buFont typeface="Wingdings" panose="05000000000000000000" pitchFamily="2" charset="2"/>
              <a:buChar char="§"/>
            </a:pPr>
            <a:r>
              <a:rPr lang="en-US" sz="3200" dirty="0"/>
              <a:t>Longer-horizon features → catch low-and-slow scraping</a:t>
            </a:r>
          </a:p>
          <a:p>
            <a:pPr>
              <a:buFont typeface="Wingdings" panose="05000000000000000000" pitchFamily="2" charset="2"/>
              <a:buChar char="§"/>
            </a:pPr>
            <a:r>
              <a:rPr lang="en-US" sz="3200" dirty="0"/>
              <a:t>Collect more related features</a:t>
            </a:r>
          </a:p>
          <a:p>
            <a:pPr>
              <a:buFont typeface="Wingdings" panose="05000000000000000000" pitchFamily="2" charset="2"/>
              <a:buChar char="§"/>
            </a:pPr>
            <a:r>
              <a:rPr lang="en-US" sz="3200" dirty="0"/>
              <a:t>Generalize: healthcare, e-commerce; list/batch endpoints</a:t>
            </a:r>
          </a:p>
        </p:txBody>
      </p:sp>
      <p:sp>
        <p:nvSpPr>
          <p:cNvPr id="4" name="Date Placeholder 3">
            <a:extLst>
              <a:ext uri="{FF2B5EF4-FFF2-40B4-BE49-F238E27FC236}">
                <a16:creationId xmlns:a16="http://schemas.microsoft.com/office/drawing/2014/main" id="{0816AC13-8E15-0358-5F44-EA73AEDB7DD6}"/>
              </a:ext>
            </a:extLst>
          </p:cNvPr>
          <p:cNvSpPr>
            <a:spLocks noGrp="1"/>
          </p:cNvSpPr>
          <p:nvPr>
            <p:ph type="dt" sz="half" idx="10"/>
          </p:nvPr>
        </p:nvSpPr>
        <p:spPr/>
        <p:txBody>
          <a:bodyPr/>
          <a:lstStyle/>
          <a:p>
            <a:fld id="{7A201E91-4DAB-4F48-8C1A-6F69EDFC4872}" type="datetime1">
              <a:rPr lang="en-US" smtClean="0"/>
              <a:t>10-Jul-26</a:t>
            </a:fld>
            <a:endParaRPr lang="en-US"/>
          </a:p>
        </p:txBody>
      </p:sp>
      <p:sp>
        <p:nvSpPr>
          <p:cNvPr id="5" name="Slide Number Placeholder 4">
            <a:extLst>
              <a:ext uri="{FF2B5EF4-FFF2-40B4-BE49-F238E27FC236}">
                <a16:creationId xmlns:a16="http://schemas.microsoft.com/office/drawing/2014/main" id="{FBCDB1AE-4230-63BC-9205-B30EA39D9EC9}"/>
              </a:ext>
            </a:extLst>
          </p:cNvPr>
          <p:cNvSpPr>
            <a:spLocks noGrp="1"/>
          </p:cNvSpPr>
          <p:nvPr>
            <p:ph type="sldNum" sz="quarter" idx="12"/>
          </p:nvPr>
        </p:nvSpPr>
        <p:spPr/>
        <p:txBody>
          <a:bodyPr/>
          <a:lstStyle/>
          <a:p>
            <a:fld id="{7A1EA063-F1A0-4337-9BB4-F912B647AF2A}" type="slidenum">
              <a:rPr lang="en-US" smtClean="0"/>
              <a:t>32</a:t>
            </a:fld>
            <a:endParaRPr lang="en-US"/>
          </a:p>
        </p:txBody>
      </p:sp>
    </p:spTree>
    <p:extLst>
      <p:ext uri="{BB962C8B-B14F-4D97-AF65-F5344CB8AC3E}">
        <p14:creationId xmlns:p14="http://schemas.microsoft.com/office/powerpoint/2010/main" val="2120171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49D12-CF40-11C7-C282-3E00B8047D3C}"/>
              </a:ext>
            </a:extLst>
          </p:cNvPr>
          <p:cNvSpPr>
            <a:spLocks noGrp="1"/>
          </p:cNvSpPr>
          <p:nvPr>
            <p:ph type="title"/>
          </p:nvPr>
        </p:nvSpPr>
        <p:spPr/>
        <p:txBody>
          <a:bodyPr/>
          <a:lstStyle/>
          <a:p>
            <a:r>
              <a:rPr lang="en-US" dirty="0"/>
              <a:t>Closing statement</a:t>
            </a:r>
          </a:p>
        </p:txBody>
      </p:sp>
      <p:sp>
        <p:nvSpPr>
          <p:cNvPr id="3" name="Content Placeholder 2">
            <a:extLst>
              <a:ext uri="{FF2B5EF4-FFF2-40B4-BE49-F238E27FC236}">
                <a16:creationId xmlns:a16="http://schemas.microsoft.com/office/drawing/2014/main" id="{BA161E5E-6C31-5356-F26F-A6CE9A9A3F95}"/>
              </a:ext>
            </a:extLst>
          </p:cNvPr>
          <p:cNvSpPr>
            <a:spLocks noGrp="1"/>
          </p:cNvSpPr>
          <p:nvPr>
            <p:ph idx="1"/>
          </p:nvPr>
        </p:nvSpPr>
        <p:spPr>
          <a:xfrm>
            <a:off x="838200" y="2979173"/>
            <a:ext cx="10515600" cy="3197789"/>
          </a:xfrm>
        </p:spPr>
        <p:txBody>
          <a:bodyPr>
            <a:normAutofit/>
          </a:bodyPr>
          <a:lstStyle/>
          <a:p>
            <a:pPr marL="0" indent="0" algn="ctr">
              <a:buNone/>
            </a:pPr>
            <a:r>
              <a:rPr lang="en-US" sz="3200" dirty="0"/>
              <a:t>"The decryption boundary itself can be made adaptive. An application can decide, per request and from runtime evidence, how much encrypted data to reveal, and can withhold it before exposure rather than detect a breach after it."</a:t>
            </a:r>
          </a:p>
        </p:txBody>
      </p:sp>
      <p:sp>
        <p:nvSpPr>
          <p:cNvPr id="4" name="Date Placeholder 3">
            <a:extLst>
              <a:ext uri="{FF2B5EF4-FFF2-40B4-BE49-F238E27FC236}">
                <a16:creationId xmlns:a16="http://schemas.microsoft.com/office/drawing/2014/main" id="{E4CD912E-6CD2-D79E-C70C-F6AC7BA67FE0}"/>
              </a:ext>
            </a:extLst>
          </p:cNvPr>
          <p:cNvSpPr>
            <a:spLocks noGrp="1"/>
          </p:cNvSpPr>
          <p:nvPr>
            <p:ph type="dt" sz="half" idx="10"/>
          </p:nvPr>
        </p:nvSpPr>
        <p:spPr/>
        <p:txBody>
          <a:bodyPr/>
          <a:lstStyle/>
          <a:p>
            <a:fld id="{7A201E91-4DAB-4F48-8C1A-6F69EDFC4872}" type="datetime1">
              <a:rPr lang="en-US" smtClean="0"/>
              <a:t>10-Jul-26</a:t>
            </a:fld>
            <a:endParaRPr lang="en-US"/>
          </a:p>
        </p:txBody>
      </p:sp>
      <p:sp>
        <p:nvSpPr>
          <p:cNvPr id="5" name="Slide Number Placeholder 4">
            <a:extLst>
              <a:ext uri="{FF2B5EF4-FFF2-40B4-BE49-F238E27FC236}">
                <a16:creationId xmlns:a16="http://schemas.microsoft.com/office/drawing/2014/main" id="{0828393D-00FE-B284-6EA4-7703281A6856}"/>
              </a:ext>
            </a:extLst>
          </p:cNvPr>
          <p:cNvSpPr>
            <a:spLocks noGrp="1"/>
          </p:cNvSpPr>
          <p:nvPr>
            <p:ph type="sldNum" sz="quarter" idx="12"/>
          </p:nvPr>
        </p:nvSpPr>
        <p:spPr/>
        <p:txBody>
          <a:bodyPr/>
          <a:lstStyle/>
          <a:p>
            <a:fld id="{7A1EA063-F1A0-4337-9BB4-F912B647AF2A}" type="slidenum">
              <a:rPr lang="en-US" smtClean="0"/>
              <a:t>33</a:t>
            </a:fld>
            <a:endParaRPr lang="en-US"/>
          </a:p>
        </p:txBody>
      </p:sp>
    </p:spTree>
    <p:extLst>
      <p:ext uri="{BB962C8B-B14F-4D97-AF65-F5344CB8AC3E}">
        <p14:creationId xmlns:p14="http://schemas.microsoft.com/office/powerpoint/2010/main" val="38702444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5F297-53E4-293E-FB61-E02BC2A7396A}"/>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13DD757D-41BF-BB5C-A612-083FF33C483B}"/>
              </a:ext>
            </a:extLst>
          </p:cNvPr>
          <p:cNvSpPr>
            <a:spLocks noGrp="1"/>
          </p:cNvSpPr>
          <p:nvPr>
            <p:ph idx="1"/>
          </p:nvPr>
        </p:nvSpPr>
        <p:spPr/>
        <p:txBody>
          <a:bodyPr>
            <a:normAutofit fontScale="85000" lnSpcReduction="20000"/>
          </a:bodyPr>
          <a:lstStyle/>
          <a:p>
            <a:pPr marL="548640" indent="-548640">
              <a:buNone/>
            </a:pPr>
            <a:r>
              <a:rPr lang="en-US" dirty="0"/>
              <a:t>[1] 	R. </a:t>
            </a:r>
            <a:r>
              <a:rPr lang="en-US" dirty="0" err="1"/>
              <a:t>Houtsma</a:t>
            </a:r>
            <a:r>
              <a:rPr lang="en-US" dirty="0"/>
              <a:t>, "An Explainable Machine Learning Approach to Risk-Adaptive Access Control," </a:t>
            </a:r>
            <a:r>
              <a:rPr lang="en-US" i="1" dirty="0"/>
              <a:t>M.Sc. thesis, Faculty of Electrical Engineering, Mathematics and Computer Science, University of Twente, Enschede, The Netherlands</a:t>
            </a:r>
            <a:r>
              <a:rPr lang="en-US" dirty="0"/>
              <a:t>, 2022.</a:t>
            </a:r>
          </a:p>
          <a:p>
            <a:pPr marL="548640" indent="-548640">
              <a:buNone/>
            </a:pPr>
            <a:r>
              <a:rPr lang="en-US" dirty="0"/>
              <a:t>[2] 	A. Liu, X. Du, and N. Wang, "Efficient Access Control Permission Decision Engine Based on Machine Learning," </a:t>
            </a:r>
            <a:r>
              <a:rPr lang="en-US" i="1" dirty="0"/>
              <a:t>Security and Communication Networks</a:t>
            </a:r>
            <a:r>
              <a:rPr lang="en-US" dirty="0"/>
              <a:t>, vol. 2021, art. no. 3970485, pp. 1–11, 2021, </a:t>
            </a:r>
            <a:r>
              <a:rPr lang="en-US" dirty="0" err="1"/>
              <a:t>doi</a:t>
            </a:r>
            <a:r>
              <a:rPr lang="en-US" dirty="0"/>
              <a:t>: 10.1155/2021/3970485.</a:t>
            </a:r>
          </a:p>
          <a:p>
            <a:pPr marL="548640" indent="-548640">
              <a:buNone/>
            </a:pPr>
            <a:r>
              <a:rPr lang="en-US" dirty="0"/>
              <a:t>[3] 	B. Li, F. Yang, and S. Zhang, "Context-Aware Risk Attribute Access Control," </a:t>
            </a:r>
            <a:r>
              <a:rPr lang="en-US" i="1" dirty="0"/>
              <a:t>Mathematics</a:t>
            </a:r>
            <a:r>
              <a:rPr lang="en-US" dirty="0"/>
              <a:t>, vol. 12, no. 16, art. no. 2541, 2024, </a:t>
            </a:r>
            <a:r>
              <a:rPr lang="en-US" dirty="0" err="1"/>
              <a:t>doi</a:t>
            </a:r>
            <a:r>
              <a:rPr lang="en-US" dirty="0"/>
              <a:t>: 10.3390/math12162541.</a:t>
            </a:r>
          </a:p>
          <a:p>
            <a:pPr marL="548640" indent="-548640">
              <a:buNone/>
            </a:pPr>
            <a:r>
              <a:rPr lang="en-US" dirty="0"/>
              <a:t>[4] 	N. </a:t>
            </a:r>
            <a:r>
              <a:rPr lang="en-US" dirty="0" err="1"/>
              <a:t>Anciaux</a:t>
            </a:r>
            <a:r>
              <a:rPr lang="en-US" dirty="0"/>
              <a:t>, L. </a:t>
            </a:r>
            <a:r>
              <a:rPr lang="en-US" dirty="0" err="1"/>
              <a:t>Bouganim</a:t>
            </a:r>
            <a:r>
              <a:rPr lang="en-US" dirty="0"/>
              <a:t>, and Y. Guo, "Database Encryption," in </a:t>
            </a:r>
            <a:r>
              <a:rPr lang="en-US" i="1" dirty="0"/>
              <a:t>Encyclopedia of Cryptography, Security and Privacy</a:t>
            </a:r>
            <a:r>
              <a:rPr lang="en-US" dirty="0"/>
              <a:t>, 3rd ed., S. </a:t>
            </a:r>
            <a:r>
              <a:rPr lang="en-US" dirty="0" err="1"/>
              <a:t>Jajodia</a:t>
            </a:r>
            <a:r>
              <a:rPr lang="en-US" dirty="0"/>
              <a:t>, P. </a:t>
            </a:r>
            <a:r>
              <a:rPr lang="en-US" dirty="0" err="1"/>
              <a:t>Samarati</a:t>
            </a:r>
            <a:r>
              <a:rPr lang="en-US" dirty="0"/>
              <a:t>, and M. Yung, Eds. Berlin, Heidelberg, Germany: </a:t>
            </a:r>
            <a:r>
              <a:rPr lang="en-US" i="1" dirty="0"/>
              <a:t>Springer</a:t>
            </a:r>
            <a:r>
              <a:rPr lang="en-US" dirty="0"/>
              <a:t>, 2023, </a:t>
            </a:r>
            <a:r>
              <a:rPr lang="en-US" dirty="0" err="1"/>
              <a:t>doi</a:t>
            </a:r>
            <a:r>
              <a:rPr lang="en-US" dirty="0"/>
              <a:t>: 10.1007/978-3-642-27739-9_677-2.</a:t>
            </a:r>
          </a:p>
        </p:txBody>
      </p:sp>
      <p:sp>
        <p:nvSpPr>
          <p:cNvPr id="4" name="Date Placeholder 3">
            <a:extLst>
              <a:ext uri="{FF2B5EF4-FFF2-40B4-BE49-F238E27FC236}">
                <a16:creationId xmlns:a16="http://schemas.microsoft.com/office/drawing/2014/main" id="{F5F5EDB2-4806-5B9F-86EA-55CE23BED45D}"/>
              </a:ext>
            </a:extLst>
          </p:cNvPr>
          <p:cNvSpPr>
            <a:spLocks noGrp="1"/>
          </p:cNvSpPr>
          <p:nvPr>
            <p:ph type="dt" sz="half" idx="10"/>
          </p:nvPr>
        </p:nvSpPr>
        <p:spPr/>
        <p:txBody>
          <a:bodyPr/>
          <a:lstStyle/>
          <a:p>
            <a:fld id="{7A201E91-4DAB-4F48-8C1A-6F69EDFC4872}" type="datetime1">
              <a:rPr lang="en-US" smtClean="0"/>
              <a:t>10-Jul-26</a:t>
            </a:fld>
            <a:endParaRPr lang="en-US"/>
          </a:p>
        </p:txBody>
      </p:sp>
      <p:sp>
        <p:nvSpPr>
          <p:cNvPr id="5" name="Slide Number Placeholder 4">
            <a:extLst>
              <a:ext uri="{FF2B5EF4-FFF2-40B4-BE49-F238E27FC236}">
                <a16:creationId xmlns:a16="http://schemas.microsoft.com/office/drawing/2014/main" id="{8DE019F4-2C4C-85CE-9553-50DCDC220B05}"/>
              </a:ext>
            </a:extLst>
          </p:cNvPr>
          <p:cNvSpPr>
            <a:spLocks noGrp="1"/>
          </p:cNvSpPr>
          <p:nvPr>
            <p:ph type="sldNum" sz="quarter" idx="12"/>
          </p:nvPr>
        </p:nvSpPr>
        <p:spPr/>
        <p:txBody>
          <a:bodyPr/>
          <a:lstStyle/>
          <a:p>
            <a:fld id="{7A1EA063-F1A0-4337-9BB4-F912B647AF2A}" type="slidenum">
              <a:rPr lang="en-US" smtClean="0"/>
              <a:t>34</a:t>
            </a:fld>
            <a:endParaRPr lang="en-US"/>
          </a:p>
        </p:txBody>
      </p:sp>
    </p:spTree>
    <p:extLst>
      <p:ext uri="{BB962C8B-B14F-4D97-AF65-F5344CB8AC3E}">
        <p14:creationId xmlns:p14="http://schemas.microsoft.com/office/powerpoint/2010/main" val="10529029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58D50-C46B-A954-6F92-98E5B389666F}"/>
              </a:ext>
            </a:extLst>
          </p:cNvPr>
          <p:cNvSpPr>
            <a:spLocks noGrp="1"/>
          </p:cNvSpPr>
          <p:nvPr>
            <p:ph type="title"/>
          </p:nvPr>
        </p:nvSpPr>
        <p:spPr>
          <a:xfrm>
            <a:off x="838200" y="2766218"/>
            <a:ext cx="10515600" cy="1325563"/>
          </a:xfrm>
        </p:spPr>
        <p:txBody>
          <a:bodyPr/>
          <a:lstStyle/>
          <a:p>
            <a:pPr algn="ctr"/>
            <a:r>
              <a:rPr lang="en-US" dirty="0"/>
              <a:t>Thank You</a:t>
            </a:r>
          </a:p>
        </p:txBody>
      </p:sp>
      <p:sp>
        <p:nvSpPr>
          <p:cNvPr id="3" name="Date Placeholder 2">
            <a:extLst>
              <a:ext uri="{FF2B5EF4-FFF2-40B4-BE49-F238E27FC236}">
                <a16:creationId xmlns:a16="http://schemas.microsoft.com/office/drawing/2014/main" id="{DED3D9C7-8831-C1A5-D815-C672A38F8305}"/>
              </a:ext>
            </a:extLst>
          </p:cNvPr>
          <p:cNvSpPr>
            <a:spLocks noGrp="1"/>
          </p:cNvSpPr>
          <p:nvPr>
            <p:ph type="dt" sz="half" idx="10"/>
          </p:nvPr>
        </p:nvSpPr>
        <p:spPr/>
        <p:txBody>
          <a:bodyPr/>
          <a:lstStyle/>
          <a:p>
            <a:fld id="{1E300BD0-E5C2-4A74-9E3E-BB244319C3D5}" type="datetime1">
              <a:rPr lang="en-US" smtClean="0"/>
              <a:t>10-Jul-26</a:t>
            </a:fld>
            <a:endParaRPr lang="en-US"/>
          </a:p>
        </p:txBody>
      </p:sp>
      <p:sp>
        <p:nvSpPr>
          <p:cNvPr id="4" name="Slide Number Placeholder 3">
            <a:extLst>
              <a:ext uri="{FF2B5EF4-FFF2-40B4-BE49-F238E27FC236}">
                <a16:creationId xmlns:a16="http://schemas.microsoft.com/office/drawing/2014/main" id="{A5C718C6-ED16-F0DF-7831-FB87DFFD6CCE}"/>
              </a:ext>
            </a:extLst>
          </p:cNvPr>
          <p:cNvSpPr>
            <a:spLocks noGrp="1"/>
          </p:cNvSpPr>
          <p:nvPr>
            <p:ph type="sldNum" sz="quarter" idx="12"/>
          </p:nvPr>
        </p:nvSpPr>
        <p:spPr/>
        <p:txBody>
          <a:bodyPr/>
          <a:lstStyle/>
          <a:p>
            <a:fld id="{7A1EA063-F1A0-4337-9BB4-F912B647AF2A}" type="slidenum">
              <a:rPr lang="en-US" smtClean="0"/>
              <a:t>35</a:t>
            </a:fld>
            <a:endParaRPr lang="en-US"/>
          </a:p>
        </p:txBody>
      </p:sp>
    </p:spTree>
    <p:extLst>
      <p:ext uri="{BB962C8B-B14F-4D97-AF65-F5344CB8AC3E}">
        <p14:creationId xmlns:p14="http://schemas.microsoft.com/office/powerpoint/2010/main" val="42446320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558</TotalTime>
  <Words>1833</Words>
  <Application>Microsoft Office PowerPoint</Application>
  <PresentationFormat>Widescreen</PresentationFormat>
  <Paragraphs>372</Paragraphs>
  <Slides>35</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35</vt:i4>
      </vt:variant>
    </vt:vector>
  </HeadingPairs>
  <TitlesOfParts>
    <vt:vector size="43" baseType="lpstr">
      <vt:lpstr>Aptos</vt:lpstr>
      <vt:lpstr>Aptos Display</vt:lpstr>
      <vt:lpstr>Arial</vt:lpstr>
      <vt:lpstr>Calibri</vt:lpstr>
      <vt:lpstr>Times New Roman</vt:lpstr>
      <vt:lpstr>Times New Roman MT Bold</vt:lpstr>
      <vt:lpstr>Wingdings</vt:lpstr>
      <vt:lpstr>Office Theme</vt:lpstr>
      <vt:lpstr>PowerPoint Presentation</vt:lpstr>
      <vt:lpstr>Outline</vt:lpstr>
      <vt:lpstr>Introduction</vt:lpstr>
      <vt:lpstr>Standard security stack of a backend application</vt:lpstr>
      <vt:lpstr>Standard data access flow of a secure backend application</vt:lpstr>
      <vt:lpstr>Problem Statement</vt:lpstr>
      <vt:lpstr>Related Works</vt:lpstr>
      <vt:lpstr>Objectives</vt:lpstr>
      <vt:lpstr>Proposed Methodology</vt:lpstr>
      <vt:lpstr>Four-Stage Pipeline</vt:lpstr>
      <vt:lpstr>Eight-Layer Security Architecture</vt:lpstr>
      <vt:lpstr>Synthetic Dataset Engineering</vt:lpstr>
      <vt:lpstr> HIGH-risk labeling rules of the dataset generator</vt:lpstr>
      <vt:lpstr>MEDIUM-risk labeling rules of the dataset generator.</vt:lpstr>
      <vt:lpstr>Dataset partitions</vt:lpstr>
      <vt:lpstr>Model: Random Forest</vt:lpstr>
      <vt:lpstr>In-Process Transpilation</vt:lpstr>
      <vt:lpstr>Late-binding cryptographic redesign</vt:lpstr>
      <vt:lpstr>Sensitive table in database</vt:lpstr>
      <vt:lpstr>Risk-to-policy decision</vt:lpstr>
      <vt:lpstr>Result Analysis</vt:lpstr>
      <vt:lpstr>Baseline Comparison</vt:lpstr>
      <vt:lpstr>Feature Importance</vt:lpstr>
      <vt:lpstr>Transpiled Artifact Latency</vt:lpstr>
      <vt:lpstr>Comparison with static pipeline</vt:lpstr>
      <vt:lpstr>System Demonstration: Low-risk</vt:lpstr>
      <vt:lpstr>System Demonstration: Medium-risk</vt:lpstr>
      <vt:lpstr>System Demonstration: High-risk</vt:lpstr>
      <vt:lpstr>Experimental Environment</vt:lpstr>
      <vt:lpstr>Conclusion</vt:lpstr>
      <vt:lpstr>Limitations</vt:lpstr>
      <vt:lpstr>Future Work</vt:lpstr>
      <vt:lpstr>Closing statement</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Faiyaz Mahmud</dc:creator>
  <cp:lastModifiedBy>Faiyaz Mahmud</cp:lastModifiedBy>
  <cp:revision>4</cp:revision>
  <dcterms:created xsi:type="dcterms:W3CDTF">2026-07-09T19:01:25Z</dcterms:created>
  <dcterms:modified xsi:type="dcterms:W3CDTF">2026-07-10T10:53:20Z</dcterms:modified>
</cp:coreProperties>
</file>