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4" r:id="rId17"/>
    <p:sldId id="275" r:id="rId18"/>
    <p:sldId id="276" r:id="rId19"/>
    <p:sldId id="277" r:id="rId20"/>
    <p:sldId id="278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90" r:id="rId31"/>
    <p:sldId id="291" r:id="rId32"/>
    <p:sldId id="292" r:id="rId33"/>
    <p:sldId id="294" r:id="rId34"/>
    <p:sldId id="295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D42F7C-5BF3-4A95-B71E-C03CC0B86395}" type="datetimeFigureOut">
              <a:rPr lang="en-US" smtClean="0"/>
              <a:t>11-Jul-26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56F066-28C8-4ABB-9E8C-88D39E754C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86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649670A-0430-412F-A30E-DE48DFFF630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6494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61BA67-46F8-3E11-63AB-D191C5B6AD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466FD7-486A-0517-7CCF-E7986E33D1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47A080-927A-E16D-8B4F-DF8DD9BF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C747F1-683B-4DB9-8B62-1CF92615BF50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70B9-1BA8-C70E-21BA-7F3168445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53A65-0196-DC02-7C4F-A6CE954D07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5040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9F0D7-A11C-9DFF-5C9E-A9E457734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10EC34-20BB-4288-5EE5-F9FF1F88C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7D250-3D90-3B91-FA8F-D906C006B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F78172-A461-F91C-47E6-7C684F284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A4B84C-8204-4BA4-16BE-942EF58E5E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8528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C8737-8CCC-F2E7-13DF-E19D42DB0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7A2EE-43E3-026C-E5EF-7E4F3F3E5B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21C9A7-B846-B0FF-A011-A62297C62F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37BCB1-603D-48D7-BF3B-6C951849C36A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F967BC-3A01-718B-9AC7-A41B5C954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F4EB6E-A63F-D224-2260-05D85498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3515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F63CD-2529-5C62-A463-DEF6D4BD41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346407-6A80-0F9A-D3AE-429749BC08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F54A58-A295-D87F-9B15-BF6D4A97A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C50B17-1073-AE40-9584-A6E2DCDDD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7F9251-34F8-4AD4-B339-05BCD9FB4E97}" type="datetime1">
              <a:rPr lang="en-US" smtClean="0"/>
              <a:t>11-Jul-26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EF26B5-1A6F-451F-6C86-521F879B9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CFB49E-8DC4-A1C6-4E40-7B3148391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512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DB7EA-6C3E-B4C3-C8B6-DDE3EB7E8F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E93076-DA07-64CF-F976-CF703FD091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9BAC78-CCC5-DF78-F5FC-1F2A5FFFEE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F2D0B-2045-325B-7B16-D66C72FE6B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253FF1-0EC0-65CA-E336-F055200EB8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D6EB14-A51C-FF0F-09A9-E75FC1C40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641C84-AB04-4B99-8AF5-7C18CDD89D75}" type="datetime1">
              <a:rPr lang="en-US" smtClean="0"/>
              <a:t>11-Jul-26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D949F6-0683-799D-AC8D-F7B27C781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ABCA88-4A5D-C3B6-4434-5E68F2306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60565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65A0B-7B7A-FF32-4784-BB28A24EC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12586B-C6F3-2B53-8469-49E96A87F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F7E4A2D-DAC5-5673-637E-17C48060B5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5789F2-F278-577B-E32C-BD48A850E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608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2BDE13-983B-302D-0D9F-E6FBD8778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E4D0E3-075A-44FE-88A6-2C19E3398706}" type="datetime1">
              <a:rPr lang="en-US" smtClean="0"/>
              <a:t>11-Jul-26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89A440-8E15-B2FD-A214-3A586D6F1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3A6EAF-E605-E79B-B5CE-D5B517462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2857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0212F-54FD-6282-856B-F199F05DF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46851-6EA0-EDB8-A793-461990064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A8CE5-B650-0B80-CD63-D99742FE8C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186C92-4301-EF5B-EB24-AE0A9B305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8D7D84-CA30-4C79-906C-7E6A2491F39E}" type="datetime1">
              <a:rPr lang="en-US" smtClean="0"/>
              <a:t>11-Jul-26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0C9801-F6B9-052D-B485-C462E1DD9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AB16D4-250B-50D4-FBCA-9E1E49563D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0879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5AA49-DB55-755D-6575-304362B205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0A75EA-1079-3595-887E-01DE4B77BB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1FD0F4-3A8B-5FB1-759D-7FBB52C25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C14293-FA10-8B67-F5BA-CC7797CFB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F66521-1AF7-4B83-A505-23CAC6E6B256}" type="datetime1">
              <a:rPr lang="en-US" smtClean="0"/>
              <a:t>11-Jul-26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547CEB-AD75-067C-6985-43A6203B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EFBDE4-60E7-4353-C7DD-B2EC55067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1220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8E44A-24BE-F077-9EEE-477797B27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3E37A5-F498-CB86-6277-7F0BC76C4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5C0355-8CAE-EB75-9AF9-573786D12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B0DF0-F300-4E64-8C88-AF3711E61673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5F560F-9EB6-2795-03A0-CDF5E35A0D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BDF2A0-181A-5B30-AA29-7C1223E966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47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537055-D6F5-3031-BFEE-E7CC45ED5C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3535F4-5FF3-CE25-2181-41FDACFA7F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2D8EF-50B7-A0B4-CABB-1093DE5F2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BF8B7D-FCDB-4A9E-AACC-15AE6C1E5CAA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42D03E-8F76-26C1-C399-168ADA27C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AACD82-7DBB-F49C-D9C0-1CCEFF99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9679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CBAC41-E74E-41E8-856E-D6AC8AC79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8C1F72-2695-444A-1D96-368E9FAA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63E12C-C22F-A110-F73D-94DD8362A1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DAA56E-78B6-4126-B152-2071F0686178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FFEA9-F522-5AB3-2239-753D614F937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99586B-E6BC-0177-3051-4251ADDDB8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1EA063-F1A0-4337-9BB4-F912B647AF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8440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9"/>
          <p:cNvSpPr/>
          <p:nvPr/>
        </p:nvSpPr>
        <p:spPr>
          <a:xfrm>
            <a:off x="5231455" y="162803"/>
            <a:ext cx="1574800" cy="1533567"/>
          </a:xfrm>
          <a:custGeom>
            <a:avLst/>
            <a:gdLst/>
            <a:ahLst/>
            <a:cxnLst/>
            <a:rect l="l" t="t" r="r" b="b"/>
            <a:pathLst>
              <a:path w="1458301" h="1635834">
                <a:moveTo>
                  <a:pt x="0" y="0"/>
                </a:moveTo>
                <a:lnTo>
                  <a:pt x="1458302" y="0"/>
                </a:lnTo>
                <a:lnTo>
                  <a:pt x="1458302" y="1635834"/>
                </a:lnTo>
                <a:lnTo>
                  <a:pt x="0" y="16358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pPr algn="ctr"/>
            <a:endParaRPr lang="en-US" dirty="0"/>
          </a:p>
        </p:txBody>
      </p:sp>
      <p:sp>
        <p:nvSpPr>
          <p:cNvPr id="20" name="TextBox 20"/>
          <p:cNvSpPr txBox="1"/>
          <p:nvPr/>
        </p:nvSpPr>
        <p:spPr>
          <a:xfrm>
            <a:off x="1751056" y="1774187"/>
            <a:ext cx="8535598" cy="4513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en-US" sz="2933" b="1" dirty="0">
                <a:solidFill>
                  <a:schemeClr val="tx2">
                    <a:lumMod val="7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Khulna University of Engineering &amp; Technology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B5731CE-0322-495E-8BAB-AAA1A4261934}"/>
              </a:ext>
            </a:extLst>
          </p:cNvPr>
          <p:cNvSpPr/>
          <p:nvPr/>
        </p:nvSpPr>
        <p:spPr>
          <a:xfrm>
            <a:off x="183116" y="3364265"/>
            <a:ext cx="11785600" cy="1588273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3766"/>
              </a:lnSpc>
            </a:pPr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Machine Learning-Based Runtime Data-in-Use </a:t>
            </a:r>
            <a:b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Protection Framework with Adaptive Decryption and </a:t>
            </a:r>
            <a:b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sz="36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Exposure Control</a:t>
            </a:r>
            <a:endParaRPr lang="en-US" sz="3600" b="1" dirty="0">
              <a:solidFill>
                <a:schemeClr val="tx1">
                  <a:lumMod val="95000"/>
                  <a:lumOff val="5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7C2F00-5DA7-401E-BBD0-F95C747DA61C}"/>
              </a:ext>
            </a:extLst>
          </p:cNvPr>
          <p:cNvSpPr txBox="1"/>
          <p:nvPr/>
        </p:nvSpPr>
        <p:spPr>
          <a:xfrm>
            <a:off x="2870194" y="2359963"/>
            <a:ext cx="6297323" cy="761619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>
            <a:spAutoFit/>
          </a:bodyPr>
          <a:lstStyle/>
          <a:p>
            <a:pPr marR="135473" algn="ctr">
              <a:spcBef>
                <a:spcPts val="67"/>
              </a:spcBef>
            </a:pPr>
            <a:r>
              <a:rPr lang="en-GB" sz="2133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Course</a:t>
            </a:r>
            <a:r>
              <a:rPr lang="en-GB" sz="2133" b="1" spc="-23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133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no:</a:t>
            </a:r>
            <a:r>
              <a:rPr lang="en-GB" sz="2133" b="1" spc="6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133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CSE</a:t>
            </a:r>
            <a:r>
              <a:rPr lang="en-GB" sz="2133" spc="33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133" spc="-13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4000</a:t>
            </a:r>
            <a:endParaRPr lang="en-GB" sz="2133" dirty="0">
              <a:latin typeface="Arial" panose="020B06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R="135473" algn="ctr">
              <a:spcBef>
                <a:spcPts val="67"/>
              </a:spcBef>
            </a:pPr>
            <a:r>
              <a:rPr lang="en-GB" sz="2133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Course</a:t>
            </a:r>
            <a:r>
              <a:rPr lang="en-GB" sz="2133" b="1" spc="-57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133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Title:</a:t>
            </a:r>
            <a:r>
              <a:rPr lang="en-GB" sz="2133" b="1" spc="-3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GB" sz="2133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Project/Thesis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828EC19-F655-4D1F-94DA-C7AE83588529}"/>
              </a:ext>
            </a:extLst>
          </p:cNvPr>
          <p:cNvSpPr/>
          <p:nvPr/>
        </p:nvSpPr>
        <p:spPr>
          <a:xfrm>
            <a:off x="4281819" y="6352501"/>
            <a:ext cx="4419600" cy="4842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133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Date:11/07/2026</a:t>
            </a:r>
            <a:endParaRPr lang="en-US" sz="2133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0240815-283E-47DD-83A5-A9A91B686899}"/>
              </a:ext>
            </a:extLst>
          </p:cNvPr>
          <p:cNvSpPr txBox="1"/>
          <p:nvPr/>
        </p:nvSpPr>
        <p:spPr>
          <a:xfrm>
            <a:off x="203200" y="6411425"/>
            <a:ext cx="36576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31" dirty="0">
                <a:solidFill>
                  <a:srgbClr val="FFFFFF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CSE 4000: PROJECT/THESIS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FC41696-E449-45F3-B4E3-4C1DB5F4729A}"/>
              </a:ext>
            </a:extLst>
          </p:cNvPr>
          <p:cNvSpPr/>
          <p:nvPr/>
        </p:nvSpPr>
        <p:spPr>
          <a:xfrm>
            <a:off x="223284" y="2026736"/>
            <a:ext cx="11785600" cy="1370141"/>
          </a:xfrm>
          <a:prstGeom prst="rect">
            <a:avLst/>
          </a:prstGeom>
          <a:noFill/>
          <a:ln>
            <a:noFill/>
          </a:ln>
          <a:effectLst>
            <a:glow rad="101600">
              <a:srgbClr val="00B050">
                <a:alpha val="6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5F177B73-B429-4998-B2ED-3F58183B97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38477"/>
              </p:ext>
            </p:extLst>
          </p:nvPr>
        </p:nvGraphicFramePr>
        <p:xfrm>
          <a:off x="2202425" y="5199101"/>
          <a:ext cx="1035337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6685">
                  <a:extLst>
                    <a:ext uri="{9D8B030D-6E8A-4147-A177-3AD203B41FA5}">
                      <a16:colId xmlns:a16="http://schemas.microsoft.com/office/drawing/2014/main" val="348716470"/>
                    </a:ext>
                  </a:extLst>
                </a:gridCol>
                <a:gridCol w="5176685">
                  <a:extLst>
                    <a:ext uri="{9D8B030D-6E8A-4147-A177-3AD203B41FA5}">
                      <a16:colId xmlns:a16="http://schemas.microsoft.com/office/drawing/2014/main" val="3738095001"/>
                    </a:ext>
                  </a:extLst>
                </a:gridCol>
              </a:tblGrid>
              <a:tr h="1427031">
                <a:tc>
                  <a:txBody>
                    <a:bodyPr/>
                    <a:lstStyle/>
                    <a:p>
                      <a:pPr marL="0" marR="0" lvl="0" indent="0" algn="l" defTabSz="13716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Supervised By:</a:t>
                      </a:r>
                    </a:p>
                    <a:p>
                      <a:pPr marL="0" marR="0" lvl="0" indent="0" algn="l" defTabSz="13716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Dr. Muhammad </a:t>
                      </a:r>
                      <a:r>
                        <a:rPr lang="en-US" sz="2100" b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Aminul</a:t>
                      </a: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Haque Akhand</a:t>
                      </a:r>
                      <a:b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Professor</a:t>
                      </a:r>
                      <a:b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Department of CSE, KUET</a:t>
                      </a:r>
                    </a:p>
                    <a:p>
                      <a:endParaRPr lang="en-US" sz="1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0960" marR="60960" marT="30480" marB="30480"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13716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Presented By:</a:t>
                      </a:r>
                    </a:p>
                    <a:p>
                      <a:pPr marL="0" marR="0" lvl="0" indent="0" algn="l" defTabSz="13716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Faiyaz Mahmud</a:t>
                      </a:r>
                      <a:br>
                        <a:rPr lang="en-US" sz="2100" b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</a:br>
                      <a:r>
                        <a:rPr lang="en-US" sz="2100" b="0" i="0" dirty="0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Roll: 2007103</a:t>
                      </a:r>
                      <a:endParaRPr lang="en-US" sz="21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  <a:p>
                      <a:endParaRPr lang="en-US" sz="1200" b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0960" marR="60960" marT="30480" marB="3048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99927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22881"/>
    </mc:Choice>
    <mc:Fallback xmlns="">
      <p:transition spd="slow" advTm="2288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4C3A-631F-A921-2F91-CEAAA1368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  <a:solidFill>
            <a:schemeClr val="tx2">
              <a:lumMod val="10000"/>
              <a:lumOff val="90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9B059-A727-8507-8F85-D7B031F00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4000"/>
            <a:ext cx="10515600" cy="465296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Related Works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Methodology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 Analysis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 Setup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FBF54-4D0C-F2CC-918D-A203C86C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C27C9-B9FE-3100-240D-7D4EE901D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184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4C3A-631F-A921-2F91-CEAAA1368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942" y="365125"/>
            <a:ext cx="11127256" cy="627933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9B059-A727-8507-8F85-D7B031F00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0942" y="1209367"/>
            <a:ext cx="9124335" cy="4925961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digital system needs security.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Systems where security is most critical: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Financial institutions: </a:t>
            </a: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MFS, banks, stock exchanges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Healthcare systems:</a:t>
            </a: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sensitive patient records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Government Institutions:</a:t>
            </a: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national security data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single breach can mean: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Loss of life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Critical service failure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Massive economic disruption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FBF54-4D0C-F2CC-918D-A203C86C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C27C9-B9FE-3100-240D-7D4EE901D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3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7B8B73-3002-08D4-185B-EACEA419B33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25"/>
          <a:stretch/>
        </p:blipFill>
        <p:spPr>
          <a:xfrm>
            <a:off x="6500490" y="4179655"/>
            <a:ext cx="1553497" cy="1575309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A22C687-AD32-CE1D-6EA3-BD70831E61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38342" y="4288173"/>
            <a:ext cx="1416935" cy="1397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8D795A2-52D1-2FA9-BB8B-7EB052DB0E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9632" y="4179655"/>
            <a:ext cx="1527618" cy="1527618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C9CB87C8-7F8B-3A89-E2B8-69738910F91D}"/>
              </a:ext>
            </a:extLst>
          </p:cNvPr>
          <p:cNvSpPr txBox="1"/>
          <p:nvPr/>
        </p:nvSpPr>
        <p:spPr>
          <a:xfrm>
            <a:off x="6235420" y="5891896"/>
            <a:ext cx="542277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Figure 1: Real-world digital systems that require critical security.</a:t>
            </a:r>
          </a:p>
        </p:txBody>
      </p:sp>
    </p:spTree>
    <p:extLst>
      <p:ext uri="{BB962C8B-B14F-4D97-AF65-F5344CB8AC3E}">
        <p14:creationId xmlns:p14="http://schemas.microsoft.com/office/powerpoint/2010/main" val="8282378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5E58-CFBD-BCC5-17A8-6B26DE977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8526" y="365126"/>
            <a:ext cx="11134948" cy="765584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 security stack of a backend application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F6A9AB-5F1D-114E-8987-DB7F38981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86B6-5CA5-7E2F-4D17-DE615160B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E66335-9884-8A31-986D-AEB8A3877B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526" y="1229032"/>
            <a:ext cx="11134948" cy="463099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77BA3E-5EB6-8E5A-528E-A6BEE2B9E2AE}"/>
              </a:ext>
            </a:extLst>
          </p:cNvPr>
          <p:cNvSpPr txBox="1"/>
          <p:nvPr/>
        </p:nvSpPr>
        <p:spPr>
          <a:xfrm>
            <a:off x="3838362" y="5987018"/>
            <a:ext cx="528413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2: Traditional secure backend system.</a:t>
            </a:r>
          </a:p>
        </p:txBody>
      </p:sp>
    </p:spTree>
    <p:extLst>
      <p:ext uri="{BB962C8B-B14F-4D97-AF65-F5344CB8AC3E}">
        <p14:creationId xmlns:p14="http://schemas.microsoft.com/office/powerpoint/2010/main" val="1285198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A5E58-CFBD-BCC5-17A8-6B26DE9770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1666" y="265471"/>
            <a:ext cx="11068665" cy="776749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sz="3600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Standard data access flow of a secure backend application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F6A9AB-5F1D-114E-8987-DB7F38981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86B6-5CA5-7E2F-4D17-DE615160B2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1668C1C-F3CF-0055-6759-3344B1A062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4671" y="1199535"/>
            <a:ext cx="9222657" cy="48374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5439E69-A168-0D92-016A-EE524839E21A}"/>
              </a:ext>
            </a:extLst>
          </p:cNvPr>
          <p:cNvSpPr txBox="1"/>
          <p:nvPr/>
        </p:nvSpPr>
        <p:spPr>
          <a:xfrm>
            <a:off x="2854857" y="6169580"/>
            <a:ext cx="75039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3: Data access flow of traditional secure backend system.</a:t>
            </a:r>
          </a:p>
        </p:txBody>
      </p:sp>
    </p:spTree>
    <p:extLst>
      <p:ext uri="{BB962C8B-B14F-4D97-AF65-F5344CB8AC3E}">
        <p14:creationId xmlns:p14="http://schemas.microsoft.com/office/powerpoint/2010/main" val="14977993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4C3A-631F-A921-2F91-CEAAA1368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5988"/>
          </a:xfrm>
          <a:solidFill>
            <a:schemeClr val="tx2">
              <a:lumMod val="10000"/>
              <a:lumOff val="90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9B059-A727-8507-8F85-D7B031F00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3665"/>
            <a:ext cx="10515600" cy="48126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if user credential, token or session gets hijacked?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Anomalous behavior.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Nothing re-evaluates trust while data is actually being accessed.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TDE decrypts pages for any authenticated connection.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ALE decrypts unconditionally on read.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ALE and TDE are blind to behavior.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FBF54-4D0C-F2CC-918D-A203C86C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C27C9-B9FE-3100-240D-7D4EE901D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688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A4C3A-631F-A921-2F91-CEAAA1368C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062"/>
            <a:ext cx="10515600" cy="667261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Related Works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3D845FE-FCC4-8B74-6FD0-BD869AEAA1B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002482986"/>
              </p:ext>
            </p:extLst>
          </p:nvPr>
        </p:nvGraphicFramePr>
        <p:xfrm>
          <a:off x="970318" y="1459266"/>
          <a:ext cx="10547555" cy="48970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0855">
                  <a:extLst>
                    <a:ext uri="{9D8B030D-6E8A-4147-A177-3AD203B41FA5}">
                      <a16:colId xmlns:a16="http://schemas.microsoft.com/office/drawing/2014/main" val="15676818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6932228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2609924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56844472"/>
                    </a:ext>
                  </a:extLst>
                </a:gridCol>
              </a:tblGrid>
              <a:tr h="40320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Author(s) and 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Shortcoming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733043"/>
                  </a:ext>
                </a:extLst>
              </a:tr>
              <a:tr h="1469851">
                <a:tc>
                  <a:txBody>
                    <a:bodyPr/>
                    <a:lstStyle/>
                    <a:p>
                      <a:pPr algn="ctr" fontAlgn="t"/>
                      <a:r>
                        <a:rPr lang="en-US" b="0" i="0" dirty="0" err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Houtsma</a:t>
                      </a:r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2022 </a:t>
                      </a:r>
                      <a:r>
                        <a:rPr lang="en-US" b="1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[1]</a:t>
                      </a:r>
                      <a:endParaRPr lang="en-US" b="0" i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 Explainable Machine Learning Approach to Risk-Adaptive 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Neural networks predict </a:t>
                      </a:r>
                      <a:r>
                        <a:rPr lang="en-US" b="0" i="0" dirty="0" err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RAdAC</a:t>
                      </a:r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decisions.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 decryption-boundary enforcement.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655972"/>
                  </a:ext>
                </a:extLst>
              </a:tr>
              <a:tr h="1310414">
                <a:tc>
                  <a:txBody>
                    <a:bodyPr/>
                    <a:lstStyle/>
                    <a:p>
                      <a:pPr algn="ctr"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Liu et al., 2021 </a:t>
                      </a:r>
                      <a:r>
                        <a:rPr lang="en-US" b="1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[2]</a:t>
                      </a:r>
                      <a:endParaRPr lang="en-US" b="0" i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Efficient Access Control Permission Decision Engine Based on Machine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 Forest predicts access permission.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Binary access, no masking tier.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6198191"/>
                  </a:ext>
                </a:extLst>
              </a:tr>
              <a:tr h="1008010">
                <a:tc>
                  <a:txBody>
                    <a:bodyPr/>
                    <a:lstStyle/>
                    <a:p>
                      <a:pPr algn="ctr"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Li et al., 2024 </a:t>
                      </a:r>
                      <a:r>
                        <a:rPr lang="en-US" b="1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[3]</a:t>
                      </a:r>
                      <a:endParaRPr lang="en-US" b="0" i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Context-Aware Risk Attribute Access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Context risk controls authorization.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Authorization-focused, not cryptography-coupled.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8809909"/>
                  </a:ext>
                </a:extLst>
              </a:tr>
              <a:tr h="705607">
                <a:tc>
                  <a:txBody>
                    <a:bodyPr/>
                    <a:lstStyle/>
                    <a:p>
                      <a:pPr algn="ctr" fontAlgn="t"/>
                      <a:r>
                        <a:rPr lang="en-US" b="0" i="0" dirty="0" err="1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Anciaux</a:t>
                      </a:r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et al., 2023 </a:t>
                      </a:r>
                      <a:r>
                        <a:rPr lang="en-US" b="1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[4]</a:t>
                      </a:r>
                      <a:endParaRPr lang="en-US" b="0" i="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Database Encryption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b="0" i="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Surveys database encryption methods.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Covers storage, not runtime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96214172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AFBF54-4D0C-F2CC-918D-A203C86C8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9C27C9-B9FE-3100-240D-7D4EE901D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153C3A-57BF-1D56-B657-855CFC947C62}"/>
              </a:ext>
            </a:extLst>
          </p:cNvPr>
          <p:cNvSpPr txBox="1"/>
          <p:nvPr/>
        </p:nvSpPr>
        <p:spPr>
          <a:xfrm>
            <a:off x="4937020" y="946860"/>
            <a:ext cx="2859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 1: Related works.</a:t>
            </a:r>
          </a:p>
        </p:txBody>
      </p:sp>
    </p:spTree>
    <p:extLst>
      <p:ext uri="{BB962C8B-B14F-4D97-AF65-F5344CB8AC3E}">
        <p14:creationId xmlns:p14="http://schemas.microsoft.com/office/powerpoint/2010/main" val="17779475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0A030-F3DD-465C-DDE0-EC4C49B1D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77875"/>
          </a:xfrm>
          <a:solidFill>
            <a:schemeClr val="tx2">
              <a:lumMod val="10000"/>
              <a:lumOff val="90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DCF287-1254-25DF-8EC8-F47CD24D11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2052"/>
            <a:ext cx="10515600" cy="5304297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Global objective: </a:t>
            </a:r>
            <a:r>
              <a:rPr lang="en-US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Adaptive, ML-driven decryption control for data-in-use protection.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b="1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Specific objectives: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 synthetic, rule-labeled access-event dataset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 unforgeable runtime behavioral feature scheme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Train and tune Random Forest risk classifier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 err="1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Transpile</a:t>
            </a: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model to in-process, dependency-free JavaScript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Re-engineer ORM into late-binding encryption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Integrate graduated decrypt / mask / deny policy engine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28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Verify pipeline end-to-end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0BEDAD-E468-6FD6-C01E-0915FFA23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0DAD61-2B03-35B5-0254-E7632D3C3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356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637765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Proposed Methodology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F226880-F98F-F22B-E266-E7E59C42AF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845575"/>
            <a:ext cx="10515600" cy="55107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ABB6E67-91EC-17F6-6CBD-2A2F7A2B80F1}"/>
              </a:ext>
            </a:extLst>
          </p:cNvPr>
          <p:cNvSpPr txBox="1"/>
          <p:nvPr/>
        </p:nvSpPr>
        <p:spPr>
          <a:xfrm>
            <a:off x="4069066" y="6352143"/>
            <a:ext cx="472597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4: Proposed system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695177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099" y="365125"/>
            <a:ext cx="11353799" cy="637765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Four-Stage Pipeline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F578E2-3252-96D4-8378-51AFD8673F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43"/>
          <a:stretch/>
        </p:blipFill>
        <p:spPr>
          <a:xfrm>
            <a:off x="419099" y="1406013"/>
            <a:ext cx="11353800" cy="43454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DC1C5A-433C-A709-52C3-3BBFA26E4BAD}"/>
              </a:ext>
            </a:extLst>
          </p:cNvPr>
          <p:cNvSpPr txBox="1"/>
          <p:nvPr/>
        </p:nvSpPr>
        <p:spPr>
          <a:xfrm>
            <a:off x="3855833" y="5969947"/>
            <a:ext cx="52585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5: Four-stage integrated ML workflow.</a:t>
            </a:r>
          </a:p>
        </p:txBody>
      </p:sp>
    </p:spTree>
    <p:extLst>
      <p:ext uri="{BB962C8B-B14F-4D97-AF65-F5344CB8AC3E}">
        <p14:creationId xmlns:p14="http://schemas.microsoft.com/office/powerpoint/2010/main" val="5530947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637765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Eight-Layer Security Architecture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E6EC80-FC64-D011-041B-B7BB7834EA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5731" y="774289"/>
            <a:ext cx="8173934" cy="48104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2F9B90C-D3B1-FC2A-50D5-70AA69977F03}"/>
              </a:ext>
            </a:extLst>
          </p:cNvPr>
          <p:cNvSpPr txBox="1"/>
          <p:nvPr/>
        </p:nvSpPr>
        <p:spPr>
          <a:xfrm>
            <a:off x="3708737" y="5592703"/>
            <a:ext cx="49279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6: Eight-layer security architecture.</a:t>
            </a:r>
          </a:p>
        </p:txBody>
      </p:sp>
    </p:spTree>
    <p:extLst>
      <p:ext uri="{BB962C8B-B14F-4D97-AF65-F5344CB8AC3E}">
        <p14:creationId xmlns:p14="http://schemas.microsoft.com/office/powerpoint/2010/main" val="39455293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14" y="136525"/>
            <a:ext cx="11076972" cy="637765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Synthetic Dataset Engineering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3E831EA-FE7E-BFB7-AAC1-165A252F8D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99805"/>
              </p:ext>
            </p:extLst>
          </p:nvPr>
        </p:nvGraphicFramePr>
        <p:xfrm>
          <a:off x="557514" y="1328999"/>
          <a:ext cx="11076972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2324">
                  <a:extLst>
                    <a:ext uri="{9D8B030D-6E8A-4147-A177-3AD203B41FA5}">
                      <a16:colId xmlns:a16="http://schemas.microsoft.com/office/drawing/2014/main" val="1610268124"/>
                    </a:ext>
                  </a:extLst>
                </a:gridCol>
                <a:gridCol w="3692324">
                  <a:extLst>
                    <a:ext uri="{9D8B030D-6E8A-4147-A177-3AD203B41FA5}">
                      <a16:colId xmlns:a16="http://schemas.microsoft.com/office/drawing/2014/main" val="1457602179"/>
                    </a:ext>
                  </a:extLst>
                </a:gridCol>
                <a:gridCol w="3692324">
                  <a:extLst>
                    <a:ext uri="{9D8B030D-6E8A-4147-A177-3AD203B41FA5}">
                      <a16:colId xmlns:a16="http://schemas.microsoft.com/office/drawing/2014/main" val="193494260"/>
                    </a:ext>
                  </a:extLst>
                </a:gridCol>
              </a:tblGrid>
              <a:tr h="34413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Distribution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Parameters / rationale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9795344"/>
                  </a:ext>
                </a:extLst>
              </a:tr>
              <a:tr h="860344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user_role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Categorical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75%, moderator 20%,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admin 5% — read traffic is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customer-dominated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2690456"/>
                  </a:ext>
                </a:extLst>
              </a:tr>
              <a:tr h="860344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resource_sensitivity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Categorical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LOW 60%, MEDIUM 30%,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 10% — most reads touch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low/medium-tier fields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5012224"/>
                  </a:ext>
                </a:extLst>
              </a:tr>
              <a:tr h="639621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is_office_hours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Bernoulli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P(1) = 0.80 — operational-hours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dominance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3705377"/>
                  </a:ext>
                </a:extLst>
              </a:tr>
              <a:tr h="639621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record_owner_match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Role-conditional Bernoulli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customers: P(own record) = 0.95;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staff roles: P(match) = 0.15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0600165"/>
                  </a:ext>
                </a:extLst>
              </a:tr>
              <a:tr h="860344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recent_request_count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Poisson(λ=4) + injected attack mass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5% of rows overwritten with Uniform{15…64} scraping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bursts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1820617"/>
                  </a:ext>
                </a:extLst>
              </a:tr>
              <a:tr h="639621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failed_attempt_count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Discrete exponential decay over {0…8}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P(0) = 0.88; long tail models 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brute-force campaigns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656578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02B3C91-3329-CBC1-EB67-0C6C6E31E558}"/>
              </a:ext>
            </a:extLst>
          </p:cNvPr>
          <p:cNvSpPr txBox="1"/>
          <p:nvPr/>
        </p:nvSpPr>
        <p:spPr>
          <a:xfrm>
            <a:off x="2207342" y="851589"/>
            <a:ext cx="77748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2: Feature distributions of the synthetic access-event corpus.</a:t>
            </a:r>
          </a:p>
        </p:txBody>
      </p:sp>
    </p:spTree>
    <p:extLst>
      <p:ext uri="{BB962C8B-B14F-4D97-AF65-F5344CB8AC3E}">
        <p14:creationId xmlns:p14="http://schemas.microsoft.com/office/powerpoint/2010/main" val="4193173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12" y="136525"/>
            <a:ext cx="11076973" cy="637765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HIGH-risk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labeling rules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13</a:t>
            </a:fld>
            <a:endParaRPr lang="en-US"/>
          </a:p>
        </p:txBody>
      </p:sp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435EDAEC-3D42-4A4F-1767-35CB586917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36503199"/>
              </p:ext>
            </p:extLst>
          </p:nvPr>
        </p:nvGraphicFramePr>
        <p:xfrm>
          <a:off x="557513" y="1340970"/>
          <a:ext cx="11076972" cy="5015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1065">
                  <a:extLst>
                    <a:ext uri="{9D8B030D-6E8A-4147-A177-3AD203B41FA5}">
                      <a16:colId xmlns:a16="http://schemas.microsoft.com/office/drawing/2014/main" val="2899949008"/>
                    </a:ext>
                  </a:extLst>
                </a:gridCol>
                <a:gridCol w="5555907">
                  <a:extLst>
                    <a:ext uri="{9D8B030D-6E8A-4147-A177-3AD203B41FA5}">
                      <a16:colId xmlns:a16="http://schemas.microsoft.com/office/drawing/2014/main" val="2013281631"/>
                    </a:ext>
                  </a:extLst>
                </a:gridCol>
              </a:tblGrid>
              <a:tr h="5156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HIGH-risk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rule (label = 2)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Threat interpretation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1905908992"/>
                  </a:ext>
                </a:extLst>
              </a:tr>
              <a:tr h="8671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∧ </a:t>
                      </a: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owner_match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= 0 ∧ sensitivity ∈ {MEDIUM, HIGH}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IDOR on protected data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3629784933"/>
                  </a:ext>
                </a:extLst>
              </a:tr>
              <a:tr h="515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∧ </a:t>
                      </a: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request_count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&gt; 15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Scraping / bulk exfiltration velocity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1344199014"/>
                  </a:ext>
                </a:extLst>
              </a:tr>
              <a:tr h="8671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moderator ∧ sensitivity = HIGH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Support tier has no business on HIGH-tier data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2099273533"/>
                  </a:ext>
                </a:extLst>
              </a:tr>
              <a:tr h="8671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moderator ∧ </a:t>
                      </a: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request_count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&gt; 25 ∧ </a:t>
                      </a: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owner_match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= 0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Bulk cross-record harvesting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2402477790"/>
                  </a:ext>
                </a:extLst>
              </a:tr>
              <a:tr h="8671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admin ∧ off-hours ∧ sensitivity = HIGH ∧ </a:t>
                      </a: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request_count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&gt; 20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Compromised super-user pattern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1128097085"/>
                  </a:ext>
                </a:extLst>
              </a:tr>
              <a:tr h="5156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failed_attempts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≥ 5 (any role)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Post-brute-force account takeover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34099254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3562C92-3408-1236-E8F6-7C93EB447D3F}"/>
              </a:ext>
            </a:extLst>
          </p:cNvPr>
          <p:cNvSpPr txBox="1"/>
          <p:nvPr/>
        </p:nvSpPr>
        <p:spPr>
          <a:xfrm>
            <a:off x="2757946" y="857575"/>
            <a:ext cx="667610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3: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HIGH-risk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labeling rules of the dataset generator.</a:t>
            </a:r>
          </a:p>
        </p:txBody>
      </p:sp>
    </p:spTree>
    <p:extLst>
      <p:ext uri="{BB962C8B-B14F-4D97-AF65-F5344CB8AC3E}">
        <p14:creationId xmlns:p14="http://schemas.microsoft.com/office/powerpoint/2010/main" val="4100067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7514" y="136525"/>
            <a:ext cx="11076972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MEDIUM-risk labeling rules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14</a:t>
            </a:fld>
            <a:endParaRPr lang="en-US"/>
          </a:p>
        </p:txBody>
      </p:sp>
      <p:graphicFrame>
        <p:nvGraphicFramePr>
          <p:cNvPr id="8" name="Content Placeholder 4">
            <a:extLst>
              <a:ext uri="{FF2B5EF4-FFF2-40B4-BE49-F238E27FC236}">
                <a16:creationId xmlns:a16="http://schemas.microsoft.com/office/drawing/2014/main" id="{435EDAEC-3D42-4A4F-1767-35CB586917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22969604"/>
              </p:ext>
            </p:extLst>
          </p:nvPr>
        </p:nvGraphicFramePr>
        <p:xfrm>
          <a:off x="557513" y="1386348"/>
          <a:ext cx="11076972" cy="48620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1065">
                  <a:extLst>
                    <a:ext uri="{9D8B030D-6E8A-4147-A177-3AD203B41FA5}">
                      <a16:colId xmlns:a16="http://schemas.microsoft.com/office/drawing/2014/main" val="2899949008"/>
                    </a:ext>
                  </a:extLst>
                </a:gridCol>
                <a:gridCol w="5555907">
                  <a:extLst>
                    <a:ext uri="{9D8B030D-6E8A-4147-A177-3AD203B41FA5}">
                      <a16:colId xmlns:a16="http://schemas.microsoft.com/office/drawing/2014/main" val="2013281631"/>
                    </a:ext>
                  </a:extLst>
                </a:gridCol>
              </a:tblGrid>
              <a:tr h="55711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MEDIUM-risk rule (label = 1)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Threat interpretation</a:t>
                      </a: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1905908992"/>
                  </a:ext>
                </a:extLst>
              </a:tr>
              <a:tr h="9369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∧ </a:t>
                      </a:r>
                      <a:r>
                        <a:rPr lang="en-US" sz="1700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owner_match</a:t>
                      </a:r>
                      <a:r>
                        <a:rPr lang="en-US" sz="1700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= 0 ∧ sensitivity = LOW</a:t>
                      </a: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Cross-record access on public-tier data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3629784933"/>
                  </a:ext>
                </a:extLst>
              </a:tr>
              <a:tr h="557111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customer ∧ 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request_count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∈ [9, 15]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Elevated velocity below the attack threshold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1344199014"/>
                  </a:ext>
                </a:extLst>
              </a:tr>
              <a:tr h="9369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moderator ∧ off-hours ∧ sensitivity = MEDIUM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Unusual time for support work on personal data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2099273533"/>
                  </a:ext>
                </a:extLst>
              </a:tr>
              <a:tr h="9369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admin ∧ 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failed_attempts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∈ {3, 4}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Moderate authentication friction on a privileged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2402477790"/>
                  </a:ext>
                </a:extLst>
              </a:tr>
              <a:tr h="93695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(moderator ∨ admin) ∧ </a:t>
                      </a:r>
                      <a:r>
                        <a:rPr lang="en-US" sz="1800" dirty="0" err="1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request_count</a:t>
                      </a: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&gt; 18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dirty="0">
                          <a:solidFill>
                            <a:srgbClr val="00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Staff-tier volume anomaly</a:t>
                      </a:r>
                      <a:endParaRPr lang="en-US" sz="1800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87893" marR="87893" marT="43946" marB="43946" anchor="ctr"/>
                </a:tc>
                <a:extLst>
                  <a:ext uri="{0D108BD9-81ED-4DB2-BD59-A6C34878D82A}">
                    <a16:rowId xmlns:a16="http://schemas.microsoft.com/office/drawing/2014/main" val="112809708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6FE09850-77E6-6937-E647-A46346E7F287}"/>
              </a:ext>
            </a:extLst>
          </p:cNvPr>
          <p:cNvSpPr txBox="1"/>
          <p:nvPr/>
        </p:nvSpPr>
        <p:spPr>
          <a:xfrm>
            <a:off x="2521972" y="919839"/>
            <a:ext cx="71480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4: MEDIUM-risk labeling rules of the dataset generator.</a:t>
            </a:r>
          </a:p>
        </p:txBody>
      </p:sp>
    </p:spTree>
    <p:extLst>
      <p:ext uri="{BB962C8B-B14F-4D97-AF65-F5344CB8AC3E}">
        <p14:creationId xmlns:p14="http://schemas.microsoft.com/office/powerpoint/2010/main" val="39829003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160" y="136525"/>
            <a:ext cx="10061680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Dataset partitions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2DFC6B1-227F-2CBC-C168-F765566DC7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1834756"/>
              </p:ext>
            </p:extLst>
          </p:nvPr>
        </p:nvGraphicFramePr>
        <p:xfrm>
          <a:off x="1065160" y="1508613"/>
          <a:ext cx="10061680" cy="47263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5420">
                  <a:extLst>
                    <a:ext uri="{9D8B030D-6E8A-4147-A177-3AD203B41FA5}">
                      <a16:colId xmlns:a16="http://schemas.microsoft.com/office/drawing/2014/main" val="4121201979"/>
                    </a:ext>
                  </a:extLst>
                </a:gridCol>
                <a:gridCol w="2515420">
                  <a:extLst>
                    <a:ext uri="{9D8B030D-6E8A-4147-A177-3AD203B41FA5}">
                      <a16:colId xmlns:a16="http://schemas.microsoft.com/office/drawing/2014/main" val="293461592"/>
                    </a:ext>
                  </a:extLst>
                </a:gridCol>
                <a:gridCol w="2515420">
                  <a:extLst>
                    <a:ext uri="{9D8B030D-6E8A-4147-A177-3AD203B41FA5}">
                      <a16:colId xmlns:a16="http://schemas.microsoft.com/office/drawing/2014/main" val="1826046763"/>
                    </a:ext>
                  </a:extLst>
                </a:gridCol>
                <a:gridCol w="2515420">
                  <a:extLst>
                    <a:ext uri="{9D8B030D-6E8A-4147-A177-3AD203B41FA5}">
                      <a16:colId xmlns:a16="http://schemas.microsoft.com/office/drawing/2014/main" val="1898632416"/>
                    </a:ext>
                  </a:extLst>
                </a:gridCol>
              </a:tblGrid>
              <a:tr h="562847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Partition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Purpose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Class balance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6896393"/>
                  </a:ext>
                </a:extLst>
              </a:tr>
              <a:tr h="180419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7000 (70%)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Model fitting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Stratified: ≈85% LOW / ≈6% MEDIUM / ≈9% HIGH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3414308"/>
                  </a:ext>
                </a:extLst>
              </a:tr>
              <a:tr h="971489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1500 (15%)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 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Same (stratified)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57332036"/>
                  </a:ext>
                </a:extLst>
              </a:tr>
              <a:tr h="1387841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1500 (15%)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Quarantined; used once for final metrics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1,274 LOW / 87 MEDIUM / 139 HIGH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722582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095EE2F-D258-D9CE-5C38-9945F48828BD}"/>
              </a:ext>
            </a:extLst>
          </p:cNvPr>
          <p:cNvSpPr txBox="1"/>
          <p:nvPr/>
        </p:nvSpPr>
        <p:spPr>
          <a:xfrm>
            <a:off x="3605980" y="974807"/>
            <a:ext cx="498003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5: Dataset partitions and their roles.</a:t>
            </a:r>
          </a:p>
        </p:txBody>
      </p:sp>
    </p:spTree>
    <p:extLst>
      <p:ext uri="{BB962C8B-B14F-4D97-AF65-F5344CB8AC3E}">
        <p14:creationId xmlns:p14="http://schemas.microsoft.com/office/powerpoint/2010/main" val="20488836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201" y="136525"/>
            <a:ext cx="9719598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Model: Random Forest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E67B3FF-2AC2-6DE4-9294-7C41B568EC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044576"/>
              </p:ext>
            </p:extLst>
          </p:nvPr>
        </p:nvGraphicFramePr>
        <p:xfrm>
          <a:off x="1236201" y="1424983"/>
          <a:ext cx="9719598" cy="47103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9866">
                  <a:extLst>
                    <a:ext uri="{9D8B030D-6E8A-4147-A177-3AD203B41FA5}">
                      <a16:colId xmlns:a16="http://schemas.microsoft.com/office/drawing/2014/main" val="498338860"/>
                    </a:ext>
                  </a:extLst>
                </a:gridCol>
                <a:gridCol w="3239866">
                  <a:extLst>
                    <a:ext uri="{9D8B030D-6E8A-4147-A177-3AD203B41FA5}">
                      <a16:colId xmlns:a16="http://schemas.microsoft.com/office/drawing/2014/main" val="483367852"/>
                    </a:ext>
                  </a:extLst>
                </a:gridCol>
                <a:gridCol w="3239866">
                  <a:extLst>
                    <a:ext uri="{9D8B030D-6E8A-4147-A177-3AD203B41FA5}">
                      <a16:colId xmlns:a16="http://schemas.microsoft.com/office/drawing/2014/main" val="4267260728"/>
                    </a:ext>
                  </a:extLst>
                </a:gridCol>
              </a:tblGrid>
              <a:tr h="621094"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Hyperparameter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Value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i="0" kern="1200" dirty="0">
                          <a:solidFill>
                            <a:schemeClr val="lt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Justification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268303"/>
                  </a:ext>
                </a:extLst>
              </a:tr>
              <a:tr h="1050957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n_estimators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(T)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Accuracy saturates at ~75 trees; more only inflates artifact size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10186"/>
                  </a:ext>
                </a:extLst>
              </a:tr>
              <a:tr h="1366244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max_depth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(d)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Captures deepest 4-antecedent rules; unlimited depth overfits noise, bloats code (~15 MB)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1186788"/>
                  </a:ext>
                </a:extLst>
              </a:tr>
              <a:tr h="1050957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class_weight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Balanced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Inverse-frequency weighting protects minority-class recall (MEDIUM ≈ 6%, HIGH ≈ 9%)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1167595"/>
                  </a:ext>
                </a:extLst>
              </a:tr>
              <a:tr h="621094">
                <a:tc>
                  <a:txBody>
                    <a:bodyPr/>
                    <a:lstStyle/>
                    <a:p>
                      <a:pPr algn="ctr"/>
                      <a:r>
                        <a:rPr lang="en-US" sz="1800" b="0" i="0" kern="1200" dirty="0" err="1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random_state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Reproducibility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162631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C671728-F2BE-A076-5D04-9A2167DF932A}"/>
              </a:ext>
            </a:extLst>
          </p:cNvPr>
          <p:cNvSpPr txBox="1"/>
          <p:nvPr/>
        </p:nvSpPr>
        <p:spPr>
          <a:xfrm>
            <a:off x="2413819" y="914363"/>
            <a:ext cx="73643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6: Random Forest hyperparameters and their justification. </a:t>
            </a:r>
          </a:p>
        </p:txBody>
      </p:sp>
    </p:spTree>
    <p:extLst>
      <p:ext uri="{BB962C8B-B14F-4D97-AF65-F5344CB8AC3E}">
        <p14:creationId xmlns:p14="http://schemas.microsoft.com/office/powerpoint/2010/main" val="30171626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201" y="136525"/>
            <a:ext cx="9719598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In-Process </a:t>
            </a:r>
            <a:r>
              <a:rPr lang="en-US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Transpilation</a:t>
            </a:r>
            <a:endParaRPr lang="en-US" dirty="0">
              <a:solidFill>
                <a:schemeClr val="accent4">
                  <a:lumMod val="50000"/>
                </a:schemeClr>
              </a:solidFill>
              <a:latin typeface="Arial" panose="020B06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D6D54C-35F0-3EBA-EACE-C82CB292E7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0" y="1143923"/>
            <a:ext cx="8534399" cy="473576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DA4C556-E428-D333-28E5-22F963203DCF}"/>
              </a:ext>
            </a:extLst>
          </p:cNvPr>
          <p:cNvSpPr txBox="1"/>
          <p:nvPr/>
        </p:nvSpPr>
        <p:spPr>
          <a:xfrm>
            <a:off x="2286664" y="5971906"/>
            <a:ext cx="761866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7: Zero-dependency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transpilation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into the backend runtime.</a:t>
            </a:r>
          </a:p>
        </p:txBody>
      </p:sp>
    </p:spTree>
    <p:extLst>
      <p:ext uri="{BB962C8B-B14F-4D97-AF65-F5344CB8AC3E}">
        <p14:creationId xmlns:p14="http://schemas.microsoft.com/office/powerpoint/2010/main" val="33693467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642" y="136525"/>
            <a:ext cx="11554716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Late-binding cryptographic redesign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3D2799-DD5E-632E-9253-DE8E9B2CF4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8642" y="977922"/>
            <a:ext cx="11554716" cy="46657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CA6141D-3065-AC80-BE57-CEB1DBD787FD}"/>
              </a:ext>
            </a:extLst>
          </p:cNvPr>
          <p:cNvSpPr txBox="1"/>
          <p:nvPr/>
        </p:nvSpPr>
        <p:spPr>
          <a:xfrm>
            <a:off x="1460090" y="5776024"/>
            <a:ext cx="92718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8: Standard ORM retrieval versus the late-binding cryptographic redesign.</a:t>
            </a:r>
          </a:p>
        </p:txBody>
      </p:sp>
    </p:spTree>
    <p:extLst>
      <p:ext uri="{BB962C8B-B14F-4D97-AF65-F5344CB8AC3E}">
        <p14:creationId xmlns:p14="http://schemas.microsoft.com/office/powerpoint/2010/main" val="9590260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201" y="136525"/>
            <a:ext cx="9719598" cy="561565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Sensitive table in database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19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673137A-5148-1752-A568-606F57482D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622684"/>
              </p:ext>
            </p:extLst>
          </p:nvPr>
        </p:nvGraphicFramePr>
        <p:xfrm>
          <a:off x="1994310" y="1235710"/>
          <a:ext cx="820338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460">
                  <a:extLst>
                    <a:ext uri="{9D8B030D-6E8A-4147-A177-3AD203B41FA5}">
                      <a16:colId xmlns:a16="http://schemas.microsoft.com/office/drawing/2014/main" val="525082301"/>
                    </a:ext>
                  </a:extLst>
                </a:gridCol>
                <a:gridCol w="2734460">
                  <a:extLst>
                    <a:ext uri="{9D8B030D-6E8A-4147-A177-3AD203B41FA5}">
                      <a16:colId xmlns:a16="http://schemas.microsoft.com/office/drawing/2014/main" val="2775620939"/>
                    </a:ext>
                  </a:extLst>
                </a:gridCol>
                <a:gridCol w="2734460">
                  <a:extLst>
                    <a:ext uri="{9D8B030D-6E8A-4147-A177-3AD203B41FA5}">
                      <a16:colId xmlns:a16="http://schemas.microsoft.com/office/drawing/2014/main" val="639958432"/>
                    </a:ext>
                  </a:extLst>
                </a:gridCol>
              </a:tblGrid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DB 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ALE-encrypted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9521725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uuid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7343394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user_id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uuid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204610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branch_name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varchar(120)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7985576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account_type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enum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5248721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account_holder_name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8674949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account_number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595167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account_last_four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varchar(4)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7173700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routing_number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05714916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swift_code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396912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iban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7808626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nid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328220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status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enum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9814561"/>
                  </a:ext>
                </a:extLst>
              </a:tr>
              <a:tr h="3507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created_at</a:t>
                      </a:r>
                      <a:r>
                        <a:rPr lang="en-US" dirty="0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/</a:t>
                      </a:r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updated_at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timestampz</a:t>
                      </a:r>
                      <a:endParaRPr lang="en-US" dirty="0">
                        <a:latin typeface="Arial" panose="020B060402020202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NO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639144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3B89064-7265-639E-6F16-9CE30ABE6E01}"/>
              </a:ext>
            </a:extLst>
          </p:cNvPr>
          <p:cNvSpPr txBox="1"/>
          <p:nvPr/>
        </p:nvSpPr>
        <p:spPr>
          <a:xfrm>
            <a:off x="2932471" y="766845"/>
            <a:ext cx="63270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7: Description of Bank Details table in database.</a:t>
            </a:r>
          </a:p>
        </p:txBody>
      </p:sp>
    </p:spTree>
    <p:extLst>
      <p:ext uri="{BB962C8B-B14F-4D97-AF65-F5344CB8AC3E}">
        <p14:creationId xmlns:p14="http://schemas.microsoft.com/office/powerpoint/2010/main" val="32582390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201" y="136525"/>
            <a:ext cx="9719598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Risk-to-policy decision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FC0B901-1588-1585-36CD-9AED1E2B24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5783" y="1063842"/>
            <a:ext cx="8320433" cy="483551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364FA0-C5C7-EDAD-E55F-4588ECC52607}"/>
              </a:ext>
            </a:extLst>
          </p:cNvPr>
          <p:cNvSpPr txBox="1"/>
          <p:nvPr/>
        </p:nvSpPr>
        <p:spPr>
          <a:xfrm>
            <a:off x="3873265" y="6090597"/>
            <a:ext cx="44454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9: Risk-to-policy decision flow.</a:t>
            </a:r>
          </a:p>
        </p:txBody>
      </p:sp>
    </p:spTree>
    <p:extLst>
      <p:ext uri="{BB962C8B-B14F-4D97-AF65-F5344CB8AC3E}">
        <p14:creationId xmlns:p14="http://schemas.microsoft.com/office/powerpoint/2010/main" val="16386570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9297" y="365125"/>
            <a:ext cx="11073406" cy="637765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 Analysis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21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E72EDD6-488A-A3EB-57F7-EB9217242D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297" y="1188715"/>
            <a:ext cx="11073406" cy="44805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154FFDE-C45B-B97E-5576-447C46BF8A94}"/>
              </a:ext>
            </a:extLst>
          </p:cNvPr>
          <p:cNvSpPr txBox="1"/>
          <p:nvPr/>
        </p:nvSpPr>
        <p:spPr>
          <a:xfrm>
            <a:off x="1948016" y="5810165"/>
            <a:ext cx="82959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10: Test-set confusion matrix (heatmap) and per-class F1-scores. </a:t>
            </a:r>
          </a:p>
        </p:txBody>
      </p:sp>
    </p:spTree>
    <p:extLst>
      <p:ext uri="{BB962C8B-B14F-4D97-AF65-F5344CB8AC3E}">
        <p14:creationId xmlns:p14="http://schemas.microsoft.com/office/powerpoint/2010/main" val="40669118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97981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Baseline Comparison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E330F62-4DE8-FD38-DAFC-5527E4C4E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133"/>
          <a:stretch/>
        </p:blipFill>
        <p:spPr>
          <a:xfrm>
            <a:off x="755819" y="1238865"/>
            <a:ext cx="10680362" cy="39034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4DED8A-2A02-60C7-424A-FA74BBCBD9D2}"/>
              </a:ext>
            </a:extLst>
          </p:cNvPr>
          <p:cNvSpPr txBox="1"/>
          <p:nvPr/>
        </p:nvSpPr>
        <p:spPr>
          <a:xfrm>
            <a:off x="1495749" y="5527696"/>
            <a:ext cx="92828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11: Selected model versus the linear baseline under an identical protocol.</a:t>
            </a:r>
          </a:p>
        </p:txBody>
      </p:sp>
    </p:spTree>
    <p:extLst>
      <p:ext uri="{BB962C8B-B14F-4D97-AF65-F5344CB8AC3E}">
        <p14:creationId xmlns:p14="http://schemas.microsoft.com/office/powerpoint/2010/main" val="21198526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201" y="136525"/>
            <a:ext cx="9719598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Importance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A1CE7F2-F468-1CC3-7727-13118264D4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99"/>
          <a:stretch/>
        </p:blipFill>
        <p:spPr>
          <a:xfrm>
            <a:off x="1236201" y="1120877"/>
            <a:ext cx="9719598" cy="454840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9AD313-4BF7-0D19-EF62-167AB0773BF7}"/>
              </a:ext>
            </a:extLst>
          </p:cNvPr>
          <p:cNvSpPr txBox="1"/>
          <p:nvPr/>
        </p:nvSpPr>
        <p:spPr>
          <a:xfrm>
            <a:off x="2625213" y="5812762"/>
            <a:ext cx="69415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Figure 12: Feature-importance ranking of the trained model. </a:t>
            </a:r>
          </a:p>
        </p:txBody>
      </p:sp>
    </p:spTree>
    <p:extLst>
      <p:ext uri="{BB962C8B-B14F-4D97-AF65-F5344CB8AC3E}">
        <p14:creationId xmlns:p14="http://schemas.microsoft.com/office/powerpoint/2010/main" val="37375672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BC0B5-7661-E991-A72F-D516297BD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846701"/>
          </a:xfrm>
          <a:solidFill>
            <a:schemeClr val="bg2"/>
          </a:solidFill>
        </p:spPr>
        <p:txBody>
          <a:bodyPr/>
          <a:lstStyle/>
          <a:p>
            <a:r>
              <a:rPr lang="en-US" dirty="0" err="1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Transpiled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Artifact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568E2F-CB16-72BE-E1F9-66B507B41E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38867"/>
            <a:ext cx="5582265" cy="476864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~3 MB JavaScript · loaded once (~50 </a:t>
            </a:r>
            <a:r>
              <a:rPr lang="en-US" sz="3200" dirty="0" err="1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Warm inference: ≈ 50 µs per call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Feature extraction: ≈ 1–2 </a:t>
            </a:r>
            <a:r>
              <a:rPr lang="en-US" sz="3200" dirty="0" err="1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</a:t>
            </a: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· total overhead ≈ 2 </a:t>
            </a:r>
            <a:r>
              <a:rPr lang="en-US" sz="3200" dirty="0" err="1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ms</a:t>
            </a:r>
            <a:endParaRPr lang="en-US" sz="3200" dirty="0">
              <a:latin typeface="Arial" panose="020B060402020202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Learned decision bands: LOW ≤ 8 → MEDIUM 9–13 → HIGH ≥ 15 req/min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6C66DA-59D6-1607-A262-37E22A8FB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AC08BD-F8E3-5F72-B0D6-EB5E1097F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021359-9E9D-D27B-CAE4-138AA5A140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8619" y="1238866"/>
            <a:ext cx="5395451" cy="456575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FB9F4B-CCE0-98A1-CF59-D764469B6DAD}"/>
              </a:ext>
            </a:extLst>
          </p:cNvPr>
          <p:cNvSpPr txBox="1"/>
          <p:nvPr/>
        </p:nvSpPr>
        <p:spPr>
          <a:xfrm>
            <a:off x="6096000" y="5892581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Figure 13: Zero-dependency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transpilation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into the backend runtime.</a:t>
            </a:r>
          </a:p>
        </p:txBody>
      </p:sp>
    </p:spTree>
    <p:extLst>
      <p:ext uri="{BB962C8B-B14F-4D97-AF65-F5344CB8AC3E}">
        <p14:creationId xmlns:p14="http://schemas.microsoft.com/office/powerpoint/2010/main" val="18383371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610727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Comparison with static pipeline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6D3B963-2F40-4BDA-6ABF-C82AD9B83A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278106"/>
              </p:ext>
            </p:extLst>
          </p:nvPr>
        </p:nvGraphicFramePr>
        <p:xfrm>
          <a:off x="838201" y="1484671"/>
          <a:ext cx="10562301" cy="482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20767">
                  <a:extLst>
                    <a:ext uri="{9D8B030D-6E8A-4147-A177-3AD203B41FA5}">
                      <a16:colId xmlns:a16="http://schemas.microsoft.com/office/drawing/2014/main" val="13875744"/>
                    </a:ext>
                  </a:extLst>
                </a:gridCol>
                <a:gridCol w="3520767">
                  <a:extLst>
                    <a:ext uri="{9D8B030D-6E8A-4147-A177-3AD203B41FA5}">
                      <a16:colId xmlns:a16="http://schemas.microsoft.com/office/drawing/2014/main" val="1282773199"/>
                    </a:ext>
                  </a:extLst>
                </a:gridCol>
                <a:gridCol w="3520767">
                  <a:extLst>
                    <a:ext uri="{9D8B030D-6E8A-4147-A177-3AD203B41FA5}">
                      <a16:colId xmlns:a16="http://schemas.microsoft.com/office/drawing/2014/main" val="300448011"/>
                    </a:ext>
                  </a:extLst>
                </a:gridCol>
              </a:tblGrid>
              <a:tr h="62997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Threat 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Static pipeline (ORM+RBAC)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Proposed adaptive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framwork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9324932"/>
                  </a:ext>
                </a:extLst>
              </a:tr>
              <a:tr h="6561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Legitimate self-access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plaintext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plaintext (99.14% pass rate) + audit trail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3138286"/>
                  </a:ext>
                </a:extLst>
              </a:tr>
              <a:tr h="6561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Moderate over-querying (9–13 req/min)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plaintext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Masked view; workflow continues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050154"/>
                  </a:ext>
                </a:extLst>
              </a:tr>
              <a:tr h="6561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Scraping (40 req/min)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plaintext on every request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Denied at P(HIGH) = 1.000; zero decryption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9790149"/>
                  </a:ext>
                </a:extLst>
              </a:tr>
              <a:tr h="656135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IDOR cross-record read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plaintext if role-authorized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Denied at P(HIGH) = 0.990; zero decryption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4024075"/>
                  </a:ext>
                </a:extLst>
              </a:tr>
              <a:tr h="62997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Post-credential-stuffing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Full plaintext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Denied at P(HIGH) = 0.720; zero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4588459"/>
                  </a:ext>
                </a:extLst>
              </a:tr>
              <a:tr h="93733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Added latency per 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Usual system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≈ 2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ms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total (audit insert + feature counts); inference ≈ 50 µs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089681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D2F7999-297C-A3C3-327B-32996ED90404}"/>
              </a:ext>
            </a:extLst>
          </p:cNvPr>
          <p:cNvSpPr txBox="1"/>
          <p:nvPr/>
        </p:nvSpPr>
        <p:spPr>
          <a:xfrm>
            <a:off x="2765321" y="738021"/>
            <a:ext cx="66613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Table 8: Threat-by-threat comparison of the static baseline pipeline and the proposed adaptive framework.</a:t>
            </a:r>
          </a:p>
        </p:txBody>
      </p:sp>
    </p:spTree>
    <p:extLst>
      <p:ext uri="{BB962C8B-B14F-4D97-AF65-F5344CB8AC3E}">
        <p14:creationId xmlns:p14="http://schemas.microsoft.com/office/powerpoint/2010/main" val="1144770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7497" y="136525"/>
            <a:ext cx="10417006" cy="541901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Demonstration: Low-risk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26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C9594A-DEB5-F91E-9558-9588A70E8F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696" y="781809"/>
            <a:ext cx="5387807" cy="52551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34192D6-6A33-593F-1DB1-6B4E4FF53889}"/>
              </a:ext>
            </a:extLst>
          </p:cNvPr>
          <p:cNvSpPr txBox="1"/>
          <p:nvPr/>
        </p:nvSpPr>
        <p:spPr>
          <a:xfrm>
            <a:off x="887497" y="2531989"/>
            <a:ext cx="4785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user_id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"26e1dfea-b697-4b1b-8f57-6c81420da04f“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endpoint: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http://localhost:3000/api/v1/bank/details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179BF8-88B8-2DDD-113B-1FB05CA856FD}"/>
              </a:ext>
            </a:extLst>
          </p:cNvPr>
          <p:cNvSpPr txBox="1"/>
          <p:nvPr/>
        </p:nvSpPr>
        <p:spPr>
          <a:xfrm>
            <a:off x="6567948" y="6076191"/>
            <a:ext cx="45704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Figure 14: Screenshot of low-risk response</a:t>
            </a:r>
          </a:p>
        </p:txBody>
      </p:sp>
    </p:spTree>
    <p:extLst>
      <p:ext uri="{BB962C8B-B14F-4D97-AF65-F5344CB8AC3E}">
        <p14:creationId xmlns:p14="http://schemas.microsoft.com/office/powerpoint/2010/main" val="5826148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090" y="136526"/>
            <a:ext cx="10851820" cy="522236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Demonstration: Medium-risk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3F7A38-CE4D-DA47-B756-DA553D9F7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827264"/>
            <a:ext cx="5425910" cy="516058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4954135-296D-CE78-AB82-E030E9C9DA4D}"/>
              </a:ext>
            </a:extLst>
          </p:cNvPr>
          <p:cNvSpPr txBox="1"/>
          <p:nvPr/>
        </p:nvSpPr>
        <p:spPr>
          <a:xfrm>
            <a:off x="670090" y="2541821"/>
            <a:ext cx="4785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user_id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"26e1dfea-b697-4b1b-8f57-6c81420da04f“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endpoint: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http://localhost:3000/api/v1/bank/details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3AA8777-5C2F-170C-F082-7A5440244EFB}"/>
              </a:ext>
            </a:extLst>
          </p:cNvPr>
          <p:cNvSpPr txBox="1"/>
          <p:nvPr/>
        </p:nvSpPr>
        <p:spPr>
          <a:xfrm>
            <a:off x="6379475" y="6030736"/>
            <a:ext cx="5044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Figure 15: Screenshot of medium-risk response</a:t>
            </a:r>
          </a:p>
        </p:txBody>
      </p:sp>
    </p:spTree>
    <p:extLst>
      <p:ext uri="{BB962C8B-B14F-4D97-AF65-F5344CB8AC3E}">
        <p14:creationId xmlns:p14="http://schemas.microsoft.com/office/powerpoint/2010/main" val="44228558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201" y="136525"/>
            <a:ext cx="9719598" cy="716915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Demonstration: High-risk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28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37AD2E9-3CEB-C53E-1FDA-26624418C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0309" y="3132153"/>
            <a:ext cx="8771380" cy="19829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808CAB-2275-7557-6D78-3A79282688DC}"/>
              </a:ext>
            </a:extLst>
          </p:cNvPr>
          <p:cNvSpPr txBox="1"/>
          <p:nvPr/>
        </p:nvSpPr>
        <p:spPr>
          <a:xfrm>
            <a:off x="3870902" y="5291061"/>
            <a:ext cx="46602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Figure 15: Screenshot of high-risk response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DDF2A4-9370-C74E-5A53-0A60B8EC0F1A}"/>
              </a:ext>
            </a:extLst>
          </p:cNvPr>
          <p:cNvSpPr txBox="1"/>
          <p:nvPr/>
        </p:nvSpPr>
        <p:spPr>
          <a:xfrm>
            <a:off x="3703141" y="1451226"/>
            <a:ext cx="47857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 err="1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user_id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"26e1dfea-b697-4b1b-8f57-6c81420da04f“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dirty="0">
                <a:solidFill>
                  <a:schemeClr val="accent4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API endpoint:</a:t>
            </a:r>
          </a:p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http://localhost:3000/api/v1/bank/details</a:t>
            </a:r>
          </a:p>
        </p:txBody>
      </p:sp>
    </p:spTree>
    <p:extLst>
      <p:ext uri="{BB962C8B-B14F-4D97-AF65-F5344CB8AC3E}">
        <p14:creationId xmlns:p14="http://schemas.microsoft.com/office/powerpoint/2010/main" val="7364368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768"/>
            <a:ext cx="10515600" cy="466162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Experimental Setup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B1A4F4-EFC9-088C-5DA4-BFD359E81E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F9121-AC73-C1EF-4BF1-EFCE2DCB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29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B72B653-8F29-D482-32A4-68E0187A79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4407179"/>
              </p:ext>
            </p:extLst>
          </p:nvPr>
        </p:nvGraphicFramePr>
        <p:xfrm>
          <a:off x="1479107" y="1167892"/>
          <a:ext cx="9233786" cy="524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16893">
                  <a:extLst>
                    <a:ext uri="{9D8B030D-6E8A-4147-A177-3AD203B41FA5}">
                      <a16:colId xmlns:a16="http://schemas.microsoft.com/office/drawing/2014/main" val="1159753666"/>
                    </a:ext>
                  </a:extLst>
                </a:gridCol>
                <a:gridCol w="4616893">
                  <a:extLst>
                    <a:ext uri="{9D8B030D-6E8A-4147-A177-3AD203B41FA5}">
                      <a16:colId xmlns:a16="http://schemas.microsoft.com/office/drawing/2014/main" val="2892978137"/>
                    </a:ext>
                  </a:extLst>
                </a:gridCol>
              </a:tblGrid>
              <a:tr h="37650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Detail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29838651"/>
                  </a:ext>
                </a:extLst>
              </a:tr>
              <a:tr h="44199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Backend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NestJS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11 (TypeScript) modular monolith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8547162"/>
                  </a:ext>
                </a:extLst>
              </a:tr>
              <a:tr h="37650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Runtime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Node.js v22.12.0 (V8 engine) 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54355"/>
                  </a:ext>
                </a:extLst>
              </a:tr>
              <a:tr h="37650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Database / ORM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 with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TypeORM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0.3.x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293811"/>
                  </a:ext>
                </a:extLst>
              </a:tr>
              <a:tr h="65888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Cryptography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AES-256-GCM (Node.js crypto), 96-bit random IV, versioned ciphertext envelope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432979"/>
                  </a:ext>
                </a:extLst>
              </a:tr>
              <a:tr h="94126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ML training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Python 3, scikit-learn (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RandomForestClassifier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LogisticRegression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5910803"/>
                  </a:ext>
                </a:extLst>
              </a:tr>
              <a:tr h="658886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Transpilation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it-IT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m2cgen (model-to-code generator) → pure JavaScript 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2095863"/>
                  </a:ext>
                </a:extLst>
              </a:tr>
              <a:tr h="37650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Operating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Microsoft Windows 11 (x64)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53630863"/>
                  </a:ext>
                </a:extLst>
              </a:tr>
              <a:tr h="65888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Hardware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Intel Core i5-1135G7 (11th Gen, 2.40 GHz), 8 GB RAM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17883760"/>
                  </a:ext>
                </a:extLst>
              </a:tr>
              <a:tr h="376506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Input / output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b-NO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CSV (dataset), JSON (API responses) 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88566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9969E82-B4E1-A0F5-4D8D-4F96BB157873}"/>
              </a:ext>
            </a:extLst>
          </p:cNvPr>
          <p:cNvSpPr txBox="1"/>
          <p:nvPr/>
        </p:nvSpPr>
        <p:spPr>
          <a:xfrm>
            <a:off x="2878086" y="721667"/>
            <a:ext cx="64358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Table 9: Implementation environment of the framework.</a:t>
            </a:r>
          </a:p>
        </p:txBody>
      </p:sp>
    </p:spTree>
    <p:extLst>
      <p:ext uri="{BB962C8B-B14F-4D97-AF65-F5344CB8AC3E}">
        <p14:creationId xmlns:p14="http://schemas.microsoft.com/office/powerpoint/2010/main" val="4077085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EE26F-787B-6ABC-F67A-9617934CB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53730"/>
            <a:ext cx="10515600" cy="5223234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q"/>
            </a:pPr>
            <a:r>
              <a:rPr lang="en-US" sz="3200" b="1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Novelty &amp; Significance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Late-binding cryptography: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ciphertext survives retrieval; decryption becomes a policy decision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Learned per-request risk: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from unforgeable, server-controlled behavior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Graduated three-tier policy: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decrypt / mask / deny; primary identifier masked with zero decryption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In-process </a:t>
            </a:r>
            <a:r>
              <a:rPr lang="en-US" sz="3200" b="1" dirty="0" err="1">
                <a:latin typeface="Arial" panose="020B0604020202020204" pitchFamily="34" charset="0"/>
                <a:cs typeface="Arial" panose="020B0604020202020204" pitchFamily="34" charset="0"/>
              </a:rPr>
              <a:t>transpiled</a:t>
            </a: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 inference: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microsecond-scale, no serving infrastructure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D9D9AA-AE40-C677-232D-A2E3C2A93B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4A9EDA-2CB1-7A2F-0144-C9020535C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30</a:t>
            </a:fld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43122D3-7250-F05E-B76C-9DA88DDB9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637765"/>
          </a:xfrm>
          <a:solidFill>
            <a:schemeClr val="tx2">
              <a:lumMod val="10000"/>
              <a:lumOff val="90000"/>
            </a:schemeClr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4001124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6C256-2FD3-168A-9AAC-8A7CD938B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27933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43609A-73D2-765E-5722-48F397ADE4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8361"/>
            <a:ext cx="10515600" cy="490860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Synthetic, rule-labeled corpus → proof-of-concept validation (rule-learning bias)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Low-and-slow attackers below velocity thresholds: 9/139 missed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Single-node prototype; fixed 60-s / 24-h windows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One demonstrated domain (banking); offline evaluation only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38906F-D24A-ED74-CF7B-2F0ABE0A3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809C21-6B10-4AB5-9BF1-B1CD5E03D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0437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73FC8A-C5CB-D337-DB01-6224C7D26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47598"/>
          </a:xfrm>
          <a:solidFill>
            <a:schemeClr val="bg2"/>
          </a:solidFill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FE2A8-334D-4DAA-EF31-C9F7C402E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8361"/>
            <a:ext cx="10515600" cy="4908602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Retrain on real audit telemetry (Layer 8 already collects it)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Longer-horizon features → catch low-and-slow scraping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Collect more related features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Generalize: healthcare, e-commerce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16AC13-8E15-0358-5F44-EA73AEDB7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CDB1AE-4230-63BC-9205-B30EA39D9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7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5F297-53E4-293E-FB61-E02BC2A73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591"/>
          </a:xfrm>
          <a:solidFill>
            <a:schemeClr val="tx2">
              <a:lumMod val="10000"/>
              <a:lumOff val="90000"/>
            </a:schemeClr>
          </a:solidFill>
        </p:spPr>
        <p:txBody>
          <a:bodyPr/>
          <a:lstStyle/>
          <a:p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D757D-41BF-BB5C-A612-083FF33C48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7187"/>
            <a:ext cx="10515600" cy="4839776"/>
          </a:xfrm>
        </p:spPr>
        <p:txBody>
          <a:bodyPr>
            <a:normAutofit fontScale="85000" lnSpcReduction="20000"/>
          </a:bodyPr>
          <a:lstStyle/>
          <a:p>
            <a:pPr marL="548640" indent="-54864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[1] 	R.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Houtsma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"An Explainable Machine Learning Approach to Risk-Adaptive Access Control,"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M.Sc. thesis, Faculty of Electrical Engineering, Mathematics and Computer Science, University of Twente, Enschede, The Netherlands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2022.</a:t>
            </a:r>
          </a:p>
          <a:p>
            <a:pPr marL="548640" indent="-54864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[2] 	A. Liu, X. Du, and N. Wang, "Efficient Access Control Permission Decision Engine Based on Machine Learning,"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Security and Communication Networks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vol. 2021, art. no. 3970485, pp. 1–11, 2021,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doi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10.1155/2021/3970485.</a:t>
            </a:r>
          </a:p>
          <a:p>
            <a:pPr marL="548640" indent="-54864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[3] 	B. Li, F. Yang, and S. Zhang, "Context-Aware Risk Attribute Access Control,"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Mathematics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vol. 12, no. 16, art. no. 2541, 2024,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doi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10.3390/math12162541.</a:t>
            </a:r>
          </a:p>
          <a:p>
            <a:pPr marL="548640" indent="-548640">
              <a:buNone/>
            </a:pP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[4] 	N.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Anciaux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L.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Bouganim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and Y. Guo, "Database Encryption," in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Encyclopedia of Cryptography, Security and Privacy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3rd ed., S.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Jajodia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P.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Samarati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and M. Yung, Eds. Berlin, Heidelberg, Germany: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Springer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, 2023,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doi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 10.1007/978-3-642-27739-9_677-2.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F5EDB2-4806-5B9F-86EA-55CE23BED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201E91-4DAB-4F48-8C1A-6F69EDFC4872}" type="datetime1">
              <a:rPr lang="en-US" smtClean="0"/>
              <a:t>11-Jul-26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019F4-2C4C-85CE-9553-50DCDC220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0299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58D50-C46B-A954-6F92-98E5B3896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Thank</a:t>
            </a:r>
            <a:r>
              <a:rPr lang="en-US" dirty="0"/>
              <a:t> You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D3D9C7-8831-C1A5-D815-C672A38F8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00BD0-E5C2-4A74-9E3E-BB244319C3D5}" type="datetime1">
              <a:rPr lang="en-US" smtClean="0"/>
              <a:t>11-Jul-26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C718C6-ED16-F0DF-7831-FB87DFFD6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1EA063-F1A0-4337-9BB4-F912B647AF2A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6320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730</TotalTime>
  <Words>1924</Words>
  <Application>Microsoft Office PowerPoint</Application>
  <PresentationFormat>Widescreen</PresentationFormat>
  <Paragraphs>389</Paragraphs>
  <Slides>34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1" baseType="lpstr">
      <vt:lpstr>Aptos</vt:lpstr>
      <vt:lpstr>Aptos Display</vt:lpstr>
      <vt:lpstr>Arial</vt:lpstr>
      <vt:lpstr>Times New Roman</vt:lpstr>
      <vt:lpstr>Times New Roman MT Bold</vt:lpstr>
      <vt:lpstr>Wingdings</vt:lpstr>
      <vt:lpstr>Office Theme</vt:lpstr>
      <vt:lpstr>PowerPoint Presentation</vt:lpstr>
      <vt:lpstr>Outline</vt:lpstr>
      <vt:lpstr>Introduction</vt:lpstr>
      <vt:lpstr>Standard security stack of a backend application</vt:lpstr>
      <vt:lpstr>Standard data access flow of a secure backend application</vt:lpstr>
      <vt:lpstr>Problem Statement</vt:lpstr>
      <vt:lpstr>Related Works</vt:lpstr>
      <vt:lpstr>Objectives</vt:lpstr>
      <vt:lpstr>Proposed Methodology</vt:lpstr>
      <vt:lpstr>Four-Stage Pipeline</vt:lpstr>
      <vt:lpstr>Eight-Layer Security Architecture</vt:lpstr>
      <vt:lpstr>Synthetic Dataset Engineering</vt:lpstr>
      <vt:lpstr> HIGH-risk labeling rules</vt:lpstr>
      <vt:lpstr>MEDIUM-risk labeling rules</vt:lpstr>
      <vt:lpstr>Dataset partitions</vt:lpstr>
      <vt:lpstr>Model: Random Forest</vt:lpstr>
      <vt:lpstr>In-Process Transpilation</vt:lpstr>
      <vt:lpstr>Late-binding cryptographic redesign</vt:lpstr>
      <vt:lpstr>Sensitive table in database</vt:lpstr>
      <vt:lpstr>Risk-to-policy decision</vt:lpstr>
      <vt:lpstr>Result Analysis</vt:lpstr>
      <vt:lpstr>Baseline Comparison</vt:lpstr>
      <vt:lpstr>Feature Importance</vt:lpstr>
      <vt:lpstr>Transpiled Artifact Latency</vt:lpstr>
      <vt:lpstr>Comparison with static pipeline</vt:lpstr>
      <vt:lpstr>System Demonstration: Low-risk</vt:lpstr>
      <vt:lpstr>System Demonstration: Medium-risk</vt:lpstr>
      <vt:lpstr>System Demonstration: High-risk</vt:lpstr>
      <vt:lpstr>Experimental Setup</vt:lpstr>
      <vt:lpstr>Conclusion</vt:lpstr>
      <vt:lpstr>Limitations</vt:lpstr>
      <vt:lpstr>Future Work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Faiyaz Mahmud</dc:creator>
  <cp:lastModifiedBy>Faiyaz Mahmud</cp:lastModifiedBy>
  <cp:revision>140</cp:revision>
  <dcterms:created xsi:type="dcterms:W3CDTF">2026-07-09T19:01:25Z</dcterms:created>
  <dcterms:modified xsi:type="dcterms:W3CDTF">2026-07-10T21:19:37Z</dcterms:modified>
</cp:coreProperties>
</file>